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6" r:id="rId1"/>
  </p:sldMasterIdLst>
  <p:notesMasterIdLst>
    <p:notesMasterId r:id="rId23"/>
  </p:notesMasterIdLst>
  <p:sldIdLst>
    <p:sldId id="256" r:id="rId2"/>
    <p:sldId id="266" r:id="rId3"/>
    <p:sldId id="267" r:id="rId4"/>
    <p:sldId id="265" r:id="rId5"/>
    <p:sldId id="264" r:id="rId6"/>
    <p:sldId id="258" r:id="rId7"/>
    <p:sldId id="269" r:id="rId8"/>
    <p:sldId id="270" r:id="rId9"/>
    <p:sldId id="268" r:id="rId10"/>
    <p:sldId id="262" r:id="rId11"/>
    <p:sldId id="261" r:id="rId12"/>
    <p:sldId id="260" r:id="rId13"/>
    <p:sldId id="259" r:id="rId14"/>
    <p:sldId id="271" r:id="rId15"/>
    <p:sldId id="273" r:id="rId16"/>
    <p:sldId id="277" r:id="rId17"/>
    <p:sldId id="272" r:id="rId18"/>
    <p:sldId id="274" r:id="rId19"/>
    <p:sldId id="275" r:id="rId20"/>
    <p:sldId id="278" r:id="rId21"/>
    <p:sldId id="27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3B2211-91E3-4714-B9DF-2EA4B0378163}" v="45" dt="2026-02-27T18:16:39.6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dhi Gupta" userId="b3c3ba0bdc44f602" providerId="LiveId" clId="{67E578F9-67C2-4EC3-AE0C-7449C315D6DB}"/>
    <pc:docChg chg="undo redo custSel addSld delSld modSld sldOrd">
      <pc:chgData name="Nidhi Gupta" userId="b3c3ba0bdc44f602" providerId="LiveId" clId="{67E578F9-67C2-4EC3-AE0C-7449C315D6DB}" dt="2026-02-27T18:17:43.473" v="1889" actId="1076"/>
      <pc:docMkLst>
        <pc:docMk/>
      </pc:docMkLst>
      <pc:sldChg chg="modSp">
        <pc:chgData name="Nidhi Gupta" userId="b3c3ba0bdc44f602" providerId="LiveId" clId="{67E578F9-67C2-4EC3-AE0C-7449C315D6DB}" dt="2026-02-27T17:50:47.230" v="1553" actId="16037"/>
        <pc:sldMkLst>
          <pc:docMk/>
          <pc:sldMk cId="1126227914" sldId="256"/>
        </pc:sldMkLst>
        <pc:spChg chg="mod">
          <ac:chgData name="Nidhi Gupta" userId="b3c3ba0bdc44f602" providerId="LiveId" clId="{67E578F9-67C2-4EC3-AE0C-7449C315D6DB}" dt="2026-02-27T17:50:47.230" v="1553" actId="16037"/>
          <ac:spMkLst>
            <pc:docMk/>
            <pc:sldMk cId="1126227914" sldId="256"/>
            <ac:spMk id="3" creationId="{47AED511-268C-9001-D3EF-8258B7C3B860}"/>
          </ac:spMkLst>
        </pc:spChg>
      </pc:sldChg>
      <pc:sldChg chg="addSp delSp modSp mod">
        <pc:chgData name="Nidhi Gupta" userId="b3c3ba0bdc44f602" providerId="LiveId" clId="{67E578F9-67C2-4EC3-AE0C-7449C315D6DB}" dt="2026-02-27T18:12:24.136" v="1856" actId="1076"/>
        <pc:sldMkLst>
          <pc:docMk/>
          <pc:sldMk cId="865575371" sldId="258"/>
        </pc:sldMkLst>
        <pc:spChg chg="add del mod">
          <ac:chgData name="Nidhi Gupta" userId="b3c3ba0bdc44f602" providerId="LiveId" clId="{67E578F9-67C2-4EC3-AE0C-7449C315D6DB}" dt="2026-02-27T18:04:58.729" v="1756"/>
          <ac:spMkLst>
            <pc:docMk/>
            <pc:sldMk cId="865575371" sldId="258"/>
            <ac:spMk id="2" creationId="{EC069DE1-7C60-CE1F-2AC7-3243615A7132}"/>
          </ac:spMkLst>
        </pc:spChg>
        <pc:spChg chg="add mod">
          <ac:chgData name="Nidhi Gupta" userId="b3c3ba0bdc44f602" providerId="LiveId" clId="{67E578F9-67C2-4EC3-AE0C-7449C315D6DB}" dt="2026-02-27T18:12:24.136" v="1856" actId="1076"/>
          <ac:spMkLst>
            <pc:docMk/>
            <pc:sldMk cId="865575371" sldId="258"/>
            <ac:spMk id="3" creationId="{2BF4DDEE-A2DD-8A57-7420-73CF19C371F9}"/>
          </ac:spMkLst>
        </pc:spChg>
        <pc:spChg chg="del mod">
          <ac:chgData name="Nidhi Gupta" userId="b3c3ba0bdc44f602" providerId="LiveId" clId="{67E578F9-67C2-4EC3-AE0C-7449C315D6DB}" dt="2026-02-27T18:04:31.181" v="1746"/>
          <ac:spMkLst>
            <pc:docMk/>
            <pc:sldMk cId="865575371" sldId="258"/>
            <ac:spMk id="5" creationId="{27E715AA-F0E8-95FD-4147-0540A3630410}"/>
          </ac:spMkLst>
        </pc:spChg>
        <pc:spChg chg="add mod">
          <ac:chgData name="Nidhi Gupta" userId="b3c3ba0bdc44f602" providerId="LiveId" clId="{67E578F9-67C2-4EC3-AE0C-7449C315D6DB}" dt="2026-02-27T18:05:19.113" v="1762" actId="113"/>
          <ac:spMkLst>
            <pc:docMk/>
            <pc:sldMk cId="865575371" sldId="258"/>
            <ac:spMk id="6" creationId="{22A2C805-D3C6-D07B-E57F-62C1A448A7C4}"/>
          </ac:spMkLst>
        </pc:spChg>
        <pc:spChg chg="add del">
          <ac:chgData name="Nidhi Gupta" userId="b3c3ba0bdc44f602" providerId="LiveId" clId="{67E578F9-67C2-4EC3-AE0C-7449C315D6DB}" dt="2026-02-27T18:05:29.715" v="1764" actId="22"/>
          <ac:spMkLst>
            <pc:docMk/>
            <pc:sldMk cId="865575371" sldId="258"/>
            <ac:spMk id="8" creationId="{C2146709-A611-31CF-E8BE-69042F82FF06}"/>
          </ac:spMkLst>
        </pc:spChg>
        <pc:spChg chg="add del mod">
          <ac:chgData name="Nidhi Gupta" userId="b3c3ba0bdc44f602" providerId="LiveId" clId="{67E578F9-67C2-4EC3-AE0C-7449C315D6DB}" dt="2026-02-27T18:05:42.390" v="1766" actId="478"/>
          <ac:spMkLst>
            <pc:docMk/>
            <pc:sldMk cId="865575371" sldId="258"/>
            <ac:spMk id="9" creationId="{9DA685AF-B944-9FE8-DC32-BE85C08DC3EB}"/>
          </ac:spMkLst>
        </pc:spChg>
      </pc:sldChg>
      <pc:sldChg chg="addSp modSp mod">
        <pc:chgData name="Nidhi Gupta" userId="b3c3ba0bdc44f602" providerId="LiveId" clId="{67E578F9-67C2-4EC3-AE0C-7449C315D6DB}" dt="2026-02-27T18:06:44.458" v="1780" actId="255"/>
        <pc:sldMkLst>
          <pc:docMk/>
          <pc:sldMk cId="2969882343" sldId="264"/>
        </pc:sldMkLst>
        <pc:spChg chg="add mod">
          <ac:chgData name="Nidhi Gupta" userId="b3c3ba0bdc44f602" providerId="LiveId" clId="{67E578F9-67C2-4EC3-AE0C-7449C315D6DB}" dt="2026-02-27T18:06:44.458" v="1780" actId="255"/>
          <ac:spMkLst>
            <pc:docMk/>
            <pc:sldMk cId="2969882343" sldId="264"/>
            <ac:spMk id="2" creationId="{23FE9FE8-9E98-E861-50B8-307BB2F887F0}"/>
          </ac:spMkLst>
        </pc:spChg>
      </pc:sldChg>
      <pc:sldChg chg="addSp delSp modSp mod">
        <pc:chgData name="Nidhi Gupta" userId="b3c3ba0bdc44f602" providerId="LiveId" clId="{67E578F9-67C2-4EC3-AE0C-7449C315D6DB}" dt="2026-02-27T18:07:51.407" v="1793" actId="255"/>
        <pc:sldMkLst>
          <pc:docMk/>
          <pc:sldMk cId="3560042023" sldId="266"/>
        </pc:sldMkLst>
        <pc:spChg chg="add del">
          <ac:chgData name="Nidhi Gupta" userId="b3c3ba0bdc44f602" providerId="LiveId" clId="{67E578F9-67C2-4EC3-AE0C-7449C315D6DB}" dt="2026-02-27T17:55:19.595" v="1594" actId="478"/>
          <ac:spMkLst>
            <pc:docMk/>
            <pc:sldMk cId="3560042023" sldId="266"/>
            <ac:spMk id="2" creationId="{1D8D5C06-4B80-B658-61E9-5739B6557100}"/>
          </ac:spMkLst>
        </pc:spChg>
        <pc:spChg chg="add del mod">
          <ac:chgData name="Nidhi Gupta" userId="b3c3ba0bdc44f602" providerId="LiveId" clId="{67E578F9-67C2-4EC3-AE0C-7449C315D6DB}" dt="2026-02-27T17:56:20.685" v="1598"/>
          <ac:spMkLst>
            <pc:docMk/>
            <pc:sldMk cId="3560042023" sldId="266"/>
            <ac:spMk id="3" creationId="{D9787EB5-C58A-7BBE-5AD4-617153361CB4}"/>
          </ac:spMkLst>
        </pc:spChg>
        <pc:spChg chg="del mod">
          <ac:chgData name="Nidhi Gupta" userId="b3c3ba0bdc44f602" providerId="LiveId" clId="{67E578F9-67C2-4EC3-AE0C-7449C315D6DB}" dt="2026-02-27T17:57:10.274" v="1605" actId="21"/>
          <ac:spMkLst>
            <pc:docMk/>
            <pc:sldMk cId="3560042023" sldId="266"/>
            <ac:spMk id="4" creationId="{FAE56D44-2678-B7CC-1864-5DD6FBB45DC7}"/>
          </ac:spMkLst>
        </pc:spChg>
        <pc:spChg chg="add mod">
          <ac:chgData name="Nidhi Gupta" userId="b3c3ba0bdc44f602" providerId="LiveId" clId="{67E578F9-67C2-4EC3-AE0C-7449C315D6DB}" dt="2026-02-27T18:07:51.407" v="1793" actId="255"/>
          <ac:spMkLst>
            <pc:docMk/>
            <pc:sldMk cId="3560042023" sldId="266"/>
            <ac:spMk id="5" creationId="{C12A44B2-F841-2625-D707-6270F0F04979}"/>
          </ac:spMkLst>
        </pc:spChg>
        <pc:spChg chg="add del">
          <ac:chgData name="Nidhi Gupta" userId="b3c3ba0bdc44f602" providerId="LiveId" clId="{67E578F9-67C2-4EC3-AE0C-7449C315D6DB}" dt="2026-02-27T17:58:26.674" v="1614" actId="478"/>
          <ac:spMkLst>
            <pc:docMk/>
            <pc:sldMk cId="3560042023" sldId="266"/>
            <ac:spMk id="6" creationId="{EA790698-CC1B-785C-E0C8-53BA1BBFABF5}"/>
          </ac:spMkLst>
        </pc:spChg>
      </pc:sldChg>
      <pc:sldChg chg="addSp delSp modSp mod">
        <pc:chgData name="Nidhi Gupta" userId="b3c3ba0bdc44f602" providerId="LiveId" clId="{67E578F9-67C2-4EC3-AE0C-7449C315D6DB}" dt="2026-02-27T18:03:06.506" v="1731" actId="1076"/>
        <pc:sldMkLst>
          <pc:docMk/>
          <pc:sldMk cId="3253807617" sldId="267"/>
        </pc:sldMkLst>
        <pc:spChg chg="add del mod">
          <ac:chgData name="Nidhi Gupta" userId="b3c3ba0bdc44f602" providerId="LiveId" clId="{67E578F9-67C2-4EC3-AE0C-7449C315D6DB}" dt="2026-02-27T17:59:23.744" v="1622"/>
          <ac:spMkLst>
            <pc:docMk/>
            <pc:sldMk cId="3253807617" sldId="267"/>
            <ac:spMk id="3" creationId="{D80F9825-F875-944D-3244-731EEFFE3DE3}"/>
          </ac:spMkLst>
        </pc:spChg>
        <pc:spChg chg="add del mod">
          <ac:chgData name="Nidhi Gupta" userId="b3c3ba0bdc44f602" providerId="LiveId" clId="{67E578F9-67C2-4EC3-AE0C-7449C315D6DB}" dt="2026-02-27T18:02:52.125" v="1728" actId="21"/>
          <ac:spMkLst>
            <pc:docMk/>
            <pc:sldMk cId="3253807617" sldId="267"/>
            <ac:spMk id="4" creationId="{23FE9FE8-9E98-E861-50B8-307BB2F887F0}"/>
          </ac:spMkLst>
        </pc:spChg>
        <pc:spChg chg="mod">
          <ac:chgData name="Nidhi Gupta" userId="b3c3ba0bdc44f602" providerId="LiveId" clId="{67E578F9-67C2-4EC3-AE0C-7449C315D6DB}" dt="2026-02-27T18:03:06.506" v="1731" actId="1076"/>
          <ac:spMkLst>
            <pc:docMk/>
            <pc:sldMk cId="3253807617" sldId="267"/>
            <ac:spMk id="6" creationId="{4F6F7F7B-5A52-6092-C709-D62B71CC7614}"/>
          </ac:spMkLst>
        </pc:spChg>
        <pc:graphicFrameChg chg="mod modGraphic">
          <ac:chgData name="Nidhi Gupta" userId="b3c3ba0bdc44f602" providerId="LiveId" clId="{67E578F9-67C2-4EC3-AE0C-7449C315D6DB}" dt="2026-02-27T18:03:00.068" v="1730" actId="1076"/>
          <ac:graphicFrameMkLst>
            <pc:docMk/>
            <pc:sldMk cId="3253807617" sldId="267"/>
            <ac:graphicFrameMk id="15" creationId="{1D99AB2A-3D24-49AE-0EF0-0BE80FE39EC9}"/>
          </ac:graphicFrameMkLst>
        </pc:graphicFrameChg>
      </pc:sldChg>
      <pc:sldChg chg="addSp delSp modSp mod">
        <pc:chgData name="Nidhi Gupta" userId="b3c3ba0bdc44f602" providerId="LiveId" clId="{67E578F9-67C2-4EC3-AE0C-7449C315D6DB}" dt="2026-02-27T18:08:03.745" v="1794" actId="255"/>
        <pc:sldMkLst>
          <pc:docMk/>
          <pc:sldMk cId="2981120651" sldId="268"/>
        </pc:sldMkLst>
        <pc:spChg chg="add del mod">
          <ac:chgData name="Nidhi Gupta" userId="b3c3ba0bdc44f602" providerId="LiveId" clId="{67E578F9-67C2-4EC3-AE0C-7449C315D6DB}" dt="2026-02-27T18:07:37.714" v="1792"/>
          <ac:spMkLst>
            <pc:docMk/>
            <pc:sldMk cId="2981120651" sldId="268"/>
            <ac:spMk id="3" creationId="{131D46FD-A664-F810-A0F3-F9FAD63146A3}"/>
          </ac:spMkLst>
        </pc:spChg>
        <pc:spChg chg="add mod">
          <ac:chgData name="Nidhi Gupta" userId="b3c3ba0bdc44f602" providerId="LiveId" clId="{67E578F9-67C2-4EC3-AE0C-7449C315D6DB}" dt="2026-02-27T18:08:03.745" v="1794" actId="255"/>
          <ac:spMkLst>
            <pc:docMk/>
            <pc:sldMk cId="2981120651" sldId="268"/>
            <ac:spMk id="4" creationId="{B85FABC2-4590-C38D-E097-BC252EDCB24A}"/>
          </ac:spMkLst>
        </pc:spChg>
        <pc:spChg chg="del mod">
          <ac:chgData name="Nidhi Gupta" userId="b3c3ba0bdc44f602" providerId="LiveId" clId="{67E578F9-67C2-4EC3-AE0C-7449C315D6DB}" dt="2026-02-27T18:07:12.864" v="1785"/>
          <ac:spMkLst>
            <pc:docMk/>
            <pc:sldMk cId="2981120651" sldId="268"/>
            <ac:spMk id="5" creationId="{9D779B3D-8616-C402-E470-BA157FF072DD}"/>
          </ac:spMkLst>
        </pc:spChg>
      </pc:sldChg>
      <pc:sldChg chg="addSp delSp modSp new mod">
        <pc:chgData name="Nidhi Gupta" userId="b3c3ba0bdc44f602" providerId="LiveId" clId="{67E578F9-67C2-4EC3-AE0C-7449C315D6DB}" dt="2026-02-27T18:12:12.109" v="1853" actId="1076"/>
        <pc:sldMkLst>
          <pc:docMk/>
          <pc:sldMk cId="4043879158" sldId="270"/>
        </pc:sldMkLst>
        <pc:spChg chg="add mod">
          <ac:chgData name="Nidhi Gupta" userId="b3c3ba0bdc44f602" providerId="LiveId" clId="{67E578F9-67C2-4EC3-AE0C-7449C315D6DB}" dt="2026-02-27T18:12:12.109" v="1853" actId="1076"/>
          <ac:spMkLst>
            <pc:docMk/>
            <pc:sldMk cId="4043879158" sldId="270"/>
            <ac:spMk id="2" creationId="{BA8B2C62-D67D-3B7A-5213-C3A1398A2CA7}"/>
          </ac:spMkLst>
        </pc:spChg>
        <pc:spChg chg="add del mod">
          <ac:chgData name="Nidhi Gupta" userId="b3c3ba0bdc44f602" providerId="LiveId" clId="{67E578F9-67C2-4EC3-AE0C-7449C315D6DB}" dt="2026-02-27T18:06:36.001" v="1779"/>
          <ac:spMkLst>
            <pc:docMk/>
            <pc:sldMk cId="4043879158" sldId="270"/>
            <ac:spMk id="5" creationId="{100384DB-22FA-2180-3B2F-3137714713A4}"/>
          </ac:spMkLst>
        </pc:spChg>
      </pc:sldChg>
      <pc:sldChg chg="addSp delSp modSp mod">
        <pc:chgData name="Nidhi Gupta" userId="b3c3ba0bdc44f602" providerId="LiveId" clId="{67E578F9-67C2-4EC3-AE0C-7449C315D6DB}" dt="2026-02-27T18:11:58.940" v="1851" actId="14100"/>
        <pc:sldMkLst>
          <pc:docMk/>
          <pc:sldMk cId="2950376810" sldId="271"/>
        </pc:sldMkLst>
        <pc:spChg chg="del">
          <ac:chgData name="Nidhi Gupta" userId="b3c3ba0bdc44f602" providerId="LiveId" clId="{67E578F9-67C2-4EC3-AE0C-7449C315D6DB}" dt="2026-02-27T18:08:52.228" v="1798" actId="21"/>
          <ac:spMkLst>
            <pc:docMk/>
            <pc:sldMk cId="2950376810" sldId="271"/>
            <ac:spMk id="3" creationId="{05C97347-8210-971A-8A7D-5F694D00B039}"/>
          </ac:spMkLst>
        </pc:spChg>
        <pc:spChg chg="add del">
          <ac:chgData name="Nidhi Gupta" userId="b3c3ba0bdc44f602" providerId="LiveId" clId="{67E578F9-67C2-4EC3-AE0C-7449C315D6DB}" dt="2026-02-27T18:08:39.671" v="1796" actId="22"/>
          <ac:spMkLst>
            <pc:docMk/>
            <pc:sldMk cId="2950376810" sldId="271"/>
            <ac:spMk id="4" creationId="{9B38090F-7D6A-A074-EF1C-EABC2C026161}"/>
          </ac:spMkLst>
        </pc:spChg>
        <pc:spChg chg="add mod">
          <ac:chgData name="Nidhi Gupta" userId="b3c3ba0bdc44f602" providerId="LiveId" clId="{67E578F9-67C2-4EC3-AE0C-7449C315D6DB}" dt="2026-02-27T18:11:58.940" v="1851" actId="14100"/>
          <ac:spMkLst>
            <pc:docMk/>
            <pc:sldMk cId="2950376810" sldId="271"/>
            <ac:spMk id="5" creationId="{678CA036-D70B-1EC8-DFDF-545D737D6F3E}"/>
          </ac:spMkLst>
        </pc:spChg>
        <pc:spChg chg="add mod">
          <ac:chgData name="Nidhi Gupta" userId="b3c3ba0bdc44f602" providerId="LiveId" clId="{67E578F9-67C2-4EC3-AE0C-7449C315D6DB}" dt="2026-02-27T18:08:53.712" v="1799"/>
          <ac:spMkLst>
            <pc:docMk/>
            <pc:sldMk cId="2950376810" sldId="271"/>
            <ac:spMk id="6" creationId="{05C97347-8210-971A-8A7D-5F694D00B039}"/>
          </ac:spMkLst>
        </pc:spChg>
        <pc:spChg chg="add del mod">
          <ac:chgData name="Nidhi Gupta" userId="b3c3ba0bdc44f602" providerId="LiveId" clId="{67E578F9-67C2-4EC3-AE0C-7449C315D6DB}" dt="2026-02-27T18:09:13.721" v="1807"/>
          <ac:spMkLst>
            <pc:docMk/>
            <pc:sldMk cId="2950376810" sldId="271"/>
            <ac:spMk id="7" creationId="{D593F68C-0CDD-1CA7-CAF2-C7FD99C38850}"/>
          </ac:spMkLst>
        </pc:spChg>
      </pc:sldChg>
      <pc:sldChg chg="addSp delSp modSp mod">
        <pc:chgData name="Nidhi Gupta" userId="b3c3ba0bdc44f602" providerId="LiveId" clId="{67E578F9-67C2-4EC3-AE0C-7449C315D6DB}" dt="2026-02-27T18:11:49.017" v="1850"/>
        <pc:sldMkLst>
          <pc:docMk/>
          <pc:sldMk cId="3453408082" sldId="272"/>
        </pc:sldMkLst>
        <pc:spChg chg="add mod">
          <ac:chgData name="Nidhi Gupta" userId="b3c3ba0bdc44f602" providerId="LiveId" clId="{67E578F9-67C2-4EC3-AE0C-7449C315D6DB}" dt="2026-02-27T18:11:10.053" v="1840" actId="113"/>
          <ac:spMkLst>
            <pc:docMk/>
            <pc:sldMk cId="3453408082" sldId="272"/>
            <ac:spMk id="2" creationId="{6C5BDDB1-4564-EC80-70FC-8F882B89B2DC}"/>
          </ac:spMkLst>
        </pc:spChg>
        <pc:spChg chg="del mod">
          <ac:chgData name="Nidhi Gupta" userId="b3c3ba0bdc44f602" providerId="LiveId" clId="{67E578F9-67C2-4EC3-AE0C-7449C315D6DB}" dt="2026-02-27T18:10:43.082" v="1832"/>
          <ac:spMkLst>
            <pc:docMk/>
            <pc:sldMk cId="3453408082" sldId="272"/>
            <ac:spMk id="3" creationId="{79BB79C5-042C-78F3-0758-7CB4A3E6DA46}"/>
          </ac:spMkLst>
        </pc:spChg>
        <pc:spChg chg="add del mod">
          <ac:chgData name="Nidhi Gupta" userId="b3c3ba0bdc44f602" providerId="LiveId" clId="{67E578F9-67C2-4EC3-AE0C-7449C315D6DB}" dt="2026-02-27T18:11:49.017" v="1850"/>
          <ac:spMkLst>
            <pc:docMk/>
            <pc:sldMk cId="3453408082" sldId="272"/>
            <ac:spMk id="4" creationId="{DCBB209F-39ED-D3A9-1B49-D7DFD83862FF}"/>
          </ac:spMkLst>
        </pc:spChg>
        <pc:spChg chg="add mod">
          <ac:chgData name="Nidhi Gupta" userId="b3c3ba0bdc44f602" providerId="LiveId" clId="{67E578F9-67C2-4EC3-AE0C-7449C315D6DB}" dt="2026-02-27T18:11:47.242" v="1848" actId="1076"/>
          <ac:spMkLst>
            <pc:docMk/>
            <pc:sldMk cId="3453408082" sldId="272"/>
            <ac:spMk id="5" creationId="{38723072-C837-E407-633A-314A846F7D50}"/>
          </ac:spMkLst>
        </pc:spChg>
      </pc:sldChg>
      <pc:sldChg chg="delSp modSp mod">
        <pc:chgData name="Nidhi Gupta" userId="b3c3ba0bdc44f602" providerId="LiveId" clId="{67E578F9-67C2-4EC3-AE0C-7449C315D6DB}" dt="2026-02-27T17:13:06.726" v="1526" actId="1076"/>
        <pc:sldMkLst>
          <pc:docMk/>
          <pc:sldMk cId="3483055824" sldId="273"/>
        </pc:sldMkLst>
        <pc:graphicFrameChg chg="mod">
          <ac:chgData name="Nidhi Gupta" userId="b3c3ba0bdc44f602" providerId="LiveId" clId="{67E578F9-67C2-4EC3-AE0C-7449C315D6DB}" dt="2026-02-27T17:13:06.726" v="1526" actId="1076"/>
          <ac:graphicFrameMkLst>
            <pc:docMk/>
            <pc:sldMk cId="3483055824" sldId="273"/>
            <ac:graphicFrameMk id="2" creationId="{9AE9C54E-89BF-FC7D-D4FE-4BDFA00AE5D9}"/>
          </ac:graphicFrameMkLst>
        </pc:graphicFrameChg>
        <pc:graphicFrameChg chg="del">
          <ac:chgData name="Nidhi Gupta" userId="b3c3ba0bdc44f602" providerId="LiveId" clId="{67E578F9-67C2-4EC3-AE0C-7449C315D6DB}" dt="2026-02-27T17:12:55.901" v="1521" actId="478"/>
          <ac:graphicFrameMkLst>
            <pc:docMk/>
            <pc:sldMk cId="3483055824" sldId="273"/>
            <ac:graphicFrameMk id="4" creationId="{401D9833-89AC-8DE2-E4DA-62B2DF33EFCD}"/>
          </ac:graphicFrameMkLst>
        </pc:graphicFrameChg>
      </pc:sldChg>
      <pc:sldChg chg="addSp delSp modSp mod">
        <pc:chgData name="Nidhi Gupta" userId="b3c3ba0bdc44f602" providerId="LiveId" clId="{67E578F9-67C2-4EC3-AE0C-7449C315D6DB}" dt="2026-02-27T18:13:20.688" v="1871"/>
        <pc:sldMkLst>
          <pc:docMk/>
          <pc:sldMk cId="3298343070" sldId="275"/>
        </pc:sldMkLst>
        <pc:spChg chg="add mod">
          <ac:chgData name="Nidhi Gupta" userId="b3c3ba0bdc44f602" providerId="LiveId" clId="{67E578F9-67C2-4EC3-AE0C-7449C315D6DB}" dt="2026-02-27T18:13:17.249" v="1869" actId="5793"/>
          <ac:spMkLst>
            <pc:docMk/>
            <pc:sldMk cId="3298343070" sldId="275"/>
            <ac:spMk id="3" creationId="{041BB021-B617-8454-0E3F-FD6321BCF653}"/>
          </ac:spMkLst>
        </pc:spChg>
        <pc:spChg chg="del mod">
          <ac:chgData name="Nidhi Gupta" userId="b3c3ba0bdc44f602" providerId="LiveId" clId="{67E578F9-67C2-4EC3-AE0C-7449C315D6DB}" dt="2026-02-27T18:13:20.688" v="1871"/>
          <ac:spMkLst>
            <pc:docMk/>
            <pc:sldMk cId="3298343070" sldId="275"/>
            <ac:spMk id="4" creationId="{2840FBAE-6E41-2BFD-F17C-F28F2398F2C8}"/>
          </ac:spMkLst>
        </pc:spChg>
      </pc:sldChg>
      <pc:sldChg chg="addSp delSp modSp add mod">
        <pc:chgData name="Nidhi Gupta" userId="b3c3ba0bdc44f602" providerId="LiveId" clId="{67E578F9-67C2-4EC3-AE0C-7449C315D6DB}" dt="2026-02-27T18:10:22.478" v="1827" actId="1076"/>
        <pc:sldMkLst>
          <pc:docMk/>
          <pc:sldMk cId="4116623722" sldId="277"/>
        </pc:sldMkLst>
        <pc:spChg chg="add mod">
          <ac:chgData name="Nidhi Gupta" userId="b3c3ba0bdc44f602" providerId="LiveId" clId="{67E578F9-67C2-4EC3-AE0C-7449C315D6DB}" dt="2026-02-27T18:10:22.478" v="1827" actId="1076"/>
          <ac:spMkLst>
            <pc:docMk/>
            <pc:sldMk cId="4116623722" sldId="277"/>
            <ac:spMk id="2" creationId="{149B7BEE-E0CF-1E6C-31F6-B2AE799286C0}"/>
          </ac:spMkLst>
        </pc:spChg>
        <pc:spChg chg="add mod">
          <ac:chgData name="Nidhi Gupta" userId="b3c3ba0bdc44f602" providerId="LiveId" clId="{67E578F9-67C2-4EC3-AE0C-7449C315D6DB}" dt="2026-02-27T18:10:19.169" v="1824" actId="1076"/>
          <ac:spMkLst>
            <pc:docMk/>
            <pc:sldMk cId="4116623722" sldId="277"/>
            <ac:spMk id="3" creationId="{AEF71CE2-2D6F-9440-8FAA-1A8D393E4FB4}"/>
          </ac:spMkLst>
        </pc:spChg>
        <pc:spChg chg="add del mod">
          <ac:chgData name="Nidhi Gupta" userId="b3c3ba0bdc44f602" providerId="LiveId" clId="{67E578F9-67C2-4EC3-AE0C-7449C315D6DB}" dt="2026-02-27T18:10:00.537" v="1816"/>
          <ac:spMkLst>
            <pc:docMk/>
            <pc:sldMk cId="4116623722" sldId="277"/>
            <ac:spMk id="6" creationId="{5A8E65FA-7D79-9B11-DA3C-A0897576F1CA}"/>
          </ac:spMkLst>
        </pc:spChg>
        <pc:spChg chg="add del mod">
          <ac:chgData name="Nidhi Gupta" userId="b3c3ba0bdc44f602" providerId="LiveId" clId="{67E578F9-67C2-4EC3-AE0C-7449C315D6DB}" dt="2026-02-27T18:10:19.944" v="1826"/>
          <ac:spMkLst>
            <pc:docMk/>
            <pc:sldMk cId="4116623722" sldId="277"/>
            <ac:spMk id="8" creationId="{91FA19BB-ED2E-CB61-9ABA-99273B1C6613}"/>
          </ac:spMkLst>
        </pc:spChg>
        <pc:graphicFrameChg chg="del">
          <ac:chgData name="Nidhi Gupta" userId="b3c3ba0bdc44f602" providerId="LiveId" clId="{67E578F9-67C2-4EC3-AE0C-7449C315D6DB}" dt="2026-02-27T17:13:12.833" v="1527" actId="478"/>
          <ac:graphicFrameMkLst>
            <pc:docMk/>
            <pc:sldMk cId="4116623722" sldId="277"/>
            <ac:graphicFrameMk id="2" creationId="{C5398BD1-C03E-87D1-BD0B-11EE47F0C77D}"/>
          </ac:graphicFrameMkLst>
        </pc:graphicFrameChg>
        <pc:graphicFrameChg chg="del">
          <ac:chgData name="Nidhi Gupta" userId="b3c3ba0bdc44f602" providerId="LiveId" clId="{67E578F9-67C2-4EC3-AE0C-7449C315D6DB}" dt="2026-02-27T17:13:12.833" v="1527" actId="478"/>
          <ac:graphicFrameMkLst>
            <pc:docMk/>
            <pc:sldMk cId="4116623722" sldId="277"/>
            <ac:graphicFrameMk id="3" creationId="{5C1060F7-FFD3-E217-E74F-524BE0CBCFE5}"/>
          </ac:graphicFrameMkLst>
        </pc:graphicFrameChg>
        <pc:graphicFrameChg chg="mod">
          <ac:chgData name="Nidhi Gupta" userId="b3c3ba0bdc44f602" providerId="LiveId" clId="{67E578F9-67C2-4EC3-AE0C-7449C315D6DB}" dt="2026-02-27T17:13:28.359" v="1530" actId="1076"/>
          <ac:graphicFrameMkLst>
            <pc:docMk/>
            <pc:sldMk cId="4116623722" sldId="277"/>
            <ac:graphicFrameMk id="4" creationId="{9A054CDA-743F-B933-CA6F-2D78CB507CA6}"/>
          </ac:graphicFrameMkLst>
        </pc:graphicFrameChg>
      </pc:sldChg>
      <pc:sldChg chg="addSp delSp modSp new mod">
        <pc:chgData name="Nidhi Gupta" userId="b3c3ba0bdc44f602" providerId="LiveId" clId="{67E578F9-67C2-4EC3-AE0C-7449C315D6DB}" dt="2026-02-27T18:17:43.473" v="1889" actId="1076"/>
        <pc:sldMkLst>
          <pc:docMk/>
          <pc:sldMk cId="3777821336" sldId="278"/>
        </pc:sldMkLst>
        <pc:spChg chg="add mod">
          <ac:chgData name="Nidhi Gupta" userId="b3c3ba0bdc44f602" providerId="LiveId" clId="{67E578F9-67C2-4EC3-AE0C-7449C315D6DB}" dt="2026-02-27T18:17:43.473" v="1889" actId="1076"/>
          <ac:spMkLst>
            <pc:docMk/>
            <pc:sldMk cId="3777821336" sldId="278"/>
            <ac:spMk id="2" creationId="{B4F9D447-2852-2F73-929E-96B3FD4CA3E2}"/>
          </ac:spMkLst>
        </pc:spChg>
        <pc:spChg chg="add del mod">
          <ac:chgData name="Nidhi Gupta" userId="b3c3ba0bdc44f602" providerId="LiveId" clId="{67E578F9-67C2-4EC3-AE0C-7449C315D6DB}" dt="2026-02-27T18:16:51.339" v="1884"/>
          <ac:spMkLst>
            <pc:docMk/>
            <pc:sldMk cId="3777821336" sldId="278"/>
            <ac:spMk id="3" creationId="{5325EFD7-B037-74B5-E642-C66CC6138C15}"/>
          </ac:spMkLst>
        </pc:spChg>
        <pc:spChg chg="add mod">
          <ac:chgData name="Nidhi Gupta" userId="b3c3ba0bdc44f602" providerId="LiveId" clId="{67E578F9-67C2-4EC3-AE0C-7449C315D6DB}" dt="2026-02-27T18:16:31.885" v="1874"/>
          <ac:spMkLst>
            <pc:docMk/>
            <pc:sldMk cId="3777821336" sldId="278"/>
            <ac:spMk id="4" creationId="{2A7D4C6E-2662-9C66-59CE-FD1D1F201BC9}"/>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d.docs.live.net/b3c3ba0bdc44f602/Documents/Data%20Analysis_Course/Part1-%20Introduction%20to%20Analytics%20%5e0%20Excel/CPI%20Inflation_Case%20Study.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Nidhi%20Gupta\Downloads\All_India_Index_Upto_April23%20(1)%20(1).csv"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b3c3ba0bdc44f602/Documents/Data%20Analysis_Course/Part1-%20Introduction%20to%20Analytics%20%5e0%20Excel/CPI%20Inflation_Case%20Study.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b3c3ba0bdc44f602/Documents/Data%20Analysis_Course/Part1-%20Introduction%20to%20Analytics%20%5e0%20Excel/CPI%20Inflation_Case%20Study.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d.docs.live.net/b3c3ba0bdc44f602/Documents/Data%20Analysis_Course/Part1-%20Introduction%20to%20Analytics%20%5e0%20Excel/CPI%20Inflation_Case%20Study.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d.docs.live.net/b3c3ba0bdc44f602/Documents/Data%20Analysis_Course/Part1-%20Introduction%20to%20Analytics%20%5e0%20Excel/CPI%20Inflation_Case%20Study.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https://d.docs.live.net/b3c3ba0bdc44f602/Documents/Data%20Analysis_Course/Part1-%20Introduction%20to%20Analytics%20%5e0%20Excel/CPI%20Inflation_Case%20Study.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https://d.docs.live.net/b3c3ba0bdc44f602/Documents/Data%20Analysis_Course/Part1-%20Introduction%20to%20Analytics%20%5e0%20Excel/CPI%20Inflation_Case%20Study.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https://d.docs.live.net/b3c3ba0bdc44f602/Documents/Data%20Analysis_Course/Part1-%20Introduction%20to%20Analytics%20%5e0%20Excel/CPI%20Inflation_Case%20Study.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https://d.docs.live.net/b3c3ba0bdc44f602/Documents/Data%20Analysis_Course/Part1-%20Introduction%20to%20Analytics%20%5e0%20Excel/CPI%20Inflation_Case%20Study.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https://d.docs.live.net/b3c3ba0bdc44f602/Documents/Data%20Analysis_Course/Part1-%20Introduction%20to%20Analytics%20%5e0%20Excel/CPI%20Inflation_Case%20Study.xlsx" TargetMode="External"/><Relationship Id="rId2" Type="http://schemas.microsoft.com/office/2011/relationships/chartColorStyle" Target="colors11.xml"/><Relationship Id="rId1" Type="http://schemas.microsoft.com/office/2011/relationships/chartStyle" Target="style1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Problem.1!$L$7</c:f>
              <c:strCache>
                <c:ptCount val="1"/>
                <c:pt idx="0">
                  <c:v>Rural%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2FEA-40E1-A57A-5F37456611D9}"/>
              </c:ext>
            </c:extLst>
          </c:dPt>
          <c:dPt>
            <c:idx val="1"/>
            <c:bubble3D val="0"/>
            <c:spPr>
              <a:solidFill>
                <a:schemeClr val="accent3"/>
              </a:solidFill>
              <a:ln w="19050">
                <a:solidFill>
                  <a:schemeClr val="lt1"/>
                </a:solidFill>
              </a:ln>
              <a:effectLst/>
            </c:spPr>
            <c:extLst>
              <c:ext xmlns:c16="http://schemas.microsoft.com/office/drawing/2014/chart" uri="{C3380CC4-5D6E-409C-BE32-E72D297353CC}">
                <c16:uniqueId val="{00000003-2FEA-40E1-A57A-5F37456611D9}"/>
              </c:ext>
            </c:extLst>
          </c:dPt>
          <c:dPt>
            <c:idx val="2"/>
            <c:bubble3D val="0"/>
            <c:spPr>
              <a:solidFill>
                <a:schemeClr val="accent5"/>
              </a:solidFill>
              <a:ln w="19050">
                <a:solidFill>
                  <a:schemeClr val="lt1"/>
                </a:solidFill>
              </a:ln>
              <a:effectLst/>
            </c:spPr>
            <c:extLst>
              <c:ext xmlns:c16="http://schemas.microsoft.com/office/drawing/2014/chart" uri="{C3380CC4-5D6E-409C-BE32-E72D297353CC}">
                <c16:uniqueId val="{00000005-2FEA-40E1-A57A-5F37456611D9}"/>
              </c:ext>
            </c:extLst>
          </c:dPt>
          <c:dPt>
            <c:idx val="3"/>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7-2FEA-40E1-A57A-5F37456611D9}"/>
              </c:ext>
            </c:extLst>
          </c:dPt>
          <c:dPt>
            <c:idx val="4"/>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09-2FEA-40E1-A57A-5F37456611D9}"/>
              </c:ext>
            </c:extLst>
          </c:dPt>
          <c:dPt>
            <c:idx val="5"/>
            <c:bubble3D val="0"/>
            <c:spPr>
              <a:solidFill>
                <a:schemeClr val="accent5">
                  <a:lumMod val="60000"/>
                </a:schemeClr>
              </a:solidFill>
              <a:ln w="19050">
                <a:solidFill>
                  <a:schemeClr val="lt1"/>
                </a:solidFill>
              </a:ln>
              <a:effectLst/>
            </c:spPr>
            <c:extLst>
              <c:ext xmlns:c16="http://schemas.microsoft.com/office/drawing/2014/chart" uri="{C3380CC4-5D6E-409C-BE32-E72D297353CC}">
                <c16:uniqueId val="{0000000B-2FEA-40E1-A57A-5F37456611D9}"/>
              </c:ext>
            </c:extLst>
          </c:dPt>
          <c:dPt>
            <c:idx val="6"/>
            <c:bubble3D val="0"/>
            <c:spPr>
              <a:solidFill>
                <a:schemeClr val="accent1">
                  <a:lumMod val="80000"/>
                  <a:lumOff val="20000"/>
                </a:schemeClr>
              </a:solidFill>
              <a:ln w="19050">
                <a:solidFill>
                  <a:schemeClr val="lt1"/>
                </a:solidFill>
              </a:ln>
              <a:effectLst/>
            </c:spPr>
            <c:extLst>
              <c:ext xmlns:c16="http://schemas.microsoft.com/office/drawing/2014/chart" uri="{C3380CC4-5D6E-409C-BE32-E72D297353CC}">
                <c16:uniqueId val="{0000000D-2FEA-40E1-A57A-5F37456611D9}"/>
              </c:ext>
            </c:extLst>
          </c:dPt>
          <c:dPt>
            <c:idx val="7"/>
            <c:bubble3D val="0"/>
            <c:spPr>
              <a:solidFill>
                <a:schemeClr val="accent3">
                  <a:lumMod val="80000"/>
                  <a:lumOff val="20000"/>
                </a:schemeClr>
              </a:solidFill>
              <a:ln w="19050">
                <a:solidFill>
                  <a:schemeClr val="lt1"/>
                </a:solidFill>
              </a:ln>
              <a:effectLst/>
            </c:spPr>
            <c:extLst>
              <c:ext xmlns:c16="http://schemas.microsoft.com/office/drawing/2014/chart" uri="{C3380CC4-5D6E-409C-BE32-E72D297353CC}">
                <c16:uniqueId val="{0000000F-2FEA-40E1-A57A-5F37456611D9}"/>
              </c:ext>
            </c:extLst>
          </c:dPt>
          <c:dPt>
            <c:idx val="8"/>
            <c:bubble3D val="0"/>
            <c:spPr>
              <a:solidFill>
                <a:schemeClr val="accent5">
                  <a:lumMod val="80000"/>
                  <a:lumOff val="20000"/>
                </a:schemeClr>
              </a:solidFill>
              <a:ln w="19050">
                <a:solidFill>
                  <a:schemeClr val="lt1"/>
                </a:solidFill>
              </a:ln>
              <a:effectLst/>
            </c:spPr>
            <c:extLst>
              <c:ext xmlns:c16="http://schemas.microsoft.com/office/drawing/2014/chart" uri="{C3380CC4-5D6E-409C-BE32-E72D297353CC}">
                <c16:uniqueId val="{00000011-2FEA-40E1-A57A-5F37456611D9}"/>
              </c:ext>
            </c:extLst>
          </c:dPt>
          <c:dPt>
            <c:idx val="9"/>
            <c:bubble3D val="0"/>
            <c:spPr>
              <a:solidFill>
                <a:schemeClr val="accent1">
                  <a:lumMod val="80000"/>
                </a:schemeClr>
              </a:solidFill>
              <a:ln w="19050">
                <a:solidFill>
                  <a:schemeClr val="lt1"/>
                </a:solidFill>
              </a:ln>
              <a:effectLst/>
            </c:spPr>
            <c:extLst>
              <c:ext xmlns:c16="http://schemas.microsoft.com/office/drawing/2014/chart" uri="{C3380CC4-5D6E-409C-BE32-E72D297353CC}">
                <c16:uniqueId val="{00000013-2FEA-40E1-A57A-5F37456611D9}"/>
              </c:ext>
            </c:extLst>
          </c:dPt>
          <c:dPt>
            <c:idx val="10"/>
            <c:bubble3D val="0"/>
            <c:spPr>
              <a:solidFill>
                <a:schemeClr val="accent3">
                  <a:lumMod val="80000"/>
                </a:schemeClr>
              </a:solidFill>
              <a:ln w="19050">
                <a:solidFill>
                  <a:schemeClr val="lt1"/>
                </a:solidFill>
              </a:ln>
              <a:effectLst/>
            </c:spPr>
            <c:extLst>
              <c:ext xmlns:c16="http://schemas.microsoft.com/office/drawing/2014/chart" uri="{C3380CC4-5D6E-409C-BE32-E72D297353CC}">
                <c16:uniqueId val="{00000015-2FEA-40E1-A57A-5F37456611D9}"/>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Problem.1!$H$8:$H$18</c:f>
              <c:strCache>
                <c:ptCount val="11"/>
                <c:pt idx="0">
                  <c:v>Food</c:v>
                </c:pt>
                <c:pt idx="1">
                  <c:v>Luxury</c:v>
                </c:pt>
                <c:pt idx="2">
                  <c:v>Apparel</c:v>
                </c:pt>
                <c:pt idx="3">
                  <c:v>Housing</c:v>
                </c:pt>
                <c:pt idx="4">
                  <c:v>Fuel and light</c:v>
                </c:pt>
                <c:pt idx="5">
                  <c:v>Health</c:v>
                </c:pt>
                <c:pt idx="6">
                  <c:v>Transport</c:v>
                </c:pt>
                <c:pt idx="7">
                  <c:v>Recreation and amusement</c:v>
                </c:pt>
                <c:pt idx="8">
                  <c:v>Education</c:v>
                </c:pt>
                <c:pt idx="9">
                  <c:v>Personal care and effects</c:v>
                </c:pt>
                <c:pt idx="10">
                  <c:v>Misc</c:v>
                </c:pt>
              </c:strCache>
            </c:strRef>
          </c:cat>
          <c:val>
            <c:numRef>
              <c:f>Problem.1!$L$8:$L$18</c:f>
              <c:numCache>
                <c:formatCode>0.0%</c:formatCode>
                <c:ptCount val="11"/>
                <c:pt idx="0">
                  <c:v>0.46945852227260609</c:v>
                </c:pt>
                <c:pt idx="1">
                  <c:v>8.4155774873299546E-2</c:v>
                </c:pt>
                <c:pt idx="2">
                  <c:v>0.12667822530452566</c:v>
                </c:pt>
                <c:pt idx="3">
                  <c:v>3.9966213212412199E-2</c:v>
                </c:pt>
                <c:pt idx="4">
                  <c:v>4.0566373255090243E-2</c:v>
                </c:pt>
                <c:pt idx="5">
                  <c:v>4.1744465190717527E-2</c:v>
                </c:pt>
                <c:pt idx="6">
                  <c:v>3.772117008980172E-2</c:v>
                </c:pt>
                <c:pt idx="7">
                  <c:v>3.8632524228683206E-2</c:v>
                </c:pt>
                <c:pt idx="8">
                  <c:v>4.0077353961056279E-2</c:v>
                </c:pt>
                <c:pt idx="9">
                  <c:v>4.1099848848581845E-2</c:v>
                </c:pt>
                <c:pt idx="10">
                  <c:v>3.989952876322575E-2</c:v>
                </c:pt>
              </c:numCache>
            </c:numRef>
          </c:val>
          <c:extLst>
            <c:ext xmlns:c16="http://schemas.microsoft.com/office/drawing/2014/chart" uri="{C3380CC4-5D6E-409C-BE32-E72D297353CC}">
              <c16:uniqueId val="{00000016-2FEA-40E1-A57A-5F37456611D9}"/>
            </c:ext>
          </c:extLst>
        </c:ser>
        <c:dLbls>
          <c:dLblPos val="bestFit"/>
          <c:showLegendKey val="0"/>
          <c:showVal val="1"/>
          <c:showCatName val="0"/>
          <c:showSerName val="0"/>
          <c:showPercent val="0"/>
          <c:showBubbleSize val="0"/>
          <c:showLeaderLines val="1"/>
        </c:dLbls>
        <c:firstSliceAng val="0"/>
        <c:extLst>
          <c:ext xmlns:c15="http://schemas.microsoft.com/office/drawing/2012/chart" uri="{02D57815-91ED-43cb-92C2-25804820EDAC}">
            <c15:filteredPieSeries>
              <c15:ser>
                <c:idx val="1"/>
                <c:order val="1"/>
                <c:tx>
                  <c:strRef>
                    <c:extLst>
                      <c:ext uri="{02D57815-91ED-43cb-92C2-25804820EDAC}">
                        <c15:formulaRef>
                          <c15:sqref>Problem.1!$M$7</c15:sqref>
                        </c15:formulaRef>
                      </c:ext>
                    </c:extLst>
                    <c:strCache>
                      <c:ptCount val="1"/>
                      <c:pt idx="0">
                        <c:v>Urban%</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18-2FEA-40E1-A57A-5F37456611D9}"/>
                    </c:ext>
                  </c:extLst>
                </c:dPt>
                <c:dPt>
                  <c:idx val="1"/>
                  <c:bubble3D val="0"/>
                  <c:spPr>
                    <a:solidFill>
                      <a:schemeClr val="accent3"/>
                    </a:solidFill>
                    <a:ln w="19050">
                      <a:solidFill>
                        <a:schemeClr val="lt1"/>
                      </a:solidFill>
                    </a:ln>
                    <a:effectLst/>
                  </c:spPr>
                  <c:extLst>
                    <c:ext xmlns:c16="http://schemas.microsoft.com/office/drawing/2014/chart" uri="{C3380CC4-5D6E-409C-BE32-E72D297353CC}">
                      <c16:uniqueId val="{0000001A-2FEA-40E1-A57A-5F37456611D9}"/>
                    </c:ext>
                  </c:extLst>
                </c:dPt>
                <c:dPt>
                  <c:idx val="2"/>
                  <c:bubble3D val="0"/>
                  <c:spPr>
                    <a:solidFill>
                      <a:schemeClr val="accent5"/>
                    </a:solidFill>
                    <a:ln w="19050">
                      <a:solidFill>
                        <a:schemeClr val="lt1"/>
                      </a:solidFill>
                    </a:ln>
                    <a:effectLst/>
                  </c:spPr>
                  <c:extLst>
                    <c:ext xmlns:c16="http://schemas.microsoft.com/office/drawing/2014/chart" uri="{C3380CC4-5D6E-409C-BE32-E72D297353CC}">
                      <c16:uniqueId val="{0000001C-2FEA-40E1-A57A-5F37456611D9}"/>
                    </c:ext>
                  </c:extLst>
                </c:dPt>
                <c:dPt>
                  <c:idx val="3"/>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1E-2FEA-40E1-A57A-5F37456611D9}"/>
                    </c:ext>
                  </c:extLst>
                </c:dPt>
                <c:dPt>
                  <c:idx val="4"/>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20-2FEA-40E1-A57A-5F37456611D9}"/>
                    </c:ext>
                  </c:extLst>
                </c:dPt>
                <c:dPt>
                  <c:idx val="5"/>
                  <c:bubble3D val="0"/>
                  <c:spPr>
                    <a:solidFill>
                      <a:schemeClr val="accent5">
                        <a:lumMod val="60000"/>
                      </a:schemeClr>
                    </a:solidFill>
                    <a:ln w="19050">
                      <a:solidFill>
                        <a:schemeClr val="lt1"/>
                      </a:solidFill>
                    </a:ln>
                    <a:effectLst/>
                  </c:spPr>
                  <c:extLst>
                    <c:ext xmlns:c16="http://schemas.microsoft.com/office/drawing/2014/chart" uri="{C3380CC4-5D6E-409C-BE32-E72D297353CC}">
                      <c16:uniqueId val="{00000022-2FEA-40E1-A57A-5F37456611D9}"/>
                    </c:ext>
                  </c:extLst>
                </c:dPt>
                <c:dPt>
                  <c:idx val="6"/>
                  <c:bubble3D val="0"/>
                  <c:spPr>
                    <a:solidFill>
                      <a:schemeClr val="accent1">
                        <a:lumMod val="80000"/>
                        <a:lumOff val="20000"/>
                      </a:schemeClr>
                    </a:solidFill>
                    <a:ln w="19050">
                      <a:solidFill>
                        <a:schemeClr val="lt1"/>
                      </a:solidFill>
                    </a:ln>
                    <a:effectLst/>
                  </c:spPr>
                  <c:extLst>
                    <c:ext xmlns:c16="http://schemas.microsoft.com/office/drawing/2014/chart" uri="{C3380CC4-5D6E-409C-BE32-E72D297353CC}">
                      <c16:uniqueId val="{00000024-2FEA-40E1-A57A-5F37456611D9}"/>
                    </c:ext>
                  </c:extLst>
                </c:dPt>
                <c:dPt>
                  <c:idx val="7"/>
                  <c:bubble3D val="0"/>
                  <c:spPr>
                    <a:solidFill>
                      <a:schemeClr val="accent3">
                        <a:lumMod val="80000"/>
                        <a:lumOff val="20000"/>
                      </a:schemeClr>
                    </a:solidFill>
                    <a:ln w="19050">
                      <a:solidFill>
                        <a:schemeClr val="lt1"/>
                      </a:solidFill>
                    </a:ln>
                    <a:effectLst/>
                  </c:spPr>
                  <c:extLst>
                    <c:ext xmlns:c16="http://schemas.microsoft.com/office/drawing/2014/chart" uri="{C3380CC4-5D6E-409C-BE32-E72D297353CC}">
                      <c16:uniqueId val="{00000026-2FEA-40E1-A57A-5F37456611D9}"/>
                    </c:ext>
                  </c:extLst>
                </c:dPt>
                <c:dPt>
                  <c:idx val="8"/>
                  <c:bubble3D val="0"/>
                  <c:spPr>
                    <a:solidFill>
                      <a:schemeClr val="accent5">
                        <a:lumMod val="80000"/>
                        <a:lumOff val="20000"/>
                      </a:schemeClr>
                    </a:solidFill>
                    <a:ln w="19050">
                      <a:solidFill>
                        <a:schemeClr val="lt1"/>
                      </a:solidFill>
                    </a:ln>
                    <a:effectLst/>
                  </c:spPr>
                  <c:extLst>
                    <c:ext xmlns:c16="http://schemas.microsoft.com/office/drawing/2014/chart" uri="{C3380CC4-5D6E-409C-BE32-E72D297353CC}">
                      <c16:uniqueId val="{00000028-2FEA-40E1-A57A-5F37456611D9}"/>
                    </c:ext>
                  </c:extLst>
                </c:dPt>
                <c:dPt>
                  <c:idx val="9"/>
                  <c:bubble3D val="0"/>
                  <c:spPr>
                    <a:solidFill>
                      <a:schemeClr val="accent1">
                        <a:lumMod val="80000"/>
                      </a:schemeClr>
                    </a:solidFill>
                    <a:ln w="19050">
                      <a:solidFill>
                        <a:schemeClr val="lt1"/>
                      </a:solidFill>
                    </a:ln>
                    <a:effectLst/>
                  </c:spPr>
                  <c:extLst>
                    <c:ext xmlns:c16="http://schemas.microsoft.com/office/drawing/2014/chart" uri="{C3380CC4-5D6E-409C-BE32-E72D297353CC}">
                      <c16:uniqueId val="{0000002A-2FEA-40E1-A57A-5F37456611D9}"/>
                    </c:ext>
                  </c:extLst>
                </c:dPt>
                <c:dPt>
                  <c:idx val="10"/>
                  <c:bubble3D val="0"/>
                  <c:spPr>
                    <a:solidFill>
                      <a:schemeClr val="accent3">
                        <a:lumMod val="80000"/>
                      </a:schemeClr>
                    </a:solidFill>
                    <a:ln w="19050">
                      <a:solidFill>
                        <a:schemeClr val="lt1"/>
                      </a:solidFill>
                    </a:ln>
                    <a:effectLst/>
                  </c:spPr>
                  <c:extLst>
                    <c:ext xmlns:c16="http://schemas.microsoft.com/office/drawing/2014/chart" uri="{C3380CC4-5D6E-409C-BE32-E72D297353CC}">
                      <c16:uniqueId val="{0000002C-2FEA-40E1-A57A-5F37456611D9}"/>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uri="{CE6537A1-D6FC-4f65-9D91-7224C49458BB}"/>
                  </c:extLst>
                </c:dLbls>
                <c:cat>
                  <c:strRef>
                    <c:extLst>
                      <c:ext uri="{02D57815-91ED-43cb-92C2-25804820EDAC}">
                        <c15:formulaRef>
                          <c15:sqref>Problem.1!$H$8:$H$18</c15:sqref>
                        </c15:formulaRef>
                      </c:ext>
                    </c:extLst>
                    <c:strCache>
                      <c:ptCount val="11"/>
                      <c:pt idx="0">
                        <c:v>Food</c:v>
                      </c:pt>
                      <c:pt idx="1">
                        <c:v>Luxury</c:v>
                      </c:pt>
                      <c:pt idx="2">
                        <c:v>Apparel</c:v>
                      </c:pt>
                      <c:pt idx="3">
                        <c:v>Housing</c:v>
                      </c:pt>
                      <c:pt idx="4">
                        <c:v>Fuel and light</c:v>
                      </c:pt>
                      <c:pt idx="5">
                        <c:v>Health</c:v>
                      </c:pt>
                      <c:pt idx="6">
                        <c:v>Transport</c:v>
                      </c:pt>
                      <c:pt idx="7">
                        <c:v>Recreation and amusement</c:v>
                      </c:pt>
                      <c:pt idx="8">
                        <c:v>Education</c:v>
                      </c:pt>
                      <c:pt idx="9">
                        <c:v>Personal care and effects</c:v>
                      </c:pt>
                      <c:pt idx="10">
                        <c:v>Misc</c:v>
                      </c:pt>
                    </c:strCache>
                  </c:strRef>
                </c:cat>
                <c:val>
                  <c:numRef>
                    <c:extLst>
                      <c:ext uri="{02D57815-91ED-43cb-92C2-25804820EDAC}">
                        <c15:formulaRef>
                          <c15:sqref>Problem.1!$M$8:$M$18</c15:sqref>
                        </c15:formulaRef>
                      </c:ext>
                    </c:extLst>
                    <c:numCache>
                      <c:formatCode>0.0%</c:formatCode>
                      <c:ptCount val="11"/>
                      <c:pt idx="0">
                        <c:v>0.46740933870585449</c:v>
                      </c:pt>
                      <c:pt idx="1">
                        <c:v>7.9747462776616596E-2</c:v>
                      </c:pt>
                      <c:pt idx="2">
                        <c:v>0.11392186860307267</c:v>
                      </c:pt>
                      <c:pt idx="3">
                        <c:v>7.4489861880238734E-2</c:v>
                      </c:pt>
                      <c:pt idx="4">
                        <c:v>3.9518196901463076E-2</c:v>
                      </c:pt>
                      <c:pt idx="5">
                        <c:v>3.9259626365575638E-2</c:v>
                      </c:pt>
                      <c:pt idx="6">
                        <c:v>3.4562261630287229E-2</c:v>
                      </c:pt>
                      <c:pt idx="7">
                        <c:v>3.6458445560128415E-2</c:v>
                      </c:pt>
                      <c:pt idx="8">
                        <c:v>3.7665108060936453E-2</c:v>
                      </c:pt>
                      <c:pt idx="9">
                        <c:v>3.9992242883923369E-2</c:v>
                      </c:pt>
                      <c:pt idx="10">
                        <c:v>3.6975586631903291E-2</c:v>
                      </c:pt>
                    </c:numCache>
                  </c:numRef>
                </c:val>
                <c:extLst>
                  <c:ext xmlns:c16="http://schemas.microsoft.com/office/drawing/2014/chart" uri="{C3380CC4-5D6E-409C-BE32-E72D297353CC}">
                    <c16:uniqueId val="{0000002D-2FEA-40E1-A57A-5F37456611D9}"/>
                  </c:ext>
                </c:extLst>
              </c15:ser>
            </c15:filteredPieSeries>
            <c15:filteredPieSeries>
              <c15:ser>
                <c:idx val="2"/>
                <c:order val="2"/>
                <c:tx>
                  <c:strRef>
                    <c:extLst xmlns:c15="http://schemas.microsoft.com/office/drawing/2012/chart">
                      <c:ext xmlns:c15="http://schemas.microsoft.com/office/drawing/2012/chart" uri="{02D57815-91ED-43cb-92C2-25804820EDAC}">
                        <c15:formulaRef>
                          <c15:sqref>Problem.1!$N$7</c15:sqref>
                        </c15:formulaRef>
                      </c:ext>
                    </c:extLst>
                    <c:strCache>
                      <c:ptCount val="1"/>
                      <c:pt idx="0">
                        <c:v>Rural+Urban%</c:v>
                      </c:pt>
                    </c:strCache>
                  </c:strRef>
                </c:tx>
                <c:dPt>
                  <c:idx val="0"/>
                  <c:bubble3D val="0"/>
                  <c:spPr>
                    <a:solidFill>
                      <a:schemeClr val="accent1"/>
                    </a:solidFill>
                    <a:ln w="19050">
                      <a:solidFill>
                        <a:schemeClr val="lt1"/>
                      </a:solidFill>
                    </a:ln>
                    <a:effectLst/>
                  </c:spPr>
                  <c:extLst xmlns:c15="http://schemas.microsoft.com/office/drawing/2012/chart">
                    <c:ext xmlns:c16="http://schemas.microsoft.com/office/drawing/2014/chart" uri="{C3380CC4-5D6E-409C-BE32-E72D297353CC}">
                      <c16:uniqueId val="{0000002F-2FEA-40E1-A57A-5F37456611D9}"/>
                    </c:ext>
                  </c:extLst>
                </c:dPt>
                <c:dPt>
                  <c:idx val="1"/>
                  <c:bubble3D val="0"/>
                  <c:spPr>
                    <a:solidFill>
                      <a:schemeClr val="accent3"/>
                    </a:solidFill>
                    <a:ln w="19050">
                      <a:solidFill>
                        <a:schemeClr val="lt1"/>
                      </a:solidFill>
                    </a:ln>
                    <a:effectLst/>
                  </c:spPr>
                  <c:extLst xmlns:c15="http://schemas.microsoft.com/office/drawing/2012/chart">
                    <c:ext xmlns:c16="http://schemas.microsoft.com/office/drawing/2014/chart" uri="{C3380CC4-5D6E-409C-BE32-E72D297353CC}">
                      <c16:uniqueId val="{00000031-2FEA-40E1-A57A-5F37456611D9}"/>
                    </c:ext>
                  </c:extLst>
                </c:dPt>
                <c:dPt>
                  <c:idx val="2"/>
                  <c:bubble3D val="0"/>
                  <c:spPr>
                    <a:solidFill>
                      <a:schemeClr val="accent5"/>
                    </a:solidFill>
                    <a:ln w="19050">
                      <a:solidFill>
                        <a:schemeClr val="lt1"/>
                      </a:solidFill>
                    </a:ln>
                    <a:effectLst/>
                  </c:spPr>
                  <c:extLst xmlns:c15="http://schemas.microsoft.com/office/drawing/2012/chart">
                    <c:ext xmlns:c16="http://schemas.microsoft.com/office/drawing/2014/chart" uri="{C3380CC4-5D6E-409C-BE32-E72D297353CC}">
                      <c16:uniqueId val="{00000033-2FEA-40E1-A57A-5F37456611D9}"/>
                    </c:ext>
                  </c:extLst>
                </c:dPt>
                <c:dPt>
                  <c:idx val="3"/>
                  <c:bubble3D val="0"/>
                  <c:spPr>
                    <a:solidFill>
                      <a:schemeClr val="accent1">
                        <a:lumMod val="60000"/>
                      </a:schemeClr>
                    </a:solidFill>
                    <a:ln w="19050">
                      <a:solidFill>
                        <a:schemeClr val="lt1"/>
                      </a:solidFill>
                    </a:ln>
                    <a:effectLst/>
                  </c:spPr>
                  <c:extLst xmlns:c15="http://schemas.microsoft.com/office/drawing/2012/chart">
                    <c:ext xmlns:c16="http://schemas.microsoft.com/office/drawing/2014/chart" uri="{C3380CC4-5D6E-409C-BE32-E72D297353CC}">
                      <c16:uniqueId val="{00000035-2FEA-40E1-A57A-5F37456611D9}"/>
                    </c:ext>
                  </c:extLst>
                </c:dPt>
                <c:dPt>
                  <c:idx val="4"/>
                  <c:bubble3D val="0"/>
                  <c:spPr>
                    <a:solidFill>
                      <a:schemeClr val="accent3">
                        <a:lumMod val="60000"/>
                      </a:schemeClr>
                    </a:solidFill>
                    <a:ln w="19050">
                      <a:solidFill>
                        <a:schemeClr val="lt1"/>
                      </a:solidFill>
                    </a:ln>
                    <a:effectLst/>
                  </c:spPr>
                  <c:extLst xmlns:c15="http://schemas.microsoft.com/office/drawing/2012/chart">
                    <c:ext xmlns:c16="http://schemas.microsoft.com/office/drawing/2014/chart" uri="{C3380CC4-5D6E-409C-BE32-E72D297353CC}">
                      <c16:uniqueId val="{00000037-2FEA-40E1-A57A-5F37456611D9}"/>
                    </c:ext>
                  </c:extLst>
                </c:dPt>
                <c:dPt>
                  <c:idx val="5"/>
                  <c:bubble3D val="0"/>
                  <c:spPr>
                    <a:solidFill>
                      <a:schemeClr val="accent5">
                        <a:lumMod val="60000"/>
                      </a:schemeClr>
                    </a:solidFill>
                    <a:ln w="19050">
                      <a:solidFill>
                        <a:schemeClr val="lt1"/>
                      </a:solidFill>
                    </a:ln>
                    <a:effectLst/>
                  </c:spPr>
                  <c:extLst xmlns:c15="http://schemas.microsoft.com/office/drawing/2012/chart">
                    <c:ext xmlns:c16="http://schemas.microsoft.com/office/drawing/2014/chart" uri="{C3380CC4-5D6E-409C-BE32-E72D297353CC}">
                      <c16:uniqueId val="{00000039-2FEA-40E1-A57A-5F37456611D9}"/>
                    </c:ext>
                  </c:extLst>
                </c:dPt>
                <c:dPt>
                  <c:idx val="6"/>
                  <c:bubble3D val="0"/>
                  <c:spPr>
                    <a:solidFill>
                      <a:schemeClr val="accent1">
                        <a:lumMod val="80000"/>
                        <a:lumOff val="20000"/>
                      </a:schemeClr>
                    </a:solidFill>
                    <a:ln w="19050">
                      <a:solidFill>
                        <a:schemeClr val="lt1"/>
                      </a:solidFill>
                    </a:ln>
                    <a:effectLst/>
                  </c:spPr>
                  <c:extLst xmlns:c15="http://schemas.microsoft.com/office/drawing/2012/chart">
                    <c:ext xmlns:c16="http://schemas.microsoft.com/office/drawing/2014/chart" uri="{C3380CC4-5D6E-409C-BE32-E72D297353CC}">
                      <c16:uniqueId val="{0000003B-2FEA-40E1-A57A-5F37456611D9}"/>
                    </c:ext>
                  </c:extLst>
                </c:dPt>
                <c:dPt>
                  <c:idx val="7"/>
                  <c:bubble3D val="0"/>
                  <c:spPr>
                    <a:solidFill>
                      <a:schemeClr val="accent3">
                        <a:lumMod val="80000"/>
                        <a:lumOff val="20000"/>
                      </a:schemeClr>
                    </a:solidFill>
                    <a:ln w="19050">
                      <a:solidFill>
                        <a:schemeClr val="lt1"/>
                      </a:solidFill>
                    </a:ln>
                    <a:effectLst/>
                  </c:spPr>
                  <c:extLst xmlns:c15="http://schemas.microsoft.com/office/drawing/2012/chart">
                    <c:ext xmlns:c16="http://schemas.microsoft.com/office/drawing/2014/chart" uri="{C3380CC4-5D6E-409C-BE32-E72D297353CC}">
                      <c16:uniqueId val="{0000003D-2FEA-40E1-A57A-5F37456611D9}"/>
                    </c:ext>
                  </c:extLst>
                </c:dPt>
                <c:dPt>
                  <c:idx val="8"/>
                  <c:bubble3D val="0"/>
                  <c:spPr>
                    <a:solidFill>
                      <a:schemeClr val="accent5">
                        <a:lumMod val="80000"/>
                        <a:lumOff val="20000"/>
                      </a:schemeClr>
                    </a:solidFill>
                    <a:ln w="19050">
                      <a:solidFill>
                        <a:schemeClr val="lt1"/>
                      </a:solidFill>
                    </a:ln>
                    <a:effectLst/>
                  </c:spPr>
                  <c:extLst xmlns:c15="http://schemas.microsoft.com/office/drawing/2012/chart">
                    <c:ext xmlns:c16="http://schemas.microsoft.com/office/drawing/2014/chart" uri="{C3380CC4-5D6E-409C-BE32-E72D297353CC}">
                      <c16:uniqueId val="{0000003F-2FEA-40E1-A57A-5F37456611D9}"/>
                    </c:ext>
                  </c:extLst>
                </c:dPt>
                <c:dPt>
                  <c:idx val="9"/>
                  <c:bubble3D val="0"/>
                  <c:spPr>
                    <a:solidFill>
                      <a:schemeClr val="accent1">
                        <a:lumMod val="80000"/>
                      </a:schemeClr>
                    </a:solidFill>
                    <a:ln w="19050">
                      <a:solidFill>
                        <a:schemeClr val="lt1"/>
                      </a:solidFill>
                    </a:ln>
                    <a:effectLst/>
                  </c:spPr>
                  <c:extLst xmlns:c15="http://schemas.microsoft.com/office/drawing/2012/chart">
                    <c:ext xmlns:c16="http://schemas.microsoft.com/office/drawing/2014/chart" uri="{C3380CC4-5D6E-409C-BE32-E72D297353CC}">
                      <c16:uniqueId val="{00000041-2FEA-40E1-A57A-5F37456611D9}"/>
                    </c:ext>
                  </c:extLst>
                </c:dPt>
                <c:dPt>
                  <c:idx val="10"/>
                  <c:bubble3D val="0"/>
                  <c:spPr>
                    <a:solidFill>
                      <a:schemeClr val="accent3">
                        <a:lumMod val="80000"/>
                      </a:schemeClr>
                    </a:solidFill>
                    <a:ln w="19050">
                      <a:solidFill>
                        <a:schemeClr val="lt1"/>
                      </a:solidFill>
                    </a:ln>
                    <a:effectLst/>
                  </c:spPr>
                  <c:extLst xmlns:c15="http://schemas.microsoft.com/office/drawing/2012/chart">
                    <c:ext xmlns:c16="http://schemas.microsoft.com/office/drawing/2014/chart" uri="{C3380CC4-5D6E-409C-BE32-E72D297353CC}">
                      <c16:uniqueId val="{00000043-2FEA-40E1-A57A-5F37456611D9}"/>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xmlns:c15="http://schemas.microsoft.com/office/drawing/2012/chart">
                    <c:ext xmlns:c15="http://schemas.microsoft.com/office/drawing/2012/chart" uri="{CE6537A1-D6FC-4f65-9D91-7224C49458BB}"/>
                  </c:extLst>
                </c:dLbls>
                <c:cat>
                  <c:strRef>
                    <c:extLst xmlns:c15="http://schemas.microsoft.com/office/drawing/2012/chart">
                      <c:ext xmlns:c15="http://schemas.microsoft.com/office/drawing/2012/chart" uri="{02D57815-91ED-43cb-92C2-25804820EDAC}">
                        <c15:formulaRef>
                          <c15:sqref>Problem.1!$H$8:$H$18</c15:sqref>
                        </c15:formulaRef>
                      </c:ext>
                    </c:extLst>
                    <c:strCache>
                      <c:ptCount val="11"/>
                      <c:pt idx="0">
                        <c:v>Food</c:v>
                      </c:pt>
                      <c:pt idx="1">
                        <c:v>Luxury</c:v>
                      </c:pt>
                      <c:pt idx="2">
                        <c:v>Apparel</c:v>
                      </c:pt>
                      <c:pt idx="3">
                        <c:v>Housing</c:v>
                      </c:pt>
                      <c:pt idx="4">
                        <c:v>Fuel and light</c:v>
                      </c:pt>
                      <c:pt idx="5">
                        <c:v>Health</c:v>
                      </c:pt>
                      <c:pt idx="6">
                        <c:v>Transport</c:v>
                      </c:pt>
                      <c:pt idx="7">
                        <c:v>Recreation and amusement</c:v>
                      </c:pt>
                      <c:pt idx="8">
                        <c:v>Education</c:v>
                      </c:pt>
                      <c:pt idx="9">
                        <c:v>Personal care and effects</c:v>
                      </c:pt>
                      <c:pt idx="10">
                        <c:v>Misc</c:v>
                      </c:pt>
                    </c:strCache>
                  </c:strRef>
                </c:cat>
                <c:val>
                  <c:numRef>
                    <c:extLst xmlns:c15="http://schemas.microsoft.com/office/drawing/2012/chart">
                      <c:ext xmlns:c15="http://schemas.microsoft.com/office/drawing/2012/chart" uri="{02D57815-91ED-43cb-92C2-25804820EDAC}">
                        <c15:formulaRef>
                          <c15:sqref>Problem.1!$N$8:$N$18</c15:sqref>
                        </c15:formulaRef>
                      </c:ext>
                    </c:extLst>
                    <c:numCache>
                      <c:formatCode>0.0%</c:formatCode>
                      <c:ptCount val="11"/>
                      <c:pt idx="0">
                        <c:v>0.45838346510828459</c:v>
                      </c:pt>
                      <c:pt idx="1">
                        <c:v>8.0440013750429681E-2</c:v>
                      </c:pt>
                      <c:pt idx="2">
                        <c:v>0.11885527672739772</c:v>
                      </c:pt>
                      <c:pt idx="3">
                        <c:v>7.5369542798212424E-2</c:v>
                      </c:pt>
                      <c:pt idx="4">
                        <c:v>3.9274664833276039E-2</c:v>
                      </c:pt>
                      <c:pt idx="5">
                        <c:v>3.9897731179099338E-2</c:v>
                      </c:pt>
                      <c:pt idx="6">
                        <c:v>3.5407356479889997E-2</c:v>
                      </c:pt>
                      <c:pt idx="7">
                        <c:v>3.6782399449982808E-2</c:v>
                      </c:pt>
                      <c:pt idx="8">
                        <c:v>3.8050017188037119E-2</c:v>
                      </c:pt>
                      <c:pt idx="9">
                        <c:v>3.9790305947060838E-2</c:v>
                      </c:pt>
                      <c:pt idx="10">
                        <c:v>3.7749226538329315E-2</c:v>
                      </c:pt>
                    </c:numCache>
                  </c:numRef>
                </c:val>
                <c:extLst xmlns:c15="http://schemas.microsoft.com/office/drawing/2012/chart">
                  <c:ext xmlns:c16="http://schemas.microsoft.com/office/drawing/2014/chart" uri="{C3380CC4-5D6E-409C-BE32-E72D297353CC}">
                    <c16:uniqueId val="{00000044-2FEA-40E1-A57A-5F37456611D9}"/>
                  </c:ext>
                </c:extLst>
              </c15:ser>
            </c15:filteredPieSeries>
          </c:ext>
        </c:extLst>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pieChart>
        <c:varyColors val="1"/>
        <c:dLbls>
          <c:dLblPos val="bestFit"/>
          <c:showLegendKey val="0"/>
          <c:showVal val="1"/>
          <c:showCatName val="0"/>
          <c:showSerName val="0"/>
          <c:showPercent val="0"/>
          <c:showBubbleSize val="0"/>
          <c:showLeaderLines val="1"/>
        </c:dLbls>
        <c:firstSliceAng val="0"/>
        <c:extLst>
          <c:ext xmlns:c15="http://schemas.microsoft.com/office/drawing/2012/chart" uri="{02D57815-91ED-43cb-92C2-25804820EDAC}">
            <c15:filteredPieSeries>
              <c15:ser>
                <c:idx val="0"/>
                <c:order val="0"/>
                <c:tx>
                  <c:strRef>
                    <c:extLst>
                      <c:ext uri="{02D57815-91ED-43cb-92C2-25804820EDAC}">
                        <c15:formulaRef>
                          <c15:sqref>Problem.1!$L$7</c15:sqref>
                        </c15:formulaRef>
                      </c:ext>
                    </c:extLst>
                    <c:strCache>
                      <c:ptCount val="1"/>
                      <c:pt idx="0">
                        <c:v>Rural %</c:v>
                      </c:pt>
                    </c:strCache>
                  </c:strRef>
                </c:tx>
                <c:dPt>
                  <c:idx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extLst>
                    <c:ext xmlns:c16="http://schemas.microsoft.com/office/drawing/2014/chart" uri="{C3380CC4-5D6E-409C-BE32-E72D297353CC}">
                      <c16:uniqueId val="{00000014-5C20-4CD9-99AC-BB74BBD1D36A}"/>
                    </c:ext>
                  </c:extLst>
                </c:dPt>
                <c:dPt>
                  <c:idx val="1"/>
                  <c:bubble3D val="0"/>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c:spPr>
                  <c:extLst>
                    <c:ext xmlns:c16="http://schemas.microsoft.com/office/drawing/2014/chart" uri="{C3380CC4-5D6E-409C-BE32-E72D297353CC}">
                      <c16:uniqueId val="{00000016-5C20-4CD9-99AC-BB74BBD1D36A}"/>
                    </c:ext>
                  </c:extLst>
                </c:dPt>
                <c:dPt>
                  <c:idx val="2"/>
                  <c:bubble3D val="0"/>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c:spPr>
                  <c:extLst>
                    <c:ext xmlns:c16="http://schemas.microsoft.com/office/drawing/2014/chart" uri="{C3380CC4-5D6E-409C-BE32-E72D297353CC}">
                      <c16:uniqueId val="{00000018-5C20-4CD9-99AC-BB74BBD1D36A}"/>
                    </c:ext>
                  </c:extLst>
                </c:dPt>
                <c:dPt>
                  <c:idx val="3"/>
                  <c:bubble3D val="0"/>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a:noFill/>
                    </a:ln>
                    <a:effectLst/>
                  </c:spPr>
                  <c:extLst>
                    <c:ext xmlns:c16="http://schemas.microsoft.com/office/drawing/2014/chart" uri="{C3380CC4-5D6E-409C-BE32-E72D297353CC}">
                      <c16:uniqueId val="{0000001A-5C20-4CD9-99AC-BB74BBD1D36A}"/>
                    </c:ext>
                  </c:extLst>
                </c:dPt>
                <c:dPt>
                  <c:idx val="4"/>
                  <c:bubble3D val="0"/>
                  <c:spPr>
                    <a:gradFill rotWithShape="1">
                      <a:gsLst>
                        <a:gs pos="0">
                          <a:schemeClr val="accent3">
                            <a:lumMod val="60000"/>
                            <a:satMod val="103000"/>
                            <a:lumMod val="102000"/>
                            <a:tint val="94000"/>
                          </a:schemeClr>
                        </a:gs>
                        <a:gs pos="50000">
                          <a:schemeClr val="accent3">
                            <a:lumMod val="60000"/>
                            <a:satMod val="110000"/>
                            <a:lumMod val="100000"/>
                            <a:shade val="100000"/>
                          </a:schemeClr>
                        </a:gs>
                        <a:gs pos="100000">
                          <a:schemeClr val="accent3">
                            <a:lumMod val="60000"/>
                            <a:lumMod val="99000"/>
                            <a:satMod val="120000"/>
                            <a:shade val="78000"/>
                          </a:schemeClr>
                        </a:gs>
                      </a:gsLst>
                      <a:lin ang="5400000" scaled="0"/>
                    </a:gradFill>
                    <a:ln>
                      <a:noFill/>
                    </a:ln>
                    <a:effectLst/>
                  </c:spPr>
                  <c:extLst>
                    <c:ext xmlns:c16="http://schemas.microsoft.com/office/drawing/2014/chart" uri="{C3380CC4-5D6E-409C-BE32-E72D297353CC}">
                      <c16:uniqueId val="{0000001C-5C20-4CD9-99AC-BB74BBD1D36A}"/>
                    </c:ext>
                  </c:extLst>
                </c:dPt>
                <c:dPt>
                  <c:idx val="5"/>
                  <c:bubble3D val="0"/>
                  <c:spPr>
                    <a:gradFill rotWithShape="1">
                      <a:gsLst>
                        <a:gs pos="0">
                          <a:schemeClr val="accent5">
                            <a:lumMod val="60000"/>
                            <a:satMod val="103000"/>
                            <a:lumMod val="102000"/>
                            <a:tint val="94000"/>
                          </a:schemeClr>
                        </a:gs>
                        <a:gs pos="50000">
                          <a:schemeClr val="accent5">
                            <a:lumMod val="60000"/>
                            <a:satMod val="110000"/>
                            <a:lumMod val="100000"/>
                            <a:shade val="100000"/>
                          </a:schemeClr>
                        </a:gs>
                        <a:gs pos="100000">
                          <a:schemeClr val="accent5">
                            <a:lumMod val="60000"/>
                            <a:lumMod val="99000"/>
                            <a:satMod val="120000"/>
                            <a:shade val="78000"/>
                          </a:schemeClr>
                        </a:gs>
                      </a:gsLst>
                      <a:lin ang="5400000" scaled="0"/>
                    </a:gradFill>
                    <a:ln>
                      <a:noFill/>
                    </a:ln>
                    <a:effectLst/>
                  </c:spPr>
                  <c:extLst>
                    <c:ext xmlns:c16="http://schemas.microsoft.com/office/drawing/2014/chart" uri="{C3380CC4-5D6E-409C-BE32-E72D297353CC}">
                      <c16:uniqueId val="{0000001E-5C20-4CD9-99AC-BB74BBD1D36A}"/>
                    </c:ext>
                  </c:extLst>
                </c:dPt>
                <c:dPt>
                  <c:idx val="6"/>
                  <c:bubble3D val="0"/>
                  <c:spPr>
                    <a:gradFill rotWithShape="1">
                      <a:gsLst>
                        <a:gs pos="0">
                          <a:schemeClr val="accent1">
                            <a:lumMod val="80000"/>
                            <a:lumOff val="20000"/>
                            <a:satMod val="103000"/>
                            <a:lumMod val="102000"/>
                            <a:tint val="94000"/>
                          </a:schemeClr>
                        </a:gs>
                        <a:gs pos="50000">
                          <a:schemeClr val="accent1">
                            <a:lumMod val="80000"/>
                            <a:lumOff val="20000"/>
                            <a:satMod val="110000"/>
                            <a:lumMod val="100000"/>
                            <a:shade val="100000"/>
                          </a:schemeClr>
                        </a:gs>
                        <a:gs pos="100000">
                          <a:schemeClr val="accent1">
                            <a:lumMod val="80000"/>
                            <a:lumOff val="20000"/>
                            <a:lumMod val="99000"/>
                            <a:satMod val="120000"/>
                            <a:shade val="78000"/>
                          </a:schemeClr>
                        </a:gs>
                      </a:gsLst>
                      <a:lin ang="5400000" scaled="0"/>
                    </a:gradFill>
                    <a:ln>
                      <a:noFill/>
                    </a:ln>
                    <a:effectLst/>
                  </c:spPr>
                  <c:extLst>
                    <c:ext xmlns:c16="http://schemas.microsoft.com/office/drawing/2014/chart" uri="{C3380CC4-5D6E-409C-BE32-E72D297353CC}">
                      <c16:uniqueId val="{00000020-5C20-4CD9-99AC-BB74BBD1D36A}"/>
                    </c:ext>
                  </c:extLst>
                </c:dPt>
                <c:dPt>
                  <c:idx val="7"/>
                  <c:bubble3D val="0"/>
                  <c:spPr>
                    <a:gradFill rotWithShape="1">
                      <a:gsLst>
                        <a:gs pos="0">
                          <a:schemeClr val="accent3">
                            <a:lumMod val="80000"/>
                            <a:lumOff val="20000"/>
                            <a:satMod val="103000"/>
                            <a:lumMod val="102000"/>
                            <a:tint val="94000"/>
                          </a:schemeClr>
                        </a:gs>
                        <a:gs pos="50000">
                          <a:schemeClr val="accent3">
                            <a:lumMod val="80000"/>
                            <a:lumOff val="20000"/>
                            <a:satMod val="110000"/>
                            <a:lumMod val="100000"/>
                            <a:shade val="100000"/>
                          </a:schemeClr>
                        </a:gs>
                        <a:gs pos="100000">
                          <a:schemeClr val="accent3">
                            <a:lumMod val="80000"/>
                            <a:lumOff val="20000"/>
                            <a:lumMod val="99000"/>
                            <a:satMod val="120000"/>
                            <a:shade val="78000"/>
                          </a:schemeClr>
                        </a:gs>
                      </a:gsLst>
                      <a:lin ang="5400000" scaled="0"/>
                    </a:gradFill>
                    <a:ln>
                      <a:noFill/>
                    </a:ln>
                    <a:effectLst/>
                  </c:spPr>
                  <c:extLst>
                    <c:ext xmlns:c16="http://schemas.microsoft.com/office/drawing/2014/chart" uri="{C3380CC4-5D6E-409C-BE32-E72D297353CC}">
                      <c16:uniqueId val="{00000022-5C20-4CD9-99AC-BB74BBD1D36A}"/>
                    </c:ext>
                  </c:extLst>
                </c:dPt>
                <c:dPt>
                  <c:idx val="8"/>
                  <c:bubble3D val="0"/>
                  <c:spPr>
                    <a:gradFill rotWithShape="1">
                      <a:gsLst>
                        <a:gs pos="0">
                          <a:schemeClr val="accent5">
                            <a:lumMod val="80000"/>
                            <a:lumOff val="20000"/>
                            <a:satMod val="103000"/>
                            <a:lumMod val="102000"/>
                            <a:tint val="94000"/>
                          </a:schemeClr>
                        </a:gs>
                        <a:gs pos="50000">
                          <a:schemeClr val="accent5">
                            <a:lumMod val="80000"/>
                            <a:lumOff val="20000"/>
                            <a:satMod val="110000"/>
                            <a:lumMod val="100000"/>
                            <a:shade val="100000"/>
                          </a:schemeClr>
                        </a:gs>
                        <a:gs pos="100000">
                          <a:schemeClr val="accent5">
                            <a:lumMod val="80000"/>
                            <a:lumOff val="20000"/>
                            <a:lumMod val="99000"/>
                            <a:satMod val="120000"/>
                            <a:shade val="78000"/>
                          </a:schemeClr>
                        </a:gs>
                      </a:gsLst>
                      <a:lin ang="5400000" scaled="0"/>
                    </a:gradFill>
                    <a:ln>
                      <a:noFill/>
                    </a:ln>
                    <a:effectLst/>
                  </c:spPr>
                  <c:extLst>
                    <c:ext xmlns:c16="http://schemas.microsoft.com/office/drawing/2014/chart" uri="{C3380CC4-5D6E-409C-BE32-E72D297353CC}">
                      <c16:uniqueId val="{00000024-5C20-4CD9-99AC-BB74BBD1D36A}"/>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a:solidFill>
                          <a:schemeClr val="tx2">
                            <a:lumMod val="35000"/>
                            <a:lumOff val="65000"/>
                          </a:schemeClr>
                        </a:solidFill>
                      </a:ln>
                      <a:effectLst/>
                    </c:spPr>
                  </c:leaderLines>
                  <c:extLst>
                    <c:ext uri="{CE6537A1-D6FC-4f65-9D91-7224C49458BB}"/>
                  </c:extLst>
                </c:dLbls>
                <c:cat>
                  <c:strRef>
                    <c:extLst>
                      <c:ext uri="{02D57815-91ED-43cb-92C2-25804820EDAC}">
                        <c15:formulaRef>
                          <c15:sqref>Problem.1!$H$8:$H$16</c15:sqref>
                        </c15:formulaRef>
                      </c:ext>
                    </c:extLst>
                    <c:strCache>
                      <c:ptCount val="9"/>
                      <c:pt idx="0">
                        <c:v>Food</c:v>
                      </c:pt>
                      <c:pt idx="1">
                        <c:v>Luxury</c:v>
                      </c:pt>
                      <c:pt idx="2">
                        <c:v>Apparel</c:v>
                      </c:pt>
                      <c:pt idx="3">
                        <c:v>Housing</c:v>
                      </c:pt>
                      <c:pt idx="4">
                        <c:v>Fuel and light</c:v>
                      </c:pt>
                      <c:pt idx="5">
                        <c:v>Health</c:v>
                      </c:pt>
                      <c:pt idx="6">
                        <c:v>Transport and communication</c:v>
                      </c:pt>
                      <c:pt idx="7">
                        <c:v>Education</c:v>
                      </c:pt>
                      <c:pt idx="8">
                        <c:v>Misc</c:v>
                      </c:pt>
                    </c:strCache>
                  </c:strRef>
                </c:cat>
                <c:val>
                  <c:numRef>
                    <c:extLst>
                      <c:ext uri="{02D57815-91ED-43cb-92C2-25804820EDAC}">
                        <c15:formulaRef>
                          <c15:sqref>Problem.1!$L$8:$L$16</c15:sqref>
                        </c15:formulaRef>
                      </c:ext>
                    </c:extLst>
                    <c:numCache>
                      <c:formatCode>0.0%</c:formatCode>
                      <c:ptCount val="9"/>
                      <c:pt idx="0">
                        <c:v>0.46945852227260604</c:v>
                      </c:pt>
                      <c:pt idx="1">
                        <c:v>0.16388814795056458</c:v>
                      </c:pt>
                      <c:pt idx="2">
                        <c:v>0.12667822530452563</c:v>
                      </c:pt>
                      <c:pt idx="3">
                        <c:v>3.9966213212412192E-2</c:v>
                      </c:pt>
                      <c:pt idx="4">
                        <c:v>4.0566373255090236E-2</c:v>
                      </c:pt>
                      <c:pt idx="5">
                        <c:v>4.174446519071752E-2</c:v>
                      </c:pt>
                      <c:pt idx="6">
                        <c:v>3.7721170089801713E-2</c:v>
                      </c:pt>
                      <c:pt idx="7">
                        <c:v>4.0077353961056272E-2</c:v>
                      </c:pt>
                      <c:pt idx="8">
                        <c:v>3.9899528763225736E-2</c:v>
                      </c:pt>
                    </c:numCache>
                  </c:numRef>
                </c:val>
                <c:extLst>
                  <c:ext xmlns:c16="http://schemas.microsoft.com/office/drawing/2014/chart" uri="{C3380CC4-5D6E-409C-BE32-E72D297353CC}">
                    <c16:uniqueId val="{00000025-5C20-4CD9-99AC-BB74BBD1D36A}"/>
                  </c:ext>
                </c:extLst>
              </c15:ser>
            </c15:filteredPieSeries>
            <c15:filteredPieSeries>
              <c15:ser>
                <c:idx val="2"/>
                <c:order val="1"/>
                <c:tx>
                  <c:strRef>
                    <c:extLst xmlns:c15="http://schemas.microsoft.com/office/drawing/2012/chart">
                      <c:ext xmlns:c15="http://schemas.microsoft.com/office/drawing/2012/chart" uri="{02D57815-91ED-43cb-92C2-25804820EDAC}">
                        <c15:formulaRef>
                          <c15:sqref>Problem.1!$N$7</c15:sqref>
                        </c15:formulaRef>
                      </c:ext>
                    </c:extLst>
                    <c:strCache>
                      <c:ptCount val="1"/>
                      <c:pt idx="0">
                        <c:v>Rural+Urban %</c:v>
                      </c:pt>
                    </c:strCache>
                  </c:strRef>
                </c:tx>
                <c:dPt>
                  <c:idx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extLst xmlns:c15="http://schemas.microsoft.com/office/drawing/2012/chart">
                    <c:ext xmlns:c16="http://schemas.microsoft.com/office/drawing/2014/chart" uri="{C3380CC4-5D6E-409C-BE32-E72D297353CC}">
                      <c16:uniqueId val="{00000027-5C20-4CD9-99AC-BB74BBD1D36A}"/>
                    </c:ext>
                  </c:extLst>
                </c:dPt>
                <c:dPt>
                  <c:idx val="1"/>
                  <c:bubble3D val="0"/>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c:spPr>
                  <c:extLst xmlns:c15="http://schemas.microsoft.com/office/drawing/2012/chart">
                    <c:ext xmlns:c16="http://schemas.microsoft.com/office/drawing/2014/chart" uri="{C3380CC4-5D6E-409C-BE32-E72D297353CC}">
                      <c16:uniqueId val="{00000029-5C20-4CD9-99AC-BB74BBD1D36A}"/>
                    </c:ext>
                  </c:extLst>
                </c:dPt>
                <c:dPt>
                  <c:idx val="2"/>
                  <c:bubble3D val="0"/>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c:spPr>
                  <c:extLst xmlns:c15="http://schemas.microsoft.com/office/drawing/2012/chart">
                    <c:ext xmlns:c16="http://schemas.microsoft.com/office/drawing/2014/chart" uri="{C3380CC4-5D6E-409C-BE32-E72D297353CC}">
                      <c16:uniqueId val="{0000002B-5C20-4CD9-99AC-BB74BBD1D36A}"/>
                    </c:ext>
                  </c:extLst>
                </c:dPt>
                <c:dPt>
                  <c:idx val="3"/>
                  <c:bubble3D val="0"/>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a:noFill/>
                    </a:ln>
                    <a:effectLst/>
                  </c:spPr>
                  <c:extLst xmlns:c15="http://schemas.microsoft.com/office/drawing/2012/chart">
                    <c:ext xmlns:c16="http://schemas.microsoft.com/office/drawing/2014/chart" uri="{C3380CC4-5D6E-409C-BE32-E72D297353CC}">
                      <c16:uniqueId val="{0000002D-5C20-4CD9-99AC-BB74BBD1D36A}"/>
                    </c:ext>
                  </c:extLst>
                </c:dPt>
                <c:dPt>
                  <c:idx val="4"/>
                  <c:bubble3D val="0"/>
                  <c:spPr>
                    <a:gradFill rotWithShape="1">
                      <a:gsLst>
                        <a:gs pos="0">
                          <a:schemeClr val="accent3">
                            <a:lumMod val="60000"/>
                            <a:satMod val="103000"/>
                            <a:lumMod val="102000"/>
                            <a:tint val="94000"/>
                          </a:schemeClr>
                        </a:gs>
                        <a:gs pos="50000">
                          <a:schemeClr val="accent3">
                            <a:lumMod val="60000"/>
                            <a:satMod val="110000"/>
                            <a:lumMod val="100000"/>
                            <a:shade val="100000"/>
                          </a:schemeClr>
                        </a:gs>
                        <a:gs pos="100000">
                          <a:schemeClr val="accent3">
                            <a:lumMod val="60000"/>
                            <a:lumMod val="99000"/>
                            <a:satMod val="120000"/>
                            <a:shade val="78000"/>
                          </a:schemeClr>
                        </a:gs>
                      </a:gsLst>
                      <a:lin ang="5400000" scaled="0"/>
                    </a:gradFill>
                    <a:ln>
                      <a:noFill/>
                    </a:ln>
                    <a:effectLst/>
                  </c:spPr>
                  <c:extLst xmlns:c15="http://schemas.microsoft.com/office/drawing/2012/chart">
                    <c:ext xmlns:c16="http://schemas.microsoft.com/office/drawing/2014/chart" uri="{C3380CC4-5D6E-409C-BE32-E72D297353CC}">
                      <c16:uniqueId val="{0000002F-5C20-4CD9-99AC-BB74BBD1D36A}"/>
                    </c:ext>
                  </c:extLst>
                </c:dPt>
                <c:dPt>
                  <c:idx val="5"/>
                  <c:bubble3D val="0"/>
                  <c:spPr>
                    <a:gradFill rotWithShape="1">
                      <a:gsLst>
                        <a:gs pos="0">
                          <a:schemeClr val="accent5">
                            <a:lumMod val="60000"/>
                            <a:satMod val="103000"/>
                            <a:lumMod val="102000"/>
                            <a:tint val="94000"/>
                          </a:schemeClr>
                        </a:gs>
                        <a:gs pos="50000">
                          <a:schemeClr val="accent5">
                            <a:lumMod val="60000"/>
                            <a:satMod val="110000"/>
                            <a:lumMod val="100000"/>
                            <a:shade val="100000"/>
                          </a:schemeClr>
                        </a:gs>
                        <a:gs pos="100000">
                          <a:schemeClr val="accent5">
                            <a:lumMod val="60000"/>
                            <a:lumMod val="99000"/>
                            <a:satMod val="120000"/>
                            <a:shade val="78000"/>
                          </a:schemeClr>
                        </a:gs>
                      </a:gsLst>
                      <a:lin ang="5400000" scaled="0"/>
                    </a:gradFill>
                    <a:ln>
                      <a:noFill/>
                    </a:ln>
                    <a:effectLst/>
                  </c:spPr>
                  <c:extLst xmlns:c15="http://schemas.microsoft.com/office/drawing/2012/chart">
                    <c:ext xmlns:c16="http://schemas.microsoft.com/office/drawing/2014/chart" uri="{C3380CC4-5D6E-409C-BE32-E72D297353CC}">
                      <c16:uniqueId val="{00000031-5C20-4CD9-99AC-BB74BBD1D36A}"/>
                    </c:ext>
                  </c:extLst>
                </c:dPt>
                <c:dPt>
                  <c:idx val="6"/>
                  <c:bubble3D val="0"/>
                  <c:spPr>
                    <a:gradFill rotWithShape="1">
                      <a:gsLst>
                        <a:gs pos="0">
                          <a:schemeClr val="accent1">
                            <a:lumMod val="80000"/>
                            <a:lumOff val="20000"/>
                            <a:satMod val="103000"/>
                            <a:lumMod val="102000"/>
                            <a:tint val="94000"/>
                          </a:schemeClr>
                        </a:gs>
                        <a:gs pos="50000">
                          <a:schemeClr val="accent1">
                            <a:lumMod val="80000"/>
                            <a:lumOff val="20000"/>
                            <a:satMod val="110000"/>
                            <a:lumMod val="100000"/>
                            <a:shade val="100000"/>
                          </a:schemeClr>
                        </a:gs>
                        <a:gs pos="100000">
                          <a:schemeClr val="accent1">
                            <a:lumMod val="80000"/>
                            <a:lumOff val="20000"/>
                            <a:lumMod val="99000"/>
                            <a:satMod val="120000"/>
                            <a:shade val="78000"/>
                          </a:schemeClr>
                        </a:gs>
                      </a:gsLst>
                      <a:lin ang="5400000" scaled="0"/>
                    </a:gradFill>
                    <a:ln>
                      <a:noFill/>
                    </a:ln>
                    <a:effectLst/>
                  </c:spPr>
                  <c:extLst xmlns:c15="http://schemas.microsoft.com/office/drawing/2012/chart">
                    <c:ext xmlns:c16="http://schemas.microsoft.com/office/drawing/2014/chart" uri="{C3380CC4-5D6E-409C-BE32-E72D297353CC}">
                      <c16:uniqueId val="{00000033-5C20-4CD9-99AC-BB74BBD1D36A}"/>
                    </c:ext>
                  </c:extLst>
                </c:dPt>
                <c:dPt>
                  <c:idx val="7"/>
                  <c:bubble3D val="0"/>
                  <c:spPr>
                    <a:gradFill rotWithShape="1">
                      <a:gsLst>
                        <a:gs pos="0">
                          <a:schemeClr val="accent3">
                            <a:lumMod val="80000"/>
                            <a:lumOff val="20000"/>
                            <a:satMod val="103000"/>
                            <a:lumMod val="102000"/>
                            <a:tint val="94000"/>
                          </a:schemeClr>
                        </a:gs>
                        <a:gs pos="50000">
                          <a:schemeClr val="accent3">
                            <a:lumMod val="80000"/>
                            <a:lumOff val="20000"/>
                            <a:satMod val="110000"/>
                            <a:lumMod val="100000"/>
                            <a:shade val="100000"/>
                          </a:schemeClr>
                        </a:gs>
                        <a:gs pos="100000">
                          <a:schemeClr val="accent3">
                            <a:lumMod val="80000"/>
                            <a:lumOff val="20000"/>
                            <a:lumMod val="99000"/>
                            <a:satMod val="120000"/>
                            <a:shade val="78000"/>
                          </a:schemeClr>
                        </a:gs>
                      </a:gsLst>
                      <a:lin ang="5400000" scaled="0"/>
                    </a:gradFill>
                    <a:ln>
                      <a:noFill/>
                    </a:ln>
                    <a:effectLst/>
                  </c:spPr>
                  <c:extLst xmlns:c15="http://schemas.microsoft.com/office/drawing/2012/chart">
                    <c:ext xmlns:c16="http://schemas.microsoft.com/office/drawing/2014/chart" uri="{C3380CC4-5D6E-409C-BE32-E72D297353CC}">
                      <c16:uniqueId val="{00000035-5C20-4CD9-99AC-BB74BBD1D36A}"/>
                    </c:ext>
                  </c:extLst>
                </c:dPt>
                <c:dPt>
                  <c:idx val="8"/>
                  <c:bubble3D val="0"/>
                  <c:spPr>
                    <a:gradFill rotWithShape="1">
                      <a:gsLst>
                        <a:gs pos="0">
                          <a:schemeClr val="accent5">
                            <a:lumMod val="80000"/>
                            <a:lumOff val="20000"/>
                            <a:satMod val="103000"/>
                            <a:lumMod val="102000"/>
                            <a:tint val="94000"/>
                          </a:schemeClr>
                        </a:gs>
                        <a:gs pos="50000">
                          <a:schemeClr val="accent5">
                            <a:lumMod val="80000"/>
                            <a:lumOff val="20000"/>
                            <a:satMod val="110000"/>
                            <a:lumMod val="100000"/>
                            <a:shade val="100000"/>
                          </a:schemeClr>
                        </a:gs>
                        <a:gs pos="100000">
                          <a:schemeClr val="accent5">
                            <a:lumMod val="80000"/>
                            <a:lumOff val="20000"/>
                            <a:lumMod val="99000"/>
                            <a:satMod val="120000"/>
                            <a:shade val="78000"/>
                          </a:schemeClr>
                        </a:gs>
                      </a:gsLst>
                      <a:lin ang="5400000" scaled="0"/>
                    </a:gradFill>
                    <a:ln>
                      <a:noFill/>
                    </a:ln>
                    <a:effectLst/>
                  </c:spPr>
                  <c:extLst xmlns:c15="http://schemas.microsoft.com/office/drawing/2012/chart">
                    <c:ext xmlns:c16="http://schemas.microsoft.com/office/drawing/2014/chart" uri="{C3380CC4-5D6E-409C-BE32-E72D297353CC}">
                      <c16:uniqueId val="{00000037-5C20-4CD9-99AC-BB74BBD1D36A}"/>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a:solidFill>
                          <a:schemeClr val="tx2">
                            <a:lumMod val="35000"/>
                            <a:lumOff val="65000"/>
                          </a:schemeClr>
                        </a:solidFill>
                      </a:ln>
                      <a:effectLst/>
                    </c:spPr>
                  </c:leaderLines>
                  <c:extLst xmlns:c15="http://schemas.microsoft.com/office/drawing/2012/chart">
                    <c:ext xmlns:c15="http://schemas.microsoft.com/office/drawing/2012/chart" uri="{CE6537A1-D6FC-4f65-9D91-7224C49458BB}"/>
                  </c:extLst>
                </c:dLbls>
                <c:cat>
                  <c:strRef>
                    <c:extLst xmlns:c15="http://schemas.microsoft.com/office/drawing/2012/chart">
                      <c:ext xmlns:c15="http://schemas.microsoft.com/office/drawing/2012/chart" uri="{02D57815-91ED-43cb-92C2-25804820EDAC}">
                        <c15:formulaRef>
                          <c15:sqref>Problem.1!$H$8:$H$16</c15:sqref>
                        </c15:formulaRef>
                      </c:ext>
                    </c:extLst>
                    <c:strCache>
                      <c:ptCount val="9"/>
                      <c:pt idx="0">
                        <c:v>Food</c:v>
                      </c:pt>
                      <c:pt idx="1">
                        <c:v>Luxury</c:v>
                      </c:pt>
                      <c:pt idx="2">
                        <c:v>Apparel</c:v>
                      </c:pt>
                      <c:pt idx="3">
                        <c:v>Housing</c:v>
                      </c:pt>
                      <c:pt idx="4">
                        <c:v>Fuel and light</c:v>
                      </c:pt>
                      <c:pt idx="5">
                        <c:v>Health</c:v>
                      </c:pt>
                      <c:pt idx="6">
                        <c:v>Transport and communication</c:v>
                      </c:pt>
                      <c:pt idx="7">
                        <c:v>Education</c:v>
                      </c:pt>
                      <c:pt idx="8">
                        <c:v>Misc</c:v>
                      </c:pt>
                    </c:strCache>
                  </c:strRef>
                </c:cat>
                <c:val>
                  <c:numRef>
                    <c:extLst xmlns:c15="http://schemas.microsoft.com/office/drawing/2012/chart">
                      <c:ext xmlns:c15="http://schemas.microsoft.com/office/drawing/2012/chart" uri="{02D57815-91ED-43cb-92C2-25804820EDAC}">
                        <c15:formulaRef>
                          <c15:sqref>Problem.1!$N$8:$N$16</c15:sqref>
                        </c15:formulaRef>
                      </c:ext>
                    </c:extLst>
                    <c:numCache>
                      <c:formatCode>0.0%</c:formatCode>
                      <c:ptCount val="9"/>
                      <c:pt idx="0">
                        <c:v>0.45838346510828459</c:v>
                      </c:pt>
                      <c:pt idx="1">
                        <c:v>0.15701271914747333</c:v>
                      </c:pt>
                      <c:pt idx="2">
                        <c:v>0.11885527672739772</c:v>
                      </c:pt>
                      <c:pt idx="3">
                        <c:v>7.5369542798212424E-2</c:v>
                      </c:pt>
                      <c:pt idx="4">
                        <c:v>3.9274664833276039E-2</c:v>
                      </c:pt>
                      <c:pt idx="5">
                        <c:v>3.9897731179099338E-2</c:v>
                      </c:pt>
                      <c:pt idx="6">
                        <c:v>3.5407356479889997E-2</c:v>
                      </c:pt>
                      <c:pt idx="7">
                        <c:v>3.8050017188037119E-2</c:v>
                      </c:pt>
                      <c:pt idx="8">
                        <c:v>3.7749226538329315E-2</c:v>
                      </c:pt>
                    </c:numCache>
                  </c:numRef>
                </c:val>
                <c:extLst xmlns:c15="http://schemas.microsoft.com/office/drawing/2012/chart">
                  <c:ext xmlns:c16="http://schemas.microsoft.com/office/drawing/2014/chart" uri="{C3380CC4-5D6E-409C-BE32-E72D297353CC}">
                    <c16:uniqueId val="{00000038-5C20-4CD9-99AC-BB74BBD1D36A}"/>
                  </c:ext>
                </c:extLst>
              </c15:ser>
            </c15:filteredPieSeries>
          </c:ext>
        </c:extLst>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1"/>
          <c:order val="1"/>
          <c:tx>
            <c:strRef>
              <c:f>Problem.1!$M$7</c:f>
              <c:strCache>
                <c:ptCount val="1"/>
                <c:pt idx="0">
                  <c:v>Urban%</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4A4A-4339-A4AC-A072ED130F2E}"/>
              </c:ext>
            </c:extLst>
          </c:dPt>
          <c:dPt>
            <c:idx val="1"/>
            <c:bubble3D val="0"/>
            <c:spPr>
              <a:solidFill>
                <a:schemeClr val="accent3"/>
              </a:solidFill>
              <a:ln w="19050">
                <a:solidFill>
                  <a:schemeClr val="lt1"/>
                </a:solidFill>
              </a:ln>
              <a:effectLst/>
            </c:spPr>
            <c:extLst>
              <c:ext xmlns:c16="http://schemas.microsoft.com/office/drawing/2014/chart" uri="{C3380CC4-5D6E-409C-BE32-E72D297353CC}">
                <c16:uniqueId val="{00000003-4A4A-4339-A4AC-A072ED130F2E}"/>
              </c:ext>
            </c:extLst>
          </c:dPt>
          <c:dPt>
            <c:idx val="2"/>
            <c:bubble3D val="0"/>
            <c:spPr>
              <a:solidFill>
                <a:schemeClr val="accent5"/>
              </a:solidFill>
              <a:ln w="19050">
                <a:solidFill>
                  <a:schemeClr val="lt1"/>
                </a:solidFill>
              </a:ln>
              <a:effectLst/>
            </c:spPr>
            <c:extLst>
              <c:ext xmlns:c16="http://schemas.microsoft.com/office/drawing/2014/chart" uri="{C3380CC4-5D6E-409C-BE32-E72D297353CC}">
                <c16:uniqueId val="{00000005-4A4A-4339-A4AC-A072ED130F2E}"/>
              </c:ext>
            </c:extLst>
          </c:dPt>
          <c:dPt>
            <c:idx val="3"/>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7-4A4A-4339-A4AC-A072ED130F2E}"/>
              </c:ext>
            </c:extLst>
          </c:dPt>
          <c:dPt>
            <c:idx val="4"/>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09-4A4A-4339-A4AC-A072ED130F2E}"/>
              </c:ext>
            </c:extLst>
          </c:dPt>
          <c:dPt>
            <c:idx val="5"/>
            <c:bubble3D val="0"/>
            <c:spPr>
              <a:solidFill>
                <a:schemeClr val="accent5">
                  <a:lumMod val="60000"/>
                </a:schemeClr>
              </a:solidFill>
              <a:ln w="19050">
                <a:solidFill>
                  <a:schemeClr val="lt1"/>
                </a:solidFill>
              </a:ln>
              <a:effectLst/>
            </c:spPr>
            <c:extLst>
              <c:ext xmlns:c16="http://schemas.microsoft.com/office/drawing/2014/chart" uri="{C3380CC4-5D6E-409C-BE32-E72D297353CC}">
                <c16:uniqueId val="{0000000B-4A4A-4339-A4AC-A072ED130F2E}"/>
              </c:ext>
            </c:extLst>
          </c:dPt>
          <c:dPt>
            <c:idx val="6"/>
            <c:bubble3D val="0"/>
            <c:spPr>
              <a:solidFill>
                <a:schemeClr val="accent1">
                  <a:lumMod val="80000"/>
                  <a:lumOff val="20000"/>
                </a:schemeClr>
              </a:solidFill>
              <a:ln w="19050">
                <a:solidFill>
                  <a:schemeClr val="lt1"/>
                </a:solidFill>
              </a:ln>
              <a:effectLst/>
            </c:spPr>
            <c:extLst>
              <c:ext xmlns:c16="http://schemas.microsoft.com/office/drawing/2014/chart" uri="{C3380CC4-5D6E-409C-BE32-E72D297353CC}">
                <c16:uniqueId val="{0000000D-4A4A-4339-A4AC-A072ED130F2E}"/>
              </c:ext>
            </c:extLst>
          </c:dPt>
          <c:dPt>
            <c:idx val="7"/>
            <c:bubble3D val="0"/>
            <c:spPr>
              <a:solidFill>
                <a:schemeClr val="accent3">
                  <a:lumMod val="80000"/>
                  <a:lumOff val="20000"/>
                </a:schemeClr>
              </a:solidFill>
              <a:ln w="19050">
                <a:solidFill>
                  <a:schemeClr val="lt1"/>
                </a:solidFill>
              </a:ln>
              <a:effectLst/>
            </c:spPr>
            <c:extLst>
              <c:ext xmlns:c16="http://schemas.microsoft.com/office/drawing/2014/chart" uri="{C3380CC4-5D6E-409C-BE32-E72D297353CC}">
                <c16:uniqueId val="{0000000F-4A4A-4339-A4AC-A072ED130F2E}"/>
              </c:ext>
            </c:extLst>
          </c:dPt>
          <c:dPt>
            <c:idx val="8"/>
            <c:bubble3D val="0"/>
            <c:spPr>
              <a:solidFill>
                <a:schemeClr val="accent5">
                  <a:lumMod val="80000"/>
                  <a:lumOff val="20000"/>
                </a:schemeClr>
              </a:solidFill>
              <a:ln w="19050">
                <a:solidFill>
                  <a:schemeClr val="lt1"/>
                </a:solidFill>
              </a:ln>
              <a:effectLst/>
            </c:spPr>
            <c:extLst>
              <c:ext xmlns:c16="http://schemas.microsoft.com/office/drawing/2014/chart" uri="{C3380CC4-5D6E-409C-BE32-E72D297353CC}">
                <c16:uniqueId val="{00000011-4A4A-4339-A4AC-A072ED130F2E}"/>
              </c:ext>
            </c:extLst>
          </c:dPt>
          <c:dPt>
            <c:idx val="9"/>
            <c:bubble3D val="0"/>
            <c:spPr>
              <a:solidFill>
                <a:schemeClr val="accent1">
                  <a:lumMod val="80000"/>
                </a:schemeClr>
              </a:solidFill>
              <a:ln w="19050">
                <a:solidFill>
                  <a:schemeClr val="lt1"/>
                </a:solidFill>
              </a:ln>
              <a:effectLst/>
            </c:spPr>
            <c:extLst>
              <c:ext xmlns:c16="http://schemas.microsoft.com/office/drawing/2014/chart" uri="{C3380CC4-5D6E-409C-BE32-E72D297353CC}">
                <c16:uniqueId val="{00000013-4A4A-4339-A4AC-A072ED130F2E}"/>
              </c:ext>
            </c:extLst>
          </c:dPt>
          <c:dPt>
            <c:idx val="10"/>
            <c:bubble3D val="0"/>
            <c:spPr>
              <a:solidFill>
                <a:schemeClr val="accent3">
                  <a:lumMod val="80000"/>
                </a:schemeClr>
              </a:solidFill>
              <a:ln w="19050">
                <a:solidFill>
                  <a:schemeClr val="lt1"/>
                </a:solidFill>
              </a:ln>
              <a:effectLst/>
            </c:spPr>
            <c:extLst>
              <c:ext xmlns:c16="http://schemas.microsoft.com/office/drawing/2014/chart" uri="{C3380CC4-5D6E-409C-BE32-E72D297353CC}">
                <c16:uniqueId val="{00000015-4A4A-4339-A4AC-A072ED130F2E}"/>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Problem.1!$H$8:$H$18</c:f>
              <c:strCache>
                <c:ptCount val="11"/>
                <c:pt idx="0">
                  <c:v>Food</c:v>
                </c:pt>
                <c:pt idx="1">
                  <c:v>Luxury</c:v>
                </c:pt>
                <c:pt idx="2">
                  <c:v>Apparel</c:v>
                </c:pt>
                <c:pt idx="3">
                  <c:v>Housing</c:v>
                </c:pt>
                <c:pt idx="4">
                  <c:v>Fuel and light</c:v>
                </c:pt>
                <c:pt idx="5">
                  <c:v>Health</c:v>
                </c:pt>
                <c:pt idx="6">
                  <c:v>Transport</c:v>
                </c:pt>
                <c:pt idx="7">
                  <c:v>Recreation and amusement</c:v>
                </c:pt>
                <c:pt idx="8">
                  <c:v>Education</c:v>
                </c:pt>
                <c:pt idx="9">
                  <c:v>Personal care and effects</c:v>
                </c:pt>
                <c:pt idx="10">
                  <c:v>Misc</c:v>
                </c:pt>
              </c:strCache>
            </c:strRef>
          </c:cat>
          <c:val>
            <c:numRef>
              <c:f>Problem.1!$M$8:$M$18</c:f>
              <c:numCache>
                <c:formatCode>0.0%</c:formatCode>
                <c:ptCount val="11"/>
                <c:pt idx="0">
                  <c:v>0.46740933870585449</c:v>
                </c:pt>
                <c:pt idx="1">
                  <c:v>7.9747462776616596E-2</c:v>
                </c:pt>
                <c:pt idx="2">
                  <c:v>0.11392186860307267</c:v>
                </c:pt>
                <c:pt idx="3">
                  <c:v>7.4489861880238734E-2</c:v>
                </c:pt>
                <c:pt idx="4">
                  <c:v>3.9518196901463076E-2</c:v>
                </c:pt>
                <c:pt idx="5">
                  <c:v>3.9259626365575638E-2</c:v>
                </c:pt>
                <c:pt idx="6">
                  <c:v>3.4562261630287229E-2</c:v>
                </c:pt>
                <c:pt idx="7">
                  <c:v>3.6458445560128415E-2</c:v>
                </c:pt>
                <c:pt idx="8">
                  <c:v>3.7665108060936453E-2</c:v>
                </c:pt>
                <c:pt idx="9">
                  <c:v>3.9992242883923369E-2</c:v>
                </c:pt>
                <c:pt idx="10">
                  <c:v>3.6975586631903291E-2</c:v>
                </c:pt>
              </c:numCache>
            </c:numRef>
          </c:val>
          <c:extLst>
            <c:ext xmlns:c16="http://schemas.microsoft.com/office/drawing/2014/chart" uri="{C3380CC4-5D6E-409C-BE32-E72D297353CC}">
              <c16:uniqueId val="{00000016-4A4A-4339-A4AC-A072ED130F2E}"/>
            </c:ext>
          </c:extLst>
        </c:ser>
        <c:dLbls>
          <c:dLblPos val="bestFit"/>
          <c:showLegendKey val="0"/>
          <c:showVal val="1"/>
          <c:showCatName val="0"/>
          <c:showSerName val="0"/>
          <c:showPercent val="0"/>
          <c:showBubbleSize val="0"/>
          <c:showLeaderLines val="1"/>
        </c:dLbls>
        <c:firstSliceAng val="0"/>
        <c:extLst>
          <c:ext xmlns:c15="http://schemas.microsoft.com/office/drawing/2012/chart" uri="{02D57815-91ED-43cb-92C2-25804820EDAC}">
            <c15:filteredPieSeries>
              <c15:ser>
                <c:idx val="0"/>
                <c:order val="0"/>
                <c:tx>
                  <c:strRef>
                    <c:extLst>
                      <c:ext uri="{02D57815-91ED-43cb-92C2-25804820EDAC}">
                        <c15:formulaRef>
                          <c15:sqref>Problem.1!$L$7</c15:sqref>
                        </c15:formulaRef>
                      </c:ext>
                    </c:extLst>
                    <c:strCache>
                      <c:ptCount val="1"/>
                      <c:pt idx="0">
                        <c:v>Rural%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18-4A4A-4339-A4AC-A072ED130F2E}"/>
                    </c:ext>
                  </c:extLst>
                </c:dPt>
                <c:dPt>
                  <c:idx val="1"/>
                  <c:bubble3D val="0"/>
                  <c:spPr>
                    <a:solidFill>
                      <a:schemeClr val="accent3"/>
                    </a:solidFill>
                    <a:ln w="19050">
                      <a:solidFill>
                        <a:schemeClr val="lt1"/>
                      </a:solidFill>
                    </a:ln>
                    <a:effectLst/>
                  </c:spPr>
                  <c:extLst>
                    <c:ext xmlns:c16="http://schemas.microsoft.com/office/drawing/2014/chart" uri="{C3380CC4-5D6E-409C-BE32-E72D297353CC}">
                      <c16:uniqueId val="{0000001A-4A4A-4339-A4AC-A072ED130F2E}"/>
                    </c:ext>
                  </c:extLst>
                </c:dPt>
                <c:dPt>
                  <c:idx val="2"/>
                  <c:bubble3D val="0"/>
                  <c:spPr>
                    <a:solidFill>
                      <a:schemeClr val="accent5"/>
                    </a:solidFill>
                    <a:ln w="19050">
                      <a:solidFill>
                        <a:schemeClr val="lt1"/>
                      </a:solidFill>
                    </a:ln>
                    <a:effectLst/>
                  </c:spPr>
                  <c:extLst>
                    <c:ext xmlns:c16="http://schemas.microsoft.com/office/drawing/2014/chart" uri="{C3380CC4-5D6E-409C-BE32-E72D297353CC}">
                      <c16:uniqueId val="{0000001C-4A4A-4339-A4AC-A072ED130F2E}"/>
                    </c:ext>
                  </c:extLst>
                </c:dPt>
                <c:dPt>
                  <c:idx val="3"/>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1E-4A4A-4339-A4AC-A072ED130F2E}"/>
                    </c:ext>
                  </c:extLst>
                </c:dPt>
                <c:dPt>
                  <c:idx val="4"/>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20-4A4A-4339-A4AC-A072ED130F2E}"/>
                    </c:ext>
                  </c:extLst>
                </c:dPt>
                <c:dPt>
                  <c:idx val="5"/>
                  <c:bubble3D val="0"/>
                  <c:spPr>
                    <a:solidFill>
                      <a:schemeClr val="accent5">
                        <a:lumMod val="60000"/>
                      </a:schemeClr>
                    </a:solidFill>
                    <a:ln w="19050">
                      <a:solidFill>
                        <a:schemeClr val="lt1"/>
                      </a:solidFill>
                    </a:ln>
                    <a:effectLst/>
                  </c:spPr>
                  <c:extLst>
                    <c:ext xmlns:c16="http://schemas.microsoft.com/office/drawing/2014/chart" uri="{C3380CC4-5D6E-409C-BE32-E72D297353CC}">
                      <c16:uniqueId val="{00000022-4A4A-4339-A4AC-A072ED130F2E}"/>
                    </c:ext>
                  </c:extLst>
                </c:dPt>
                <c:dPt>
                  <c:idx val="6"/>
                  <c:bubble3D val="0"/>
                  <c:spPr>
                    <a:solidFill>
                      <a:schemeClr val="accent1">
                        <a:lumMod val="80000"/>
                        <a:lumOff val="20000"/>
                      </a:schemeClr>
                    </a:solidFill>
                    <a:ln w="19050">
                      <a:solidFill>
                        <a:schemeClr val="lt1"/>
                      </a:solidFill>
                    </a:ln>
                    <a:effectLst/>
                  </c:spPr>
                  <c:extLst>
                    <c:ext xmlns:c16="http://schemas.microsoft.com/office/drawing/2014/chart" uri="{C3380CC4-5D6E-409C-BE32-E72D297353CC}">
                      <c16:uniqueId val="{00000024-4A4A-4339-A4AC-A072ED130F2E}"/>
                    </c:ext>
                  </c:extLst>
                </c:dPt>
                <c:dPt>
                  <c:idx val="7"/>
                  <c:bubble3D val="0"/>
                  <c:spPr>
                    <a:solidFill>
                      <a:schemeClr val="accent3">
                        <a:lumMod val="80000"/>
                        <a:lumOff val="20000"/>
                      </a:schemeClr>
                    </a:solidFill>
                    <a:ln w="19050">
                      <a:solidFill>
                        <a:schemeClr val="lt1"/>
                      </a:solidFill>
                    </a:ln>
                    <a:effectLst/>
                  </c:spPr>
                  <c:extLst>
                    <c:ext xmlns:c16="http://schemas.microsoft.com/office/drawing/2014/chart" uri="{C3380CC4-5D6E-409C-BE32-E72D297353CC}">
                      <c16:uniqueId val="{00000026-4A4A-4339-A4AC-A072ED130F2E}"/>
                    </c:ext>
                  </c:extLst>
                </c:dPt>
                <c:dPt>
                  <c:idx val="8"/>
                  <c:bubble3D val="0"/>
                  <c:spPr>
                    <a:solidFill>
                      <a:schemeClr val="accent5">
                        <a:lumMod val="80000"/>
                        <a:lumOff val="20000"/>
                      </a:schemeClr>
                    </a:solidFill>
                    <a:ln w="19050">
                      <a:solidFill>
                        <a:schemeClr val="lt1"/>
                      </a:solidFill>
                    </a:ln>
                    <a:effectLst/>
                  </c:spPr>
                  <c:extLst>
                    <c:ext xmlns:c16="http://schemas.microsoft.com/office/drawing/2014/chart" uri="{C3380CC4-5D6E-409C-BE32-E72D297353CC}">
                      <c16:uniqueId val="{00000028-4A4A-4339-A4AC-A072ED130F2E}"/>
                    </c:ext>
                  </c:extLst>
                </c:dPt>
                <c:dPt>
                  <c:idx val="9"/>
                  <c:bubble3D val="0"/>
                  <c:spPr>
                    <a:solidFill>
                      <a:schemeClr val="accent1">
                        <a:lumMod val="80000"/>
                      </a:schemeClr>
                    </a:solidFill>
                    <a:ln w="19050">
                      <a:solidFill>
                        <a:schemeClr val="lt1"/>
                      </a:solidFill>
                    </a:ln>
                    <a:effectLst/>
                  </c:spPr>
                  <c:extLst>
                    <c:ext xmlns:c16="http://schemas.microsoft.com/office/drawing/2014/chart" uri="{C3380CC4-5D6E-409C-BE32-E72D297353CC}">
                      <c16:uniqueId val="{0000002A-4A4A-4339-A4AC-A072ED130F2E}"/>
                    </c:ext>
                  </c:extLst>
                </c:dPt>
                <c:dPt>
                  <c:idx val="10"/>
                  <c:bubble3D val="0"/>
                  <c:spPr>
                    <a:solidFill>
                      <a:schemeClr val="accent3">
                        <a:lumMod val="80000"/>
                      </a:schemeClr>
                    </a:solidFill>
                    <a:ln w="19050">
                      <a:solidFill>
                        <a:schemeClr val="lt1"/>
                      </a:solidFill>
                    </a:ln>
                    <a:effectLst/>
                  </c:spPr>
                  <c:extLst>
                    <c:ext xmlns:c16="http://schemas.microsoft.com/office/drawing/2014/chart" uri="{C3380CC4-5D6E-409C-BE32-E72D297353CC}">
                      <c16:uniqueId val="{0000002C-4A4A-4339-A4AC-A072ED130F2E}"/>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uri="{CE6537A1-D6FC-4f65-9D91-7224C49458BB}"/>
                  </c:extLst>
                </c:dLbls>
                <c:cat>
                  <c:strRef>
                    <c:extLst>
                      <c:ext uri="{02D57815-91ED-43cb-92C2-25804820EDAC}">
                        <c15:formulaRef>
                          <c15:sqref>Problem.1!$H$8:$H$18</c15:sqref>
                        </c15:formulaRef>
                      </c:ext>
                    </c:extLst>
                    <c:strCache>
                      <c:ptCount val="11"/>
                      <c:pt idx="0">
                        <c:v>Food</c:v>
                      </c:pt>
                      <c:pt idx="1">
                        <c:v>Luxury</c:v>
                      </c:pt>
                      <c:pt idx="2">
                        <c:v>Apparel</c:v>
                      </c:pt>
                      <c:pt idx="3">
                        <c:v>Housing</c:v>
                      </c:pt>
                      <c:pt idx="4">
                        <c:v>Fuel and light</c:v>
                      </c:pt>
                      <c:pt idx="5">
                        <c:v>Health</c:v>
                      </c:pt>
                      <c:pt idx="6">
                        <c:v>Transport</c:v>
                      </c:pt>
                      <c:pt idx="7">
                        <c:v>Recreation and amusement</c:v>
                      </c:pt>
                      <c:pt idx="8">
                        <c:v>Education</c:v>
                      </c:pt>
                      <c:pt idx="9">
                        <c:v>Personal care and effects</c:v>
                      </c:pt>
                      <c:pt idx="10">
                        <c:v>Misc</c:v>
                      </c:pt>
                    </c:strCache>
                  </c:strRef>
                </c:cat>
                <c:val>
                  <c:numRef>
                    <c:extLst>
                      <c:ext uri="{02D57815-91ED-43cb-92C2-25804820EDAC}">
                        <c15:formulaRef>
                          <c15:sqref>Problem.1!$L$8:$L$18</c15:sqref>
                        </c15:formulaRef>
                      </c:ext>
                    </c:extLst>
                    <c:numCache>
                      <c:formatCode>0.0%</c:formatCode>
                      <c:ptCount val="11"/>
                      <c:pt idx="0">
                        <c:v>0.46945852227260609</c:v>
                      </c:pt>
                      <c:pt idx="1">
                        <c:v>8.4155774873299546E-2</c:v>
                      </c:pt>
                      <c:pt idx="2">
                        <c:v>0.12667822530452566</c:v>
                      </c:pt>
                      <c:pt idx="3">
                        <c:v>3.9966213212412199E-2</c:v>
                      </c:pt>
                      <c:pt idx="4">
                        <c:v>4.0566373255090243E-2</c:v>
                      </c:pt>
                      <c:pt idx="5">
                        <c:v>4.1744465190717527E-2</c:v>
                      </c:pt>
                      <c:pt idx="6">
                        <c:v>3.772117008980172E-2</c:v>
                      </c:pt>
                      <c:pt idx="7">
                        <c:v>3.8632524228683206E-2</c:v>
                      </c:pt>
                      <c:pt idx="8">
                        <c:v>4.0077353961056279E-2</c:v>
                      </c:pt>
                      <c:pt idx="9">
                        <c:v>4.1099848848581845E-2</c:v>
                      </c:pt>
                      <c:pt idx="10">
                        <c:v>3.989952876322575E-2</c:v>
                      </c:pt>
                    </c:numCache>
                  </c:numRef>
                </c:val>
                <c:extLst>
                  <c:ext xmlns:c16="http://schemas.microsoft.com/office/drawing/2014/chart" uri="{C3380CC4-5D6E-409C-BE32-E72D297353CC}">
                    <c16:uniqueId val="{0000002D-4A4A-4339-A4AC-A072ED130F2E}"/>
                  </c:ext>
                </c:extLst>
              </c15:ser>
            </c15:filteredPieSeries>
            <c15:filteredPieSeries>
              <c15:ser>
                <c:idx val="2"/>
                <c:order val="2"/>
                <c:tx>
                  <c:strRef>
                    <c:extLst xmlns:c15="http://schemas.microsoft.com/office/drawing/2012/chart">
                      <c:ext xmlns:c15="http://schemas.microsoft.com/office/drawing/2012/chart" uri="{02D57815-91ED-43cb-92C2-25804820EDAC}">
                        <c15:formulaRef>
                          <c15:sqref>Problem.1!$N$7</c15:sqref>
                        </c15:formulaRef>
                      </c:ext>
                    </c:extLst>
                    <c:strCache>
                      <c:ptCount val="1"/>
                      <c:pt idx="0">
                        <c:v>Rural+Urban%</c:v>
                      </c:pt>
                    </c:strCache>
                  </c:strRef>
                </c:tx>
                <c:dPt>
                  <c:idx val="0"/>
                  <c:bubble3D val="0"/>
                  <c:spPr>
                    <a:solidFill>
                      <a:schemeClr val="accent1"/>
                    </a:solidFill>
                    <a:ln w="19050">
                      <a:solidFill>
                        <a:schemeClr val="lt1"/>
                      </a:solidFill>
                    </a:ln>
                    <a:effectLst/>
                  </c:spPr>
                  <c:extLst xmlns:c15="http://schemas.microsoft.com/office/drawing/2012/chart">
                    <c:ext xmlns:c16="http://schemas.microsoft.com/office/drawing/2014/chart" uri="{C3380CC4-5D6E-409C-BE32-E72D297353CC}">
                      <c16:uniqueId val="{0000002F-4A4A-4339-A4AC-A072ED130F2E}"/>
                    </c:ext>
                  </c:extLst>
                </c:dPt>
                <c:dPt>
                  <c:idx val="1"/>
                  <c:bubble3D val="0"/>
                  <c:spPr>
                    <a:solidFill>
                      <a:schemeClr val="accent3"/>
                    </a:solidFill>
                    <a:ln w="19050">
                      <a:solidFill>
                        <a:schemeClr val="lt1"/>
                      </a:solidFill>
                    </a:ln>
                    <a:effectLst/>
                  </c:spPr>
                  <c:extLst xmlns:c15="http://schemas.microsoft.com/office/drawing/2012/chart">
                    <c:ext xmlns:c16="http://schemas.microsoft.com/office/drawing/2014/chart" uri="{C3380CC4-5D6E-409C-BE32-E72D297353CC}">
                      <c16:uniqueId val="{00000031-4A4A-4339-A4AC-A072ED130F2E}"/>
                    </c:ext>
                  </c:extLst>
                </c:dPt>
                <c:dPt>
                  <c:idx val="2"/>
                  <c:bubble3D val="0"/>
                  <c:spPr>
                    <a:solidFill>
                      <a:schemeClr val="accent5"/>
                    </a:solidFill>
                    <a:ln w="19050">
                      <a:solidFill>
                        <a:schemeClr val="lt1"/>
                      </a:solidFill>
                    </a:ln>
                    <a:effectLst/>
                  </c:spPr>
                  <c:extLst xmlns:c15="http://schemas.microsoft.com/office/drawing/2012/chart">
                    <c:ext xmlns:c16="http://schemas.microsoft.com/office/drawing/2014/chart" uri="{C3380CC4-5D6E-409C-BE32-E72D297353CC}">
                      <c16:uniqueId val="{00000033-4A4A-4339-A4AC-A072ED130F2E}"/>
                    </c:ext>
                  </c:extLst>
                </c:dPt>
                <c:dPt>
                  <c:idx val="3"/>
                  <c:bubble3D val="0"/>
                  <c:spPr>
                    <a:solidFill>
                      <a:schemeClr val="accent1">
                        <a:lumMod val="60000"/>
                      </a:schemeClr>
                    </a:solidFill>
                    <a:ln w="19050">
                      <a:solidFill>
                        <a:schemeClr val="lt1"/>
                      </a:solidFill>
                    </a:ln>
                    <a:effectLst/>
                  </c:spPr>
                  <c:extLst xmlns:c15="http://schemas.microsoft.com/office/drawing/2012/chart">
                    <c:ext xmlns:c16="http://schemas.microsoft.com/office/drawing/2014/chart" uri="{C3380CC4-5D6E-409C-BE32-E72D297353CC}">
                      <c16:uniqueId val="{00000035-4A4A-4339-A4AC-A072ED130F2E}"/>
                    </c:ext>
                  </c:extLst>
                </c:dPt>
                <c:dPt>
                  <c:idx val="4"/>
                  <c:bubble3D val="0"/>
                  <c:spPr>
                    <a:solidFill>
                      <a:schemeClr val="accent3">
                        <a:lumMod val="60000"/>
                      </a:schemeClr>
                    </a:solidFill>
                    <a:ln w="19050">
                      <a:solidFill>
                        <a:schemeClr val="lt1"/>
                      </a:solidFill>
                    </a:ln>
                    <a:effectLst/>
                  </c:spPr>
                  <c:extLst xmlns:c15="http://schemas.microsoft.com/office/drawing/2012/chart">
                    <c:ext xmlns:c16="http://schemas.microsoft.com/office/drawing/2014/chart" uri="{C3380CC4-5D6E-409C-BE32-E72D297353CC}">
                      <c16:uniqueId val="{00000037-4A4A-4339-A4AC-A072ED130F2E}"/>
                    </c:ext>
                  </c:extLst>
                </c:dPt>
                <c:dPt>
                  <c:idx val="5"/>
                  <c:bubble3D val="0"/>
                  <c:spPr>
                    <a:solidFill>
                      <a:schemeClr val="accent5">
                        <a:lumMod val="60000"/>
                      </a:schemeClr>
                    </a:solidFill>
                    <a:ln w="19050">
                      <a:solidFill>
                        <a:schemeClr val="lt1"/>
                      </a:solidFill>
                    </a:ln>
                    <a:effectLst/>
                  </c:spPr>
                  <c:extLst xmlns:c15="http://schemas.microsoft.com/office/drawing/2012/chart">
                    <c:ext xmlns:c16="http://schemas.microsoft.com/office/drawing/2014/chart" uri="{C3380CC4-5D6E-409C-BE32-E72D297353CC}">
                      <c16:uniqueId val="{00000039-4A4A-4339-A4AC-A072ED130F2E}"/>
                    </c:ext>
                  </c:extLst>
                </c:dPt>
                <c:dPt>
                  <c:idx val="6"/>
                  <c:bubble3D val="0"/>
                  <c:spPr>
                    <a:solidFill>
                      <a:schemeClr val="accent1">
                        <a:lumMod val="80000"/>
                        <a:lumOff val="20000"/>
                      </a:schemeClr>
                    </a:solidFill>
                    <a:ln w="19050">
                      <a:solidFill>
                        <a:schemeClr val="lt1"/>
                      </a:solidFill>
                    </a:ln>
                    <a:effectLst/>
                  </c:spPr>
                  <c:extLst xmlns:c15="http://schemas.microsoft.com/office/drawing/2012/chart">
                    <c:ext xmlns:c16="http://schemas.microsoft.com/office/drawing/2014/chart" uri="{C3380CC4-5D6E-409C-BE32-E72D297353CC}">
                      <c16:uniqueId val="{0000003B-4A4A-4339-A4AC-A072ED130F2E}"/>
                    </c:ext>
                  </c:extLst>
                </c:dPt>
                <c:dPt>
                  <c:idx val="7"/>
                  <c:bubble3D val="0"/>
                  <c:spPr>
                    <a:solidFill>
                      <a:schemeClr val="accent3">
                        <a:lumMod val="80000"/>
                        <a:lumOff val="20000"/>
                      </a:schemeClr>
                    </a:solidFill>
                    <a:ln w="19050">
                      <a:solidFill>
                        <a:schemeClr val="lt1"/>
                      </a:solidFill>
                    </a:ln>
                    <a:effectLst/>
                  </c:spPr>
                  <c:extLst xmlns:c15="http://schemas.microsoft.com/office/drawing/2012/chart">
                    <c:ext xmlns:c16="http://schemas.microsoft.com/office/drawing/2014/chart" uri="{C3380CC4-5D6E-409C-BE32-E72D297353CC}">
                      <c16:uniqueId val="{0000003D-4A4A-4339-A4AC-A072ED130F2E}"/>
                    </c:ext>
                  </c:extLst>
                </c:dPt>
                <c:dPt>
                  <c:idx val="8"/>
                  <c:bubble3D val="0"/>
                  <c:spPr>
                    <a:solidFill>
                      <a:schemeClr val="accent5">
                        <a:lumMod val="80000"/>
                        <a:lumOff val="20000"/>
                      </a:schemeClr>
                    </a:solidFill>
                    <a:ln w="19050">
                      <a:solidFill>
                        <a:schemeClr val="lt1"/>
                      </a:solidFill>
                    </a:ln>
                    <a:effectLst/>
                  </c:spPr>
                  <c:extLst xmlns:c15="http://schemas.microsoft.com/office/drawing/2012/chart">
                    <c:ext xmlns:c16="http://schemas.microsoft.com/office/drawing/2014/chart" uri="{C3380CC4-5D6E-409C-BE32-E72D297353CC}">
                      <c16:uniqueId val="{0000003F-4A4A-4339-A4AC-A072ED130F2E}"/>
                    </c:ext>
                  </c:extLst>
                </c:dPt>
                <c:dPt>
                  <c:idx val="9"/>
                  <c:bubble3D val="0"/>
                  <c:spPr>
                    <a:solidFill>
                      <a:schemeClr val="accent1">
                        <a:lumMod val="80000"/>
                      </a:schemeClr>
                    </a:solidFill>
                    <a:ln w="19050">
                      <a:solidFill>
                        <a:schemeClr val="lt1"/>
                      </a:solidFill>
                    </a:ln>
                    <a:effectLst/>
                  </c:spPr>
                  <c:extLst xmlns:c15="http://schemas.microsoft.com/office/drawing/2012/chart">
                    <c:ext xmlns:c16="http://schemas.microsoft.com/office/drawing/2014/chart" uri="{C3380CC4-5D6E-409C-BE32-E72D297353CC}">
                      <c16:uniqueId val="{00000041-4A4A-4339-A4AC-A072ED130F2E}"/>
                    </c:ext>
                  </c:extLst>
                </c:dPt>
                <c:dPt>
                  <c:idx val="10"/>
                  <c:bubble3D val="0"/>
                  <c:spPr>
                    <a:solidFill>
                      <a:schemeClr val="accent3">
                        <a:lumMod val="80000"/>
                      </a:schemeClr>
                    </a:solidFill>
                    <a:ln w="19050">
                      <a:solidFill>
                        <a:schemeClr val="lt1"/>
                      </a:solidFill>
                    </a:ln>
                    <a:effectLst/>
                  </c:spPr>
                  <c:extLst xmlns:c15="http://schemas.microsoft.com/office/drawing/2012/chart">
                    <c:ext xmlns:c16="http://schemas.microsoft.com/office/drawing/2014/chart" uri="{C3380CC4-5D6E-409C-BE32-E72D297353CC}">
                      <c16:uniqueId val="{00000043-4A4A-4339-A4AC-A072ED130F2E}"/>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xmlns:c15="http://schemas.microsoft.com/office/drawing/2012/chart">
                    <c:ext xmlns:c15="http://schemas.microsoft.com/office/drawing/2012/chart" uri="{CE6537A1-D6FC-4f65-9D91-7224C49458BB}"/>
                  </c:extLst>
                </c:dLbls>
                <c:cat>
                  <c:strRef>
                    <c:extLst xmlns:c15="http://schemas.microsoft.com/office/drawing/2012/chart">
                      <c:ext xmlns:c15="http://schemas.microsoft.com/office/drawing/2012/chart" uri="{02D57815-91ED-43cb-92C2-25804820EDAC}">
                        <c15:formulaRef>
                          <c15:sqref>Problem.1!$H$8:$H$18</c15:sqref>
                        </c15:formulaRef>
                      </c:ext>
                    </c:extLst>
                    <c:strCache>
                      <c:ptCount val="11"/>
                      <c:pt idx="0">
                        <c:v>Food</c:v>
                      </c:pt>
                      <c:pt idx="1">
                        <c:v>Luxury</c:v>
                      </c:pt>
                      <c:pt idx="2">
                        <c:v>Apparel</c:v>
                      </c:pt>
                      <c:pt idx="3">
                        <c:v>Housing</c:v>
                      </c:pt>
                      <c:pt idx="4">
                        <c:v>Fuel and light</c:v>
                      </c:pt>
                      <c:pt idx="5">
                        <c:v>Health</c:v>
                      </c:pt>
                      <c:pt idx="6">
                        <c:v>Transport</c:v>
                      </c:pt>
                      <c:pt idx="7">
                        <c:v>Recreation and amusement</c:v>
                      </c:pt>
                      <c:pt idx="8">
                        <c:v>Education</c:v>
                      </c:pt>
                      <c:pt idx="9">
                        <c:v>Personal care and effects</c:v>
                      </c:pt>
                      <c:pt idx="10">
                        <c:v>Misc</c:v>
                      </c:pt>
                    </c:strCache>
                  </c:strRef>
                </c:cat>
                <c:val>
                  <c:numRef>
                    <c:extLst xmlns:c15="http://schemas.microsoft.com/office/drawing/2012/chart">
                      <c:ext xmlns:c15="http://schemas.microsoft.com/office/drawing/2012/chart" uri="{02D57815-91ED-43cb-92C2-25804820EDAC}">
                        <c15:formulaRef>
                          <c15:sqref>Problem.1!$N$8:$N$18</c15:sqref>
                        </c15:formulaRef>
                      </c:ext>
                    </c:extLst>
                    <c:numCache>
                      <c:formatCode>0.0%</c:formatCode>
                      <c:ptCount val="11"/>
                      <c:pt idx="0">
                        <c:v>0.45838346510828459</c:v>
                      </c:pt>
                      <c:pt idx="1">
                        <c:v>8.0440013750429681E-2</c:v>
                      </c:pt>
                      <c:pt idx="2">
                        <c:v>0.11885527672739772</c:v>
                      </c:pt>
                      <c:pt idx="3">
                        <c:v>7.5369542798212424E-2</c:v>
                      </c:pt>
                      <c:pt idx="4">
                        <c:v>3.9274664833276039E-2</c:v>
                      </c:pt>
                      <c:pt idx="5">
                        <c:v>3.9897731179099338E-2</c:v>
                      </c:pt>
                      <c:pt idx="6">
                        <c:v>3.5407356479889997E-2</c:v>
                      </c:pt>
                      <c:pt idx="7">
                        <c:v>3.6782399449982808E-2</c:v>
                      </c:pt>
                      <c:pt idx="8">
                        <c:v>3.8050017188037119E-2</c:v>
                      </c:pt>
                      <c:pt idx="9">
                        <c:v>3.9790305947060838E-2</c:v>
                      </c:pt>
                      <c:pt idx="10">
                        <c:v>3.7749226538329315E-2</c:v>
                      </c:pt>
                    </c:numCache>
                  </c:numRef>
                </c:val>
                <c:extLst xmlns:c15="http://schemas.microsoft.com/office/drawing/2012/chart">
                  <c:ext xmlns:c16="http://schemas.microsoft.com/office/drawing/2014/chart" uri="{C3380CC4-5D6E-409C-BE32-E72D297353CC}">
                    <c16:uniqueId val="{00000044-4A4A-4339-A4AC-A072ED130F2E}"/>
                  </c:ext>
                </c:extLst>
              </c15:ser>
            </c15:filteredPieSeries>
          </c:ext>
        </c:extLst>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2"/>
          <c:order val="2"/>
          <c:tx>
            <c:strRef>
              <c:f>Problem.1!$N$7</c:f>
              <c:strCache>
                <c:ptCount val="1"/>
                <c:pt idx="0">
                  <c:v>Rural+Urban%</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223F-4780-8454-ED86EF7BCF19}"/>
              </c:ext>
            </c:extLst>
          </c:dPt>
          <c:dPt>
            <c:idx val="1"/>
            <c:bubble3D val="0"/>
            <c:spPr>
              <a:solidFill>
                <a:schemeClr val="accent3"/>
              </a:solidFill>
              <a:ln w="19050">
                <a:solidFill>
                  <a:schemeClr val="lt1"/>
                </a:solidFill>
              </a:ln>
              <a:effectLst/>
            </c:spPr>
            <c:extLst>
              <c:ext xmlns:c16="http://schemas.microsoft.com/office/drawing/2014/chart" uri="{C3380CC4-5D6E-409C-BE32-E72D297353CC}">
                <c16:uniqueId val="{00000003-223F-4780-8454-ED86EF7BCF19}"/>
              </c:ext>
            </c:extLst>
          </c:dPt>
          <c:dPt>
            <c:idx val="2"/>
            <c:bubble3D val="0"/>
            <c:spPr>
              <a:solidFill>
                <a:schemeClr val="accent5"/>
              </a:solidFill>
              <a:ln w="19050">
                <a:solidFill>
                  <a:schemeClr val="lt1"/>
                </a:solidFill>
              </a:ln>
              <a:effectLst/>
            </c:spPr>
            <c:extLst>
              <c:ext xmlns:c16="http://schemas.microsoft.com/office/drawing/2014/chart" uri="{C3380CC4-5D6E-409C-BE32-E72D297353CC}">
                <c16:uniqueId val="{00000005-223F-4780-8454-ED86EF7BCF19}"/>
              </c:ext>
            </c:extLst>
          </c:dPt>
          <c:dPt>
            <c:idx val="3"/>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7-223F-4780-8454-ED86EF7BCF19}"/>
              </c:ext>
            </c:extLst>
          </c:dPt>
          <c:dPt>
            <c:idx val="4"/>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09-223F-4780-8454-ED86EF7BCF19}"/>
              </c:ext>
            </c:extLst>
          </c:dPt>
          <c:dPt>
            <c:idx val="5"/>
            <c:bubble3D val="0"/>
            <c:spPr>
              <a:solidFill>
                <a:schemeClr val="accent5">
                  <a:lumMod val="60000"/>
                </a:schemeClr>
              </a:solidFill>
              <a:ln w="19050">
                <a:solidFill>
                  <a:schemeClr val="lt1"/>
                </a:solidFill>
              </a:ln>
              <a:effectLst/>
            </c:spPr>
            <c:extLst>
              <c:ext xmlns:c16="http://schemas.microsoft.com/office/drawing/2014/chart" uri="{C3380CC4-5D6E-409C-BE32-E72D297353CC}">
                <c16:uniqueId val="{0000000B-223F-4780-8454-ED86EF7BCF19}"/>
              </c:ext>
            </c:extLst>
          </c:dPt>
          <c:dPt>
            <c:idx val="6"/>
            <c:bubble3D val="0"/>
            <c:spPr>
              <a:solidFill>
                <a:schemeClr val="accent1">
                  <a:lumMod val="80000"/>
                  <a:lumOff val="20000"/>
                </a:schemeClr>
              </a:solidFill>
              <a:ln w="19050">
                <a:solidFill>
                  <a:schemeClr val="lt1"/>
                </a:solidFill>
              </a:ln>
              <a:effectLst/>
            </c:spPr>
            <c:extLst>
              <c:ext xmlns:c16="http://schemas.microsoft.com/office/drawing/2014/chart" uri="{C3380CC4-5D6E-409C-BE32-E72D297353CC}">
                <c16:uniqueId val="{0000000D-223F-4780-8454-ED86EF7BCF19}"/>
              </c:ext>
            </c:extLst>
          </c:dPt>
          <c:dPt>
            <c:idx val="7"/>
            <c:bubble3D val="0"/>
            <c:spPr>
              <a:solidFill>
                <a:schemeClr val="accent3">
                  <a:lumMod val="80000"/>
                  <a:lumOff val="20000"/>
                </a:schemeClr>
              </a:solidFill>
              <a:ln w="19050">
                <a:solidFill>
                  <a:schemeClr val="lt1"/>
                </a:solidFill>
              </a:ln>
              <a:effectLst/>
            </c:spPr>
            <c:extLst>
              <c:ext xmlns:c16="http://schemas.microsoft.com/office/drawing/2014/chart" uri="{C3380CC4-5D6E-409C-BE32-E72D297353CC}">
                <c16:uniqueId val="{0000000F-223F-4780-8454-ED86EF7BCF19}"/>
              </c:ext>
            </c:extLst>
          </c:dPt>
          <c:dPt>
            <c:idx val="8"/>
            <c:bubble3D val="0"/>
            <c:spPr>
              <a:solidFill>
                <a:schemeClr val="accent5">
                  <a:lumMod val="80000"/>
                  <a:lumOff val="20000"/>
                </a:schemeClr>
              </a:solidFill>
              <a:ln w="19050">
                <a:solidFill>
                  <a:schemeClr val="lt1"/>
                </a:solidFill>
              </a:ln>
              <a:effectLst/>
            </c:spPr>
            <c:extLst>
              <c:ext xmlns:c16="http://schemas.microsoft.com/office/drawing/2014/chart" uri="{C3380CC4-5D6E-409C-BE32-E72D297353CC}">
                <c16:uniqueId val="{00000011-223F-4780-8454-ED86EF7BCF19}"/>
              </c:ext>
            </c:extLst>
          </c:dPt>
          <c:dPt>
            <c:idx val="9"/>
            <c:bubble3D val="0"/>
            <c:spPr>
              <a:solidFill>
                <a:schemeClr val="accent1">
                  <a:lumMod val="80000"/>
                </a:schemeClr>
              </a:solidFill>
              <a:ln w="19050">
                <a:solidFill>
                  <a:schemeClr val="lt1"/>
                </a:solidFill>
              </a:ln>
              <a:effectLst/>
            </c:spPr>
            <c:extLst>
              <c:ext xmlns:c16="http://schemas.microsoft.com/office/drawing/2014/chart" uri="{C3380CC4-5D6E-409C-BE32-E72D297353CC}">
                <c16:uniqueId val="{00000013-223F-4780-8454-ED86EF7BCF19}"/>
              </c:ext>
            </c:extLst>
          </c:dPt>
          <c:dPt>
            <c:idx val="10"/>
            <c:bubble3D val="0"/>
            <c:spPr>
              <a:solidFill>
                <a:schemeClr val="accent3">
                  <a:lumMod val="80000"/>
                </a:schemeClr>
              </a:solidFill>
              <a:ln w="19050">
                <a:solidFill>
                  <a:schemeClr val="lt1"/>
                </a:solidFill>
              </a:ln>
              <a:effectLst/>
            </c:spPr>
            <c:extLst>
              <c:ext xmlns:c16="http://schemas.microsoft.com/office/drawing/2014/chart" uri="{C3380CC4-5D6E-409C-BE32-E72D297353CC}">
                <c16:uniqueId val="{00000015-223F-4780-8454-ED86EF7BCF19}"/>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Problem.1!$H$8:$H$18</c:f>
              <c:strCache>
                <c:ptCount val="11"/>
                <c:pt idx="0">
                  <c:v>Food</c:v>
                </c:pt>
                <c:pt idx="1">
                  <c:v>Luxury</c:v>
                </c:pt>
                <c:pt idx="2">
                  <c:v>Apparel</c:v>
                </c:pt>
                <c:pt idx="3">
                  <c:v>Housing</c:v>
                </c:pt>
                <c:pt idx="4">
                  <c:v>Fuel and light</c:v>
                </c:pt>
                <c:pt idx="5">
                  <c:v>Health</c:v>
                </c:pt>
                <c:pt idx="6">
                  <c:v>Transport</c:v>
                </c:pt>
                <c:pt idx="7">
                  <c:v>Recreation and amusement</c:v>
                </c:pt>
                <c:pt idx="8">
                  <c:v>Education</c:v>
                </c:pt>
                <c:pt idx="9">
                  <c:v>Personal care and effects</c:v>
                </c:pt>
                <c:pt idx="10">
                  <c:v>Misc</c:v>
                </c:pt>
              </c:strCache>
            </c:strRef>
          </c:cat>
          <c:val>
            <c:numRef>
              <c:f>Problem.1!$N$8:$N$18</c:f>
              <c:numCache>
                <c:formatCode>0.0%</c:formatCode>
                <c:ptCount val="11"/>
                <c:pt idx="0">
                  <c:v>0.45838346510828459</c:v>
                </c:pt>
                <c:pt idx="1">
                  <c:v>8.0440013750429681E-2</c:v>
                </c:pt>
                <c:pt idx="2">
                  <c:v>0.11885527672739772</c:v>
                </c:pt>
                <c:pt idx="3">
                  <c:v>7.5369542798212424E-2</c:v>
                </c:pt>
                <c:pt idx="4">
                  <c:v>3.9274664833276039E-2</c:v>
                </c:pt>
                <c:pt idx="5">
                  <c:v>3.9897731179099338E-2</c:v>
                </c:pt>
                <c:pt idx="6">
                  <c:v>3.5407356479889997E-2</c:v>
                </c:pt>
                <c:pt idx="7">
                  <c:v>3.6782399449982808E-2</c:v>
                </c:pt>
                <c:pt idx="8">
                  <c:v>3.8050017188037119E-2</c:v>
                </c:pt>
                <c:pt idx="9">
                  <c:v>3.9790305947060838E-2</c:v>
                </c:pt>
                <c:pt idx="10">
                  <c:v>3.7749226538329315E-2</c:v>
                </c:pt>
              </c:numCache>
            </c:numRef>
          </c:val>
          <c:extLst>
            <c:ext xmlns:c16="http://schemas.microsoft.com/office/drawing/2014/chart" uri="{C3380CC4-5D6E-409C-BE32-E72D297353CC}">
              <c16:uniqueId val="{00000016-223F-4780-8454-ED86EF7BCF19}"/>
            </c:ext>
          </c:extLst>
        </c:ser>
        <c:dLbls>
          <c:dLblPos val="bestFit"/>
          <c:showLegendKey val="0"/>
          <c:showVal val="1"/>
          <c:showCatName val="0"/>
          <c:showSerName val="0"/>
          <c:showPercent val="0"/>
          <c:showBubbleSize val="0"/>
          <c:showLeaderLines val="1"/>
        </c:dLbls>
        <c:firstSliceAng val="0"/>
        <c:extLst>
          <c:ext xmlns:c15="http://schemas.microsoft.com/office/drawing/2012/chart" uri="{02D57815-91ED-43cb-92C2-25804820EDAC}">
            <c15:filteredPieSeries>
              <c15:ser>
                <c:idx val="0"/>
                <c:order val="0"/>
                <c:tx>
                  <c:strRef>
                    <c:extLst>
                      <c:ext uri="{02D57815-91ED-43cb-92C2-25804820EDAC}">
                        <c15:formulaRef>
                          <c15:sqref>Problem.1!$L$7</c15:sqref>
                        </c15:formulaRef>
                      </c:ext>
                    </c:extLst>
                    <c:strCache>
                      <c:ptCount val="1"/>
                      <c:pt idx="0">
                        <c:v>Rural%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18-223F-4780-8454-ED86EF7BCF19}"/>
                    </c:ext>
                  </c:extLst>
                </c:dPt>
                <c:dPt>
                  <c:idx val="1"/>
                  <c:bubble3D val="0"/>
                  <c:spPr>
                    <a:solidFill>
                      <a:schemeClr val="accent3"/>
                    </a:solidFill>
                    <a:ln w="19050">
                      <a:solidFill>
                        <a:schemeClr val="lt1"/>
                      </a:solidFill>
                    </a:ln>
                    <a:effectLst/>
                  </c:spPr>
                  <c:extLst>
                    <c:ext xmlns:c16="http://schemas.microsoft.com/office/drawing/2014/chart" uri="{C3380CC4-5D6E-409C-BE32-E72D297353CC}">
                      <c16:uniqueId val="{0000001A-223F-4780-8454-ED86EF7BCF19}"/>
                    </c:ext>
                  </c:extLst>
                </c:dPt>
                <c:dPt>
                  <c:idx val="2"/>
                  <c:bubble3D val="0"/>
                  <c:spPr>
                    <a:solidFill>
                      <a:schemeClr val="accent5"/>
                    </a:solidFill>
                    <a:ln w="19050">
                      <a:solidFill>
                        <a:schemeClr val="lt1"/>
                      </a:solidFill>
                    </a:ln>
                    <a:effectLst/>
                  </c:spPr>
                  <c:extLst>
                    <c:ext xmlns:c16="http://schemas.microsoft.com/office/drawing/2014/chart" uri="{C3380CC4-5D6E-409C-BE32-E72D297353CC}">
                      <c16:uniqueId val="{0000001C-223F-4780-8454-ED86EF7BCF19}"/>
                    </c:ext>
                  </c:extLst>
                </c:dPt>
                <c:dPt>
                  <c:idx val="3"/>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1E-223F-4780-8454-ED86EF7BCF19}"/>
                    </c:ext>
                  </c:extLst>
                </c:dPt>
                <c:dPt>
                  <c:idx val="4"/>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20-223F-4780-8454-ED86EF7BCF19}"/>
                    </c:ext>
                  </c:extLst>
                </c:dPt>
                <c:dPt>
                  <c:idx val="5"/>
                  <c:bubble3D val="0"/>
                  <c:spPr>
                    <a:solidFill>
                      <a:schemeClr val="accent5">
                        <a:lumMod val="60000"/>
                      </a:schemeClr>
                    </a:solidFill>
                    <a:ln w="19050">
                      <a:solidFill>
                        <a:schemeClr val="lt1"/>
                      </a:solidFill>
                    </a:ln>
                    <a:effectLst/>
                  </c:spPr>
                  <c:extLst>
                    <c:ext xmlns:c16="http://schemas.microsoft.com/office/drawing/2014/chart" uri="{C3380CC4-5D6E-409C-BE32-E72D297353CC}">
                      <c16:uniqueId val="{00000022-223F-4780-8454-ED86EF7BCF19}"/>
                    </c:ext>
                  </c:extLst>
                </c:dPt>
                <c:dPt>
                  <c:idx val="6"/>
                  <c:bubble3D val="0"/>
                  <c:spPr>
                    <a:solidFill>
                      <a:schemeClr val="accent1">
                        <a:lumMod val="80000"/>
                        <a:lumOff val="20000"/>
                      </a:schemeClr>
                    </a:solidFill>
                    <a:ln w="19050">
                      <a:solidFill>
                        <a:schemeClr val="lt1"/>
                      </a:solidFill>
                    </a:ln>
                    <a:effectLst/>
                  </c:spPr>
                  <c:extLst>
                    <c:ext xmlns:c16="http://schemas.microsoft.com/office/drawing/2014/chart" uri="{C3380CC4-5D6E-409C-BE32-E72D297353CC}">
                      <c16:uniqueId val="{00000024-223F-4780-8454-ED86EF7BCF19}"/>
                    </c:ext>
                  </c:extLst>
                </c:dPt>
                <c:dPt>
                  <c:idx val="7"/>
                  <c:bubble3D val="0"/>
                  <c:spPr>
                    <a:solidFill>
                      <a:schemeClr val="accent3">
                        <a:lumMod val="80000"/>
                        <a:lumOff val="20000"/>
                      </a:schemeClr>
                    </a:solidFill>
                    <a:ln w="19050">
                      <a:solidFill>
                        <a:schemeClr val="lt1"/>
                      </a:solidFill>
                    </a:ln>
                    <a:effectLst/>
                  </c:spPr>
                  <c:extLst>
                    <c:ext xmlns:c16="http://schemas.microsoft.com/office/drawing/2014/chart" uri="{C3380CC4-5D6E-409C-BE32-E72D297353CC}">
                      <c16:uniqueId val="{00000026-223F-4780-8454-ED86EF7BCF19}"/>
                    </c:ext>
                  </c:extLst>
                </c:dPt>
                <c:dPt>
                  <c:idx val="8"/>
                  <c:bubble3D val="0"/>
                  <c:spPr>
                    <a:solidFill>
                      <a:schemeClr val="accent5">
                        <a:lumMod val="80000"/>
                        <a:lumOff val="20000"/>
                      </a:schemeClr>
                    </a:solidFill>
                    <a:ln w="19050">
                      <a:solidFill>
                        <a:schemeClr val="lt1"/>
                      </a:solidFill>
                    </a:ln>
                    <a:effectLst/>
                  </c:spPr>
                  <c:extLst>
                    <c:ext xmlns:c16="http://schemas.microsoft.com/office/drawing/2014/chart" uri="{C3380CC4-5D6E-409C-BE32-E72D297353CC}">
                      <c16:uniqueId val="{00000028-223F-4780-8454-ED86EF7BCF19}"/>
                    </c:ext>
                  </c:extLst>
                </c:dPt>
                <c:dPt>
                  <c:idx val="9"/>
                  <c:bubble3D val="0"/>
                  <c:spPr>
                    <a:solidFill>
                      <a:schemeClr val="accent1">
                        <a:lumMod val="80000"/>
                      </a:schemeClr>
                    </a:solidFill>
                    <a:ln w="19050">
                      <a:solidFill>
                        <a:schemeClr val="lt1"/>
                      </a:solidFill>
                    </a:ln>
                    <a:effectLst/>
                  </c:spPr>
                  <c:extLst>
                    <c:ext xmlns:c16="http://schemas.microsoft.com/office/drawing/2014/chart" uri="{C3380CC4-5D6E-409C-BE32-E72D297353CC}">
                      <c16:uniqueId val="{0000002A-223F-4780-8454-ED86EF7BCF19}"/>
                    </c:ext>
                  </c:extLst>
                </c:dPt>
                <c:dPt>
                  <c:idx val="10"/>
                  <c:bubble3D val="0"/>
                  <c:spPr>
                    <a:solidFill>
                      <a:schemeClr val="accent3">
                        <a:lumMod val="80000"/>
                      </a:schemeClr>
                    </a:solidFill>
                    <a:ln w="19050">
                      <a:solidFill>
                        <a:schemeClr val="lt1"/>
                      </a:solidFill>
                    </a:ln>
                    <a:effectLst/>
                  </c:spPr>
                  <c:extLst>
                    <c:ext xmlns:c16="http://schemas.microsoft.com/office/drawing/2014/chart" uri="{C3380CC4-5D6E-409C-BE32-E72D297353CC}">
                      <c16:uniqueId val="{0000002C-223F-4780-8454-ED86EF7BCF19}"/>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uri="{CE6537A1-D6FC-4f65-9D91-7224C49458BB}"/>
                  </c:extLst>
                </c:dLbls>
                <c:cat>
                  <c:strRef>
                    <c:extLst>
                      <c:ext uri="{02D57815-91ED-43cb-92C2-25804820EDAC}">
                        <c15:formulaRef>
                          <c15:sqref>Problem.1!$H$8:$H$18</c15:sqref>
                        </c15:formulaRef>
                      </c:ext>
                    </c:extLst>
                    <c:strCache>
                      <c:ptCount val="11"/>
                      <c:pt idx="0">
                        <c:v>Food</c:v>
                      </c:pt>
                      <c:pt idx="1">
                        <c:v>Luxury</c:v>
                      </c:pt>
                      <c:pt idx="2">
                        <c:v>Apparel</c:v>
                      </c:pt>
                      <c:pt idx="3">
                        <c:v>Housing</c:v>
                      </c:pt>
                      <c:pt idx="4">
                        <c:v>Fuel and light</c:v>
                      </c:pt>
                      <c:pt idx="5">
                        <c:v>Health</c:v>
                      </c:pt>
                      <c:pt idx="6">
                        <c:v>Transport</c:v>
                      </c:pt>
                      <c:pt idx="7">
                        <c:v>Recreation and amusement</c:v>
                      </c:pt>
                      <c:pt idx="8">
                        <c:v>Education</c:v>
                      </c:pt>
                      <c:pt idx="9">
                        <c:v>Personal care and effects</c:v>
                      </c:pt>
                      <c:pt idx="10">
                        <c:v>Misc</c:v>
                      </c:pt>
                    </c:strCache>
                  </c:strRef>
                </c:cat>
                <c:val>
                  <c:numRef>
                    <c:extLst>
                      <c:ext uri="{02D57815-91ED-43cb-92C2-25804820EDAC}">
                        <c15:formulaRef>
                          <c15:sqref>Problem.1!$L$8:$L$18</c15:sqref>
                        </c15:formulaRef>
                      </c:ext>
                    </c:extLst>
                    <c:numCache>
                      <c:formatCode>0.0%</c:formatCode>
                      <c:ptCount val="11"/>
                      <c:pt idx="0">
                        <c:v>0.46945852227260609</c:v>
                      </c:pt>
                      <c:pt idx="1">
                        <c:v>8.4155774873299546E-2</c:v>
                      </c:pt>
                      <c:pt idx="2">
                        <c:v>0.12667822530452566</c:v>
                      </c:pt>
                      <c:pt idx="3">
                        <c:v>3.9966213212412199E-2</c:v>
                      </c:pt>
                      <c:pt idx="4">
                        <c:v>4.0566373255090243E-2</c:v>
                      </c:pt>
                      <c:pt idx="5">
                        <c:v>4.1744465190717527E-2</c:v>
                      </c:pt>
                      <c:pt idx="6">
                        <c:v>3.772117008980172E-2</c:v>
                      </c:pt>
                      <c:pt idx="7">
                        <c:v>3.8632524228683206E-2</c:v>
                      </c:pt>
                      <c:pt idx="8">
                        <c:v>4.0077353961056279E-2</c:v>
                      </c:pt>
                      <c:pt idx="9">
                        <c:v>4.1099848848581845E-2</c:v>
                      </c:pt>
                      <c:pt idx="10">
                        <c:v>3.989952876322575E-2</c:v>
                      </c:pt>
                    </c:numCache>
                  </c:numRef>
                </c:val>
                <c:extLst>
                  <c:ext xmlns:c16="http://schemas.microsoft.com/office/drawing/2014/chart" uri="{C3380CC4-5D6E-409C-BE32-E72D297353CC}">
                    <c16:uniqueId val="{0000002D-223F-4780-8454-ED86EF7BCF19}"/>
                  </c:ext>
                </c:extLst>
              </c15:ser>
            </c15:filteredPieSeries>
            <c15:filteredPieSeries>
              <c15:ser>
                <c:idx val="1"/>
                <c:order val="1"/>
                <c:tx>
                  <c:strRef>
                    <c:extLst xmlns:c15="http://schemas.microsoft.com/office/drawing/2012/chart">
                      <c:ext xmlns:c15="http://schemas.microsoft.com/office/drawing/2012/chart" uri="{02D57815-91ED-43cb-92C2-25804820EDAC}">
                        <c15:formulaRef>
                          <c15:sqref>Problem.1!$M$7</c15:sqref>
                        </c15:formulaRef>
                      </c:ext>
                    </c:extLst>
                    <c:strCache>
                      <c:ptCount val="1"/>
                      <c:pt idx="0">
                        <c:v>Urban%</c:v>
                      </c:pt>
                    </c:strCache>
                  </c:strRef>
                </c:tx>
                <c:dPt>
                  <c:idx val="0"/>
                  <c:bubble3D val="0"/>
                  <c:spPr>
                    <a:solidFill>
                      <a:schemeClr val="accent1"/>
                    </a:solidFill>
                    <a:ln w="19050">
                      <a:solidFill>
                        <a:schemeClr val="lt1"/>
                      </a:solidFill>
                    </a:ln>
                    <a:effectLst/>
                  </c:spPr>
                  <c:extLst xmlns:c15="http://schemas.microsoft.com/office/drawing/2012/chart">
                    <c:ext xmlns:c16="http://schemas.microsoft.com/office/drawing/2014/chart" uri="{C3380CC4-5D6E-409C-BE32-E72D297353CC}">
                      <c16:uniqueId val="{0000002F-223F-4780-8454-ED86EF7BCF19}"/>
                    </c:ext>
                  </c:extLst>
                </c:dPt>
                <c:dPt>
                  <c:idx val="1"/>
                  <c:bubble3D val="0"/>
                  <c:spPr>
                    <a:solidFill>
                      <a:schemeClr val="accent3"/>
                    </a:solidFill>
                    <a:ln w="19050">
                      <a:solidFill>
                        <a:schemeClr val="lt1"/>
                      </a:solidFill>
                    </a:ln>
                    <a:effectLst/>
                  </c:spPr>
                  <c:extLst xmlns:c15="http://schemas.microsoft.com/office/drawing/2012/chart">
                    <c:ext xmlns:c16="http://schemas.microsoft.com/office/drawing/2014/chart" uri="{C3380CC4-5D6E-409C-BE32-E72D297353CC}">
                      <c16:uniqueId val="{00000031-223F-4780-8454-ED86EF7BCF19}"/>
                    </c:ext>
                  </c:extLst>
                </c:dPt>
                <c:dPt>
                  <c:idx val="2"/>
                  <c:bubble3D val="0"/>
                  <c:spPr>
                    <a:solidFill>
                      <a:schemeClr val="accent5"/>
                    </a:solidFill>
                    <a:ln w="19050">
                      <a:solidFill>
                        <a:schemeClr val="lt1"/>
                      </a:solidFill>
                    </a:ln>
                    <a:effectLst/>
                  </c:spPr>
                  <c:extLst xmlns:c15="http://schemas.microsoft.com/office/drawing/2012/chart">
                    <c:ext xmlns:c16="http://schemas.microsoft.com/office/drawing/2014/chart" uri="{C3380CC4-5D6E-409C-BE32-E72D297353CC}">
                      <c16:uniqueId val="{00000033-223F-4780-8454-ED86EF7BCF19}"/>
                    </c:ext>
                  </c:extLst>
                </c:dPt>
                <c:dPt>
                  <c:idx val="3"/>
                  <c:bubble3D val="0"/>
                  <c:spPr>
                    <a:solidFill>
                      <a:schemeClr val="accent1">
                        <a:lumMod val="60000"/>
                      </a:schemeClr>
                    </a:solidFill>
                    <a:ln w="19050">
                      <a:solidFill>
                        <a:schemeClr val="lt1"/>
                      </a:solidFill>
                    </a:ln>
                    <a:effectLst/>
                  </c:spPr>
                  <c:extLst xmlns:c15="http://schemas.microsoft.com/office/drawing/2012/chart">
                    <c:ext xmlns:c16="http://schemas.microsoft.com/office/drawing/2014/chart" uri="{C3380CC4-5D6E-409C-BE32-E72D297353CC}">
                      <c16:uniqueId val="{00000035-223F-4780-8454-ED86EF7BCF19}"/>
                    </c:ext>
                  </c:extLst>
                </c:dPt>
                <c:dPt>
                  <c:idx val="4"/>
                  <c:bubble3D val="0"/>
                  <c:spPr>
                    <a:solidFill>
                      <a:schemeClr val="accent3">
                        <a:lumMod val="60000"/>
                      </a:schemeClr>
                    </a:solidFill>
                    <a:ln w="19050">
                      <a:solidFill>
                        <a:schemeClr val="lt1"/>
                      </a:solidFill>
                    </a:ln>
                    <a:effectLst/>
                  </c:spPr>
                  <c:extLst xmlns:c15="http://schemas.microsoft.com/office/drawing/2012/chart">
                    <c:ext xmlns:c16="http://schemas.microsoft.com/office/drawing/2014/chart" uri="{C3380CC4-5D6E-409C-BE32-E72D297353CC}">
                      <c16:uniqueId val="{00000037-223F-4780-8454-ED86EF7BCF19}"/>
                    </c:ext>
                  </c:extLst>
                </c:dPt>
                <c:dPt>
                  <c:idx val="5"/>
                  <c:bubble3D val="0"/>
                  <c:spPr>
                    <a:solidFill>
                      <a:schemeClr val="accent5">
                        <a:lumMod val="60000"/>
                      </a:schemeClr>
                    </a:solidFill>
                    <a:ln w="19050">
                      <a:solidFill>
                        <a:schemeClr val="lt1"/>
                      </a:solidFill>
                    </a:ln>
                    <a:effectLst/>
                  </c:spPr>
                  <c:extLst xmlns:c15="http://schemas.microsoft.com/office/drawing/2012/chart">
                    <c:ext xmlns:c16="http://schemas.microsoft.com/office/drawing/2014/chart" uri="{C3380CC4-5D6E-409C-BE32-E72D297353CC}">
                      <c16:uniqueId val="{00000039-223F-4780-8454-ED86EF7BCF19}"/>
                    </c:ext>
                  </c:extLst>
                </c:dPt>
                <c:dPt>
                  <c:idx val="6"/>
                  <c:bubble3D val="0"/>
                  <c:spPr>
                    <a:solidFill>
                      <a:schemeClr val="accent1">
                        <a:lumMod val="80000"/>
                        <a:lumOff val="20000"/>
                      </a:schemeClr>
                    </a:solidFill>
                    <a:ln w="19050">
                      <a:solidFill>
                        <a:schemeClr val="lt1"/>
                      </a:solidFill>
                    </a:ln>
                    <a:effectLst/>
                  </c:spPr>
                  <c:extLst xmlns:c15="http://schemas.microsoft.com/office/drawing/2012/chart">
                    <c:ext xmlns:c16="http://schemas.microsoft.com/office/drawing/2014/chart" uri="{C3380CC4-5D6E-409C-BE32-E72D297353CC}">
                      <c16:uniqueId val="{0000003B-223F-4780-8454-ED86EF7BCF19}"/>
                    </c:ext>
                  </c:extLst>
                </c:dPt>
                <c:dPt>
                  <c:idx val="7"/>
                  <c:bubble3D val="0"/>
                  <c:spPr>
                    <a:solidFill>
                      <a:schemeClr val="accent3">
                        <a:lumMod val="80000"/>
                        <a:lumOff val="20000"/>
                      </a:schemeClr>
                    </a:solidFill>
                    <a:ln w="19050">
                      <a:solidFill>
                        <a:schemeClr val="lt1"/>
                      </a:solidFill>
                    </a:ln>
                    <a:effectLst/>
                  </c:spPr>
                  <c:extLst xmlns:c15="http://schemas.microsoft.com/office/drawing/2012/chart">
                    <c:ext xmlns:c16="http://schemas.microsoft.com/office/drawing/2014/chart" uri="{C3380CC4-5D6E-409C-BE32-E72D297353CC}">
                      <c16:uniqueId val="{0000003D-223F-4780-8454-ED86EF7BCF19}"/>
                    </c:ext>
                  </c:extLst>
                </c:dPt>
                <c:dPt>
                  <c:idx val="8"/>
                  <c:bubble3D val="0"/>
                  <c:spPr>
                    <a:solidFill>
                      <a:schemeClr val="accent5">
                        <a:lumMod val="80000"/>
                        <a:lumOff val="20000"/>
                      </a:schemeClr>
                    </a:solidFill>
                    <a:ln w="19050">
                      <a:solidFill>
                        <a:schemeClr val="lt1"/>
                      </a:solidFill>
                    </a:ln>
                    <a:effectLst/>
                  </c:spPr>
                  <c:extLst xmlns:c15="http://schemas.microsoft.com/office/drawing/2012/chart">
                    <c:ext xmlns:c16="http://schemas.microsoft.com/office/drawing/2014/chart" uri="{C3380CC4-5D6E-409C-BE32-E72D297353CC}">
                      <c16:uniqueId val="{0000003F-223F-4780-8454-ED86EF7BCF19}"/>
                    </c:ext>
                  </c:extLst>
                </c:dPt>
                <c:dPt>
                  <c:idx val="9"/>
                  <c:bubble3D val="0"/>
                  <c:spPr>
                    <a:solidFill>
                      <a:schemeClr val="accent1">
                        <a:lumMod val="80000"/>
                      </a:schemeClr>
                    </a:solidFill>
                    <a:ln w="19050">
                      <a:solidFill>
                        <a:schemeClr val="lt1"/>
                      </a:solidFill>
                    </a:ln>
                    <a:effectLst/>
                  </c:spPr>
                  <c:extLst xmlns:c15="http://schemas.microsoft.com/office/drawing/2012/chart">
                    <c:ext xmlns:c16="http://schemas.microsoft.com/office/drawing/2014/chart" uri="{C3380CC4-5D6E-409C-BE32-E72D297353CC}">
                      <c16:uniqueId val="{00000041-223F-4780-8454-ED86EF7BCF19}"/>
                    </c:ext>
                  </c:extLst>
                </c:dPt>
                <c:dPt>
                  <c:idx val="10"/>
                  <c:bubble3D val="0"/>
                  <c:spPr>
                    <a:solidFill>
                      <a:schemeClr val="accent3">
                        <a:lumMod val="80000"/>
                      </a:schemeClr>
                    </a:solidFill>
                    <a:ln w="19050">
                      <a:solidFill>
                        <a:schemeClr val="lt1"/>
                      </a:solidFill>
                    </a:ln>
                    <a:effectLst/>
                  </c:spPr>
                  <c:extLst xmlns:c15="http://schemas.microsoft.com/office/drawing/2012/chart">
                    <c:ext xmlns:c16="http://schemas.microsoft.com/office/drawing/2014/chart" uri="{C3380CC4-5D6E-409C-BE32-E72D297353CC}">
                      <c16:uniqueId val="{00000043-223F-4780-8454-ED86EF7BCF19}"/>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xmlns:c15="http://schemas.microsoft.com/office/drawing/2012/chart">
                    <c:ext xmlns:c15="http://schemas.microsoft.com/office/drawing/2012/chart" uri="{CE6537A1-D6FC-4f65-9D91-7224C49458BB}"/>
                  </c:extLst>
                </c:dLbls>
                <c:cat>
                  <c:strRef>
                    <c:extLst xmlns:c15="http://schemas.microsoft.com/office/drawing/2012/chart">
                      <c:ext xmlns:c15="http://schemas.microsoft.com/office/drawing/2012/chart" uri="{02D57815-91ED-43cb-92C2-25804820EDAC}">
                        <c15:formulaRef>
                          <c15:sqref>Problem.1!$H$8:$H$18</c15:sqref>
                        </c15:formulaRef>
                      </c:ext>
                    </c:extLst>
                    <c:strCache>
                      <c:ptCount val="11"/>
                      <c:pt idx="0">
                        <c:v>Food</c:v>
                      </c:pt>
                      <c:pt idx="1">
                        <c:v>Luxury</c:v>
                      </c:pt>
                      <c:pt idx="2">
                        <c:v>Apparel</c:v>
                      </c:pt>
                      <c:pt idx="3">
                        <c:v>Housing</c:v>
                      </c:pt>
                      <c:pt idx="4">
                        <c:v>Fuel and light</c:v>
                      </c:pt>
                      <c:pt idx="5">
                        <c:v>Health</c:v>
                      </c:pt>
                      <c:pt idx="6">
                        <c:v>Transport</c:v>
                      </c:pt>
                      <c:pt idx="7">
                        <c:v>Recreation and amusement</c:v>
                      </c:pt>
                      <c:pt idx="8">
                        <c:v>Education</c:v>
                      </c:pt>
                      <c:pt idx="9">
                        <c:v>Personal care and effects</c:v>
                      </c:pt>
                      <c:pt idx="10">
                        <c:v>Misc</c:v>
                      </c:pt>
                    </c:strCache>
                  </c:strRef>
                </c:cat>
                <c:val>
                  <c:numRef>
                    <c:extLst xmlns:c15="http://schemas.microsoft.com/office/drawing/2012/chart">
                      <c:ext xmlns:c15="http://schemas.microsoft.com/office/drawing/2012/chart" uri="{02D57815-91ED-43cb-92C2-25804820EDAC}">
                        <c15:formulaRef>
                          <c15:sqref>Problem.1!$M$8:$M$18</c15:sqref>
                        </c15:formulaRef>
                      </c:ext>
                    </c:extLst>
                    <c:numCache>
                      <c:formatCode>0.0%</c:formatCode>
                      <c:ptCount val="11"/>
                      <c:pt idx="0">
                        <c:v>0.46740933870585449</c:v>
                      </c:pt>
                      <c:pt idx="1">
                        <c:v>7.9747462776616596E-2</c:v>
                      </c:pt>
                      <c:pt idx="2">
                        <c:v>0.11392186860307267</c:v>
                      </c:pt>
                      <c:pt idx="3">
                        <c:v>7.4489861880238734E-2</c:v>
                      </c:pt>
                      <c:pt idx="4">
                        <c:v>3.9518196901463076E-2</c:v>
                      </c:pt>
                      <c:pt idx="5">
                        <c:v>3.9259626365575638E-2</c:v>
                      </c:pt>
                      <c:pt idx="6">
                        <c:v>3.4562261630287229E-2</c:v>
                      </c:pt>
                      <c:pt idx="7">
                        <c:v>3.6458445560128415E-2</c:v>
                      </c:pt>
                      <c:pt idx="8">
                        <c:v>3.7665108060936453E-2</c:v>
                      </c:pt>
                      <c:pt idx="9">
                        <c:v>3.9992242883923369E-2</c:v>
                      </c:pt>
                      <c:pt idx="10">
                        <c:v>3.6975586631903291E-2</c:v>
                      </c:pt>
                    </c:numCache>
                  </c:numRef>
                </c:val>
                <c:extLst xmlns:c15="http://schemas.microsoft.com/office/drawing/2012/chart">
                  <c:ext xmlns:c16="http://schemas.microsoft.com/office/drawing/2014/chart" uri="{C3380CC4-5D6E-409C-BE32-E72D297353CC}">
                    <c16:uniqueId val="{00000044-223F-4780-8454-ED86EF7BCF19}"/>
                  </c:ext>
                </c:extLst>
              </c15:ser>
            </c15:filteredPieSeries>
          </c:ext>
        </c:extLst>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Problem.2!$G$75</c:f>
              <c:strCache>
                <c:ptCount val="1"/>
                <c:pt idx="0">
                  <c:v>Inflation Rate (YoY%)</c:v>
                </c:pt>
              </c:strCache>
            </c:strRef>
          </c:tx>
          <c:spPr>
            <a:ln w="28575" cap="rnd">
              <a:solidFill>
                <a:schemeClr val="accent1"/>
              </a:solidFill>
              <a:round/>
            </a:ln>
            <a:effectLst/>
          </c:spPr>
          <c:marker>
            <c:symbol val="none"/>
          </c:marker>
          <c:cat>
            <c:numRef>
              <c:f>Problem.2!$F$76:$F$81</c:f>
              <c:numCache>
                <c:formatCode>General</c:formatCode>
                <c:ptCount val="6"/>
                <c:pt idx="0">
                  <c:v>2017</c:v>
                </c:pt>
                <c:pt idx="1">
                  <c:v>2018</c:v>
                </c:pt>
                <c:pt idx="2">
                  <c:v>2019</c:v>
                </c:pt>
                <c:pt idx="3">
                  <c:v>2020</c:v>
                </c:pt>
                <c:pt idx="4">
                  <c:v>2021</c:v>
                </c:pt>
                <c:pt idx="5">
                  <c:v>2022</c:v>
                </c:pt>
              </c:numCache>
            </c:numRef>
          </c:cat>
          <c:val>
            <c:numRef>
              <c:f>Problem.2!$G$76:$G$81</c:f>
              <c:numCache>
                <c:formatCode>0.00%</c:formatCode>
                <c:ptCount val="6"/>
                <c:pt idx="0">
                  <c:v>5.295471987720627E-2</c:v>
                </c:pt>
                <c:pt idx="1">
                  <c:v>2.3374726077428697E-2</c:v>
                </c:pt>
                <c:pt idx="2">
                  <c:v>7.7363896848137617E-2</c:v>
                </c:pt>
                <c:pt idx="3">
                  <c:v>5.7922769640479481E-2</c:v>
                </c:pt>
                <c:pt idx="4">
                  <c:v>5.657978385251098E-2</c:v>
                </c:pt>
                <c:pt idx="5">
                  <c:v>6.0350030175015092E-2</c:v>
                </c:pt>
              </c:numCache>
            </c:numRef>
          </c:val>
          <c:smooth val="0"/>
          <c:extLst>
            <c:ext xmlns:c16="http://schemas.microsoft.com/office/drawing/2014/chart" uri="{C3380CC4-5D6E-409C-BE32-E72D297353CC}">
              <c16:uniqueId val="{00000000-E551-480F-9CAF-B9CBDF3751D7}"/>
            </c:ext>
          </c:extLst>
        </c:ser>
        <c:dLbls>
          <c:showLegendKey val="0"/>
          <c:showVal val="0"/>
          <c:showCatName val="0"/>
          <c:showSerName val="0"/>
          <c:showPercent val="0"/>
          <c:showBubbleSize val="0"/>
        </c:dLbls>
        <c:smooth val="0"/>
        <c:axId val="1777174127"/>
        <c:axId val="1777179407"/>
      </c:lineChart>
      <c:catAx>
        <c:axId val="177717412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77179407"/>
        <c:crosses val="autoZero"/>
        <c:auto val="1"/>
        <c:lblAlgn val="ctr"/>
        <c:lblOffset val="100"/>
        <c:noMultiLvlLbl val="0"/>
      </c:catAx>
      <c:valAx>
        <c:axId val="1777179407"/>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77174127"/>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1" i="0" u="none" strike="noStrike" kern="1200" spc="0" baseline="0" dirty="0">
                <a:ln w="0"/>
                <a:solidFill>
                  <a:schemeClr val="accent1"/>
                </a:solidFill>
                <a:effectLst>
                  <a:outerShdw blurRad="38100" dist="25400" dir="5400000" algn="ctr" rotWithShape="0">
                    <a:srgbClr val="6E747A">
                      <a:alpha val="43000"/>
                    </a:srgbClr>
                  </a:outerShdw>
                </a:effectLst>
              </a:rPr>
              <a:t>Inflation month</a:t>
            </a:r>
            <a:endParaRPr lang="en-IN"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barChart>
        <c:barDir val="col"/>
        <c:grouping val="clustered"/>
        <c:varyColors val="0"/>
        <c:ser>
          <c:idx val="0"/>
          <c:order val="0"/>
          <c:tx>
            <c:strRef>
              <c:f>'[CPI Inflation_Case Study.xlsx]Problem.3'!$Y$1</c:f>
              <c:strCache>
                <c:ptCount val="1"/>
                <c:pt idx="0">
                  <c:v>Rural</c:v>
                </c:pt>
              </c:strCache>
            </c:strRef>
          </c:tx>
          <c:spPr>
            <a:solidFill>
              <a:schemeClr val="accent1"/>
            </a:solidFill>
            <a:ln>
              <a:noFill/>
            </a:ln>
            <a:effectLst/>
          </c:spPr>
          <c:invertIfNegative val="0"/>
          <c:cat>
            <c:strRef>
              <c:f>'[CPI Inflation_Case Study.xlsx]Problem.3'!$X$2:$X$13</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'[CPI Inflation_Case Study.xlsx]Problem.3'!$Y$2:$Y$13</c:f>
              <c:numCache>
                <c:formatCode>0.00%</c:formatCode>
                <c:ptCount val="12"/>
                <c:pt idx="0">
                  <c:v>3.4403669724770315E-3</c:v>
                </c:pt>
                <c:pt idx="1">
                  <c:v>-1.1428571428570779E-3</c:v>
                </c:pt>
                <c:pt idx="2">
                  <c:v>0</c:v>
                </c:pt>
                <c:pt idx="3">
                  <c:v>4.0045766590388367E-3</c:v>
                </c:pt>
                <c:pt idx="4">
                  <c:v>7.4074074074074719E-3</c:v>
                </c:pt>
                <c:pt idx="5">
                  <c:v>9.3676814988290051E-3</c:v>
                </c:pt>
                <c:pt idx="6">
                  <c:v>5.80046403712264E-4</c:v>
                </c:pt>
                <c:pt idx="7">
                  <c:v>8.1159420289855407E-3</c:v>
                </c:pt>
                <c:pt idx="8">
                  <c:v>9.2006900517538487E-3</c:v>
                </c:pt>
                <c:pt idx="9">
                  <c:v>1.0826210826210859E-2</c:v>
                </c:pt>
                <c:pt idx="10">
                  <c:v>-4.5095828635851824E-3</c:v>
                </c:pt>
                <c:pt idx="11">
                  <c:v>-1.2457531143827796E-2</c:v>
                </c:pt>
              </c:numCache>
            </c:numRef>
          </c:val>
          <c:extLst>
            <c:ext xmlns:c16="http://schemas.microsoft.com/office/drawing/2014/chart" uri="{C3380CC4-5D6E-409C-BE32-E72D297353CC}">
              <c16:uniqueId val="{00000000-FC4D-4545-9584-85D182105850}"/>
            </c:ext>
          </c:extLst>
        </c:ser>
        <c:ser>
          <c:idx val="1"/>
          <c:order val="1"/>
          <c:tx>
            <c:strRef>
              <c:f>'[CPI Inflation_Case Study.xlsx]Problem.3'!$Z$1</c:f>
              <c:strCache>
                <c:ptCount val="1"/>
                <c:pt idx="0">
                  <c:v>Urban</c:v>
                </c:pt>
              </c:strCache>
            </c:strRef>
          </c:tx>
          <c:spPr>
            <a:solidFill>
              <a:schemeClr val="accent2"/>
            </a:solidFill>
            <a:ln>
              <a:noFill/>
            </a:ln>
            <a:effectLst/>
          </c:spPr>
          <c:invertIfNegative val="0"/>
          <c:cat>
            <c:strRef>
              <c:f>'[CPI Inflation_Case Study.xlsx]Problem.3'!$X$2:$X$13</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'[CPI Inflation_Case Study.xlsx]Problem.3'!$Z$2:$Z$13</c:f>
              <c:numCache>
                <c:formatCode>0.00%</c:formatCode>
                <c:ptCount val="12"/>
                <c:pt idx="0">
                  <c:v>5.0391937290033915E-3</c:v>
                </c:pt>
                <c:pt idx="1">
                  <c:v>6.6852367688021649E-3</c:v>
                </c:pt>
                <c:pt idx="2">
                  <c:v>5.5340343110139867E-4</c:v>
                </c:pt>
                <c:pt idx="3">
                  <c:v>7.1902654867255691E-3</c:v>
                </c:pt>
                <c:pt idx="4">
                  <c:v>5.4914881933003845E-3</c:v>
                </c:pt>
                <c:pt idx="5">
                  <c:v>1.0140845070422599E-2</c:v>
                </c:pt>
                <c:pt idx="6">
                  <c:v>5.5772448410482047E-4</c:v>
                </c:pt>
                <c:pt idx="7">
                  <c:v>5.5741360089186171E-3</c:v>
                </c:pt>
                <c:pt idx="8">
                  <c:v>7.7605321507760849E-3</c:v>
                </c:pt>
                <c:pt idx="9">
                  <c:v>8.2508250825082501E-3</c:v>
                </c:pt>
                <c:pt idx="10">
                  <c:v>-1.0911074740861974E-2</c:v>
                </c:pt>
                <c:pt idx="11">
                  <c:v>-1.4892443463872128E-2</c:v>
                </c:pt>
              </c:numCache>
            </c:numRef>
          </c:val>
          <c:extLst>
            <c:ext xmlns:c16="http://schemas.microsoft.com/office/drawing/2014/chart" uri="{C3380CC4-5D6E-409C-BE32-E72D297353CC}">
              <c16:uniqueId val="{00000001-FC4D-4545-9584-85D182105850}"/>
            </c:ext>
          </c:extLst>
        </c:ser>
        <c:ser>
          <c:idx val="2"/>
          <c:order val="2"/>
          <c:tx>
            <c:strRef>
              <c:f>'[CPI Inflation_Case Study.xlsx]Problem.3'!$AA$1</c:f>
              <c:strCache>
                <c:ptCount val="1"/>
                <c:pt idx="0">
                  <c:v>Rural + Urban</c:v>
                </c:pt>
              </c:strCache>
            </c:strRef>
          </c:tx>
          <c:spPr>
            <a:solidFill>
              <a:schemeClr val="accent3"/>
            </a:solidFill>
            <a:ln>
              <a:noFill/>
            </a:ln>
            <a:effectLst/>
          </c:spPr>
          <c:invertIfNegative val="0"/>
          <c:cat>
            <c:strRef>
              <c:f>'[CPI Inflation_Case Study.xlsx]Problem.3'!$X$2:$X$13</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'[CPI Inflation_Case Study.xlsx]Problem.3'!$AA$2:$AA$13</c:f>
              <c:numCache>
                <c:formatCode>0.00%</c:formatCode>
                <c:ptCount val="12"/>
                <c:pt idx="0">
                  <c:v>4.5480386583284984E-3</c:v>
                </c:pt>
                <c:pt idx="1">
                  <c:v>1.6977928692700134E-3</c:v>
                </c:pt>
                <c:pt idx="2">
                  <c:v>0</c:v>
                </c:pt>
                <c:pt idx="3">
                  <c:v>5.0847457627118961E-3</c:v>
                </c:pt>
                <c:pt idx="4">
                  <c:v>6.7453625632377095E-3</c:v>
                </c:pt>
                <c:pt idx="5">
                  <c:v>9.2325447201384546E-3</c:v>
                </c:pt>
                <c:pt idx="6">
                  <c:v>5.7175528873638828E-4</c:v>
                </c:pt>
                <c:pt idx="7">
                  <c:v>7.4285714285714935E-3</c:v>
                </c:pt>
                <c:pt idx="8">
                  <c:v>8.5082246171298923E-3</c:v>
                </c:pt>
                <c:pt idx="9">
                  <c:v>1.0123734533183255E-2</c:v>
                </c:pt>
                <c:pt idx="10">
                  <c:v>-7.2383073496658295E-3</c:v>
                </c:pt>
                <c:pt idx="11">
                  <c:v>-1.3460459899046581E-2</c:v>
                </c:pt>
              </c:numCache>
            </c:numRef>
          </c:val>
          <c:extLst>
            <c:ext xmlns:c16="http://schemas.microsoft.com/office/drawing/2014/chart" uri="{C3380CC4-5D6E-409C-BE32-E72D297353CC}">
              <c16:uniqueId val="{00000002-FC4D-4545-9584-85D182105850}"/>
            </c:ext>
          </c:extLst>
        </c:ser>
        <c:dLbls>
          <c:showLegendKey val="0"/>
          <c:showVal val="0"/>
          <c:showCatName val="0"/>
          <c:showSerName val="0"/>
          <c:showPercent val="0"/>
          <c:showBubbleSize val="0"/>
        </c:dLbls>
        <c:gapWidth val="219"/>
        <c:overlap val="-27"/>
        <c:axId val="1776901008"/>
        <c:axId val="1776908208"/>
      </c:barChart>
      <c:catAx>
        <c:axId val="17769010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76908208"/>
        <c:crosses val="autoZero"/>
        <c:auto val="1"/>
        <c:lblAlgn val="ctr"/>
        <c:lblOffset val="100"/>
        <c:noMultiLvlLbl val="0"/>
      </c:catAx>
      <c:valAx>
        <c:axId val="1776908208"/>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7690100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dirty="0"/>
              <a:t>Categories contribution towards inflation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'[CPI Inflation_Case Study.xlsx]Problem.3'!$Y$18</c:f>
              <c:strCache>
                <c:ptCount val="1"/>
                <c:pt idx="0">
                  <c:v>Rural</c:v>
                </c:pt>
              </c:strCache>
            </c:strRef>
          </c:tx>
          <c:spPr>
            <a:solidFill>
              <a:schemeClr val="accent1"/>
            </a:solidFill>
            <a:ln>
              <a:noFill/>
            </a:ln>
            <a:effectLst/>
          </c:spPr>
          <c:invertIfNegative val="0"/>
          <c:cat>
            <c:strRef>
              <c:f>'[CPI Inflation_Case Study.xlsx]Problem.3'!$X$19:$X$31</c:f>
              <c:strCache>
                <c:ptCount val="12"/>
                <c:pt idx="0">
                  <c:v>Cereals and products</c:v>
                </c:pt>
                <c:pt idx="1">
                  <c:v>Meat and fish</c:v>
                </c:pt>
                <c:pt idx="2">
                  <c:v>Egg</c:v>
                </c:pt>
                <c:pt idx="3">
                  <c:v>Milk and products</c:v>
                </c:pt>
                <c:pt idx="4">
                  <c:v>Oils and fats</c:v>
                </c:pt>
                <c:pt idx="5">
                  <c:v>Fruits</c:v>
                </c:pt>
                <c:pt idx="6">
                  <c:v>Vegetables</c:v>
                </c:pt>
                <c:pt idx="7">
                  <c:v>Pulses and products</c:v>
                </c:pt>
                <c:pt idx="8">
                  <c:v>Sugar and Confectionery</c:v>
                </c:pt>
                <c:pt idx="9">
                  <c:v>Spices</c:v>
                </c:pt>
                <c:pt idx="10">
                  <c:v>Prepared meals, snacks, sweets etc.</c:v>
                </c:pt>
                <c:pt idx="11">
                  <c:v>Food and beverages</c:v>
                </c:pt>
              </c:strCache>
            </c:strRef>
          </c:cat>
          <c:val>
            <c:numRef>
              <c:f>'[CPI Inflation_Case Study.xlsx]Problem.3'!$Y$19:$Y$31</c:f>
              <c:numCache>
                <c:formatCode>0.00%</c:formatCode>
                <c:ptCount val="13"/>
                <c:pt idx="0">
                  <c:v>0.12613784135240558</c:v>
                </c:pt>
                <c:pt idx="1">
                  <c:v>-2.6243093922651884E-2</c:v>
                </c:pt>
                <c:pt idx="2">
                  <c:v>8.2547169811321101E-3</c:v>
                </c:pt>
                <c:pt idx="3">
                  <c:v>8.5852478839177682E-2</c:v>
                </c:pt>
                <c:pt idx="4">
                  <c:v>-0.16722729456991822</c:v>
                </c:pt>
                <c:pt idx="5">
                  <c:v>1.9300361881785213E-2</c:v>
                </c:pt>
                <c:pt idx="6">
                  <c:v>-0.11117752540346695</c:v>
                </c:pt>
                <c:pt idx="7">
                  <c:v>6.2575941676792299E-2</c:v>
                </c:pt>
                <c:pt idx="8">
                  <c:v>2.350965575146945E-2</c:v>
                </c:pt>
                <c:pt idx="9">
                  <c:v>0.16993118051879297</c:v>
                </c:pt>
                <c:pt idx="10">
                  <c:v>5.0577240241891086E-2</c:v>
                </c:pt>
                <c:pt idx="11">
                  <c:v>2.5522041763341101E-2</c:v>
                </c:pt>
              </c:numCache>
            </c:numRef>
          </c:val>
          <c:extLst>
            <c:ext xmlns:c16="http://schemas.microsoft.com/office/drawing/2014/chart" uri="{C3380CC4-5D6E-409C-BE32-E72D297353CC}">
              <c16:uniqueId val="{00000000-7E5F-4C0F-B610-11F915EDBB1A}"/>
            </c:ext>
          </c:extLst>
        </c:ser>
        <c:ser>
          <c:idx val="1"/>
          <c:order val="1"/>
          <c:tx>
            <c:strRef>
              <c:f>'[CPI Inflation_Case Study.xlsx]Problem.3'!$Z$18</c:f>
              <c:strCache>
                <c:ptCount val="1"/>
                <c:pt idx="0">
                  <c:v>Urban</c:v>
                </c:pt>
              </c:strCache>
            </c:strRef>
          </c:tx>
          <c:spPr>
            <a:solidFill>
              <a:schemeClr val="accent2"/>
            </a:solidFill>
            <a:ln>
              <a:noFill/>
            </a:ln>
            <a:effectLst/>
          </c:spPr>
          <c:invertIfNegative val="0"/>
          <c:cat>
            <c:strRef>
              <c:f>'[CPI Inflation_Case Study.xlsx]Problem.3'!$X$19:$X$31</c:f>
              <c:strCache>
                <c:ptCount val="12"/>
                <c:pt idx="0">
                  <c:v>Cereals and products</c:v>
                </c:pt>
                <c:pt idx="1">
                  <c:v>Meat and fish</c:v>
                </c:pt>
                <c:pt idx="2">
                  <c:v>Egg</c:v>
                </c:pt>
                <c:pt idx="3">
                  <c:v>Milk and products</c:v>
                </c:pt>
                <c:pt idx="4">
                  <c:v>Oils and fats</c:v>
                </c:pt>
                <c:pt idx="5">
                  <c:v>Fruits</c:v>
                </c:pt>
                <c:pt idx="6">
                  <c:v>Vegetables</c:v>
                </c:pt>
                <c:pt idx="7">
                  <c:v>Pulses and products</c:v>
                </c:pt>
                <c:pt idx="8">
                  <c:v>Sugar and Confectionery</c:v>
                </c:pt>
                <c:pt idx="9">
                  <c:v>Spices</c:v>
                </c:pt>
                <c:pt idx="10">
                  <c:v>Prepared meals, snacks, sweets etc.</c:v>
                </c:pt>
                <c:pt idx="11">
                  <c:v>Food and beverages</c:v>
                </c:pt>
              </c:strCache>
            </c:strRef>
          </c:cat>
          <c:val>
            <c:numRef>
              <c:f>'[CPI Inflation_Case Study.xlsx]Problem.3'!$Z$19:$Z$31</c:f>
              <c:numCache>
                <c:formatCode>0.00%</c:formatCode>
                <c:ptCount val="13"/>
                <c:pt idx="0">
                  <c:v>0.10920634920634914</c:v>
                </c:pt>
                <c:pt idx="1">
                  <c:v>-1.7905102954341987E-2</c:v>
                </c:pt>
                <c:pt idx="2">
                  <c:v>2.2569444444444312E-2</c:v>
                </c:pt>
                <c:pt idx="3">
                  <c:v>7.8125E-2</c:v>
                </c:pt>
                <c:pt idx="4">
                  <c:v>-0.12831389183457045</c:v>
                </c:pt>
                <c:pt idx="5">
                  <c:v>9.7645031591040623E-3</c:v>
                </c:pt>
                <c:pt idx="6">
                  <c:v>-0.12529550827423167</c:v>
                </c:pt>
                <c:pt idx="7">
                  <c:v>8.1295843520782465E-2</c:v>
                </c:pt>
                <c:pt idx="8">
                  <c:v>2.3064250411861591E-2</c:v>
                </c:pt>
                <c:pt idx="9">
                  <c:v>0.15476839237057224</c:v>
                </c:pt>
                <c:pt idx="10">
                  <c:v>6.119162640901759E-2</c:v>
                </c:pt>
                <c:pt idx="11">
                  <c:v>2.1193530395984286E-2</c:v>
                </c:pt>
              </c:numCache>
            </c:numRef>
          </c:val>
          <c:extLst>
            <c:ext xmlns:c16="http://schemas.microsoft.com/office/drawing/2014/chart" uri="{C3380CC4-5D6E-409C-BE32-E72D297353CC}">
              <c16:uniqueId val="{00000001-7E5F-4C0F-B610-11F915EDBB1A}"/>
            </c:ext>
          </c:extLst>
        </c:ser>
        <c:ser>
          <c:idx val="2"/>
          <c:order val="2"/>
          <c:tx>
            <c:strRef>
              <c:f>'[CPI Inflation_Case Study.xlsx]Problem.3'!$AA$18</c:f>
              <c:strCache>
                <c:ptCount val="1"/>
                <c:pt idx="0">
                  <c:v>Rural + Urban</c:v>
                </c:pt>
              </c:strCache>
            </c:strRef>
          </c:tx>
          <c:spPr>
            <a:solidFill>
              <a:schemeClr val="accent3"/>
            </a:solidFill>
            <a:ln>
              <a:noFill/>
            </a:ln>
            <a:effectLst/>
          </c:spPr>
          <c:invertIfNegative val="0"/>
          <c:cat>
            <c:strRef>
              <c:f>'[CPI Inflation_Case Study.xlsx]Problem.3'!$X$19:$X$31</c:f>
              <c:strCache>
                <c:ptCount val="12"/>
                <c:pt idx="0">
                  <c:v>Cereals and products</c:v>
                </c:pt>
                <c:pt idx="1">
                  <c:v>Meat and fish</c:v>
                </c:pt>
                <c:pt idx="2">
                  <c:v>Egg</c:v>
                </c:pt>
                <c:pt idx="3">
                  <c:v>Milk and products</c:v>
                </c:pt>
                <c:pt idx="4">
                  <c:v>Oils and fats</c:v>
                </c:pt>
                <c:pt idx="5">
                  <c:v>Fruits</c:v>
                </c:pt>
                <c:pt idx="6">
                  <c:v>Vegetables</c:v>
                </c:pt>
                <c:pt idx="7">
                  <c:v>Pulses and products</c:v>
                </c:pt>
                <c:pt idx="8">
                  <c:v>Sugar and Confectionery</c:v>
                </c:pt>
                <c:pt idx="9">
                  <c:v>Spices</c:v>
                </c:pt>
                <c:pt idx="10">
                  <c:v>Prepared meals, snacks, sweets etc.</c:v>
                </c:pt>
                <c:pt idx="11">
                  <c:v>Food and beverages</c:v>
                </c:pt>
              </c:strCache>
            </c:strRef>
          </c:cat>
          <c:val>
            <c:numRef>
              <c:f>'[CPI Inflation_Case Study.xlsx]Problem.3'!$AA$19:$AA$31</c:f>
              <c:numCache>
                <c:formatCode>0.00%</c:formatCode>
                <c:ptCount val="13"/>
                <c:pt idx="0">
                  <c:v>0.1206451612903225</c:v>
                </c:pt>
                <c:pt idx="1">
                  <c:v>-2.3245214220601614E-2</c:v>
                </c:pt>
                <c:pt idx="2">
                  <c:v>1.4051522248243426E-2</c:v>
                </c:pt>
                <c:pt idx="3">
                  <c:v>8.2629674306393175E-2</c:v>
                </c:pt>
                <c:pt idx="4">
                  <c:v>-0.15380786460925835</c:v>
                </c:pt>
                <c:pt idx="5">
                  <c:v>1.4731879787860933E-2</c:v>
                </c:pt>
                <c:pt idx="6">
                  <c:v>-0.11684037301151953</c:v>
                </c:pt>
                <c:pt idx="7">
                  <c:v>6.8776628119293873E-2</c:v>
                </c:pt>
                <c:pt idx="8">
                  <c:v>2.3352793994995805E-2</c:v>
                </c:pt>
                <c:pt idx="9">
                  <c:v>0.16515232495991453</c:v>
                </c:pt>
                <c:pt idx="10">
                  <c:v>5.6008700380641561E-2</c:v>
                </c:pt>
                <c:pt idx="11">
                  <c:v>2.4013722126929607E-2</c:v>
                </c:pt>
              </c:numCache>
            </c:numRef>
          </c:val>
          <c:extLst>
            <c:ext xmlns:c16="http://schemas.microsoft.com/office/drawing/2014/chart" uri="{C3380CC4-5D6E-409C-BE32-E72D297353CC}">
              <c16:uniqueId val="{00000002-7E5F-4C0F-B610-11F915EDBB1A}"/>
            </c:ext>
          </c:extLst>
        </c:ser>
        <c:dLbls>
          <c:showLegendKey val="0"/>
          <c:showVal val="0"/>
          <c:showCatName val="0"/>
          <c:showSerName val="0"/>
          <c:showPercent val="0"/>
          <c:showBubbleSize val="0"/>
        </c:dLbls>
        <c:gapWidth val="219"/>
        <c:overlap val="-27"/>
        <c:axId val="1798820512"/>
        <c:axId val="1798837312"/>
      </c:barChart>
      <c:catAx>
        <c:axId val="17988205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98837312"/>
        <c:crosses val="autoZero"/>
        <c:auto val="1"/>
        <c:lblAlgn val="ctr"/>
        <c:lblOffset val="100"/>
        <c:noMultiLvlLbl val="0"/>
      </c:catAx>
      <c:valAx>
        <c:axId val="1798837312"/>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988205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Urban</a:t>
            </a:r>
            <a:r>
              <a:rPr lang="en-IN" sz="1400" b="0" i="0" u="none" strike="noStrike" kern="1200" spc="0" baseline="0">
                <a:solidFill>
                  <a:sysClr val="windowText" lastClr="000000">
                    <a:lumMod val="65000"/>
                    <a:lumOff val="35000"/>
                  </a:sysClr>
                </a:solidFill>
              </a:rPr>
              <a:t>: Inflation Pre and Post Covid</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'[CPI Inflation_Case Study.xlsx]Problem.4'!$N$10:$O$10</c:f>
              <c:strCache>
                <c:ptCount val="2"/>
                <c:pt idx="0">
                  <c:v>Urban</c:v>
                </c:pt>
                <c:pt idx="1">
                  <c:v> Food</c:v>
                </c:pt>
              </c:strCache>
            </c:strRef>
          </c:tx>
          <c:spPr>
            <a:solidFill>
              <a:schemeClr val="accent1"/>
            </a:solidFill>
            <a:ln>
              <a:noFill/>
            </a:ln>
            <a:effectLst/>
          </c:spPr>
          <c:invertIfNegative val="0"/>
          <c:cat>
            <c:strRef>
              <c:f>'[CPI Inflation_Case Study.xlsx]Problem.4'!$P$3:$T$3</c:f>
              <c:strCache>
                <c:ptCount val="5"/>
                <c:pt idx="0">
                  <c:v>2018</c:v>
                </c:pt>
                <c:pt idx="1">
                  <c:v>2019</c:v>
                </c:pt>
                <c:pt idx="2">
                  <c:v>2020</c:v>
                </c:pt>
                <c:pt idx="3">
                  <c:v>2021</c:v>
                </c:pt>
                <c:pt idx="4">
                  <c:v>2022</c:v>
                </c:pt>
              </c:strCache>
            </c:strRef>
          </c:cat>
          <c:val>
            <c:numRef>
              <c:f>'[CPI Inflation_Case Study.xlsx]Problem.4'!$P$10:$T$10</c:f>
              <c:numCache>
                <c:formatCode>0.00%</c:formatCode>
                <c:ptCount val="5"/>
                <c:pt idx="0">
                  <c:v>1.1339270987949442E-4</c:v>
                </c:pt>
                <c:pt idx="1">
                  <c:v>6.106676386724625E-2</c:v>
                </c:pt>
                <c:pt idx="2">
                  <c:v>-1.4868683657429611E-2</c:v>
                </c:pt>
                <c:pt idx="3">
                  <c:v>0.177048307416209</c:v>
                </c:pt>
                <c:pt idx="4">
                  <c:v>5.79636083372429E-2</c:v>
                </c:pt>
              </c:numCache>
            </c:numRef>
          </c:val>
          <c:extLst>
            <c:ext xmlns:c16="http://schemas.microsoft.com/office/drawing/2014/chart" uri="{C3380CC4-5D6E-409C-BE32-E72D297353CC}">
              <c16:uniqueId val="{00000000-B12B-43CA-9027-A5E852D26592}"/>
            </c:ext>
          </c:extLst>
        </c:ser>
        <c:ser>
          <c:idx val="1"/>
          <c:order val="1"/>
          <c:tx>
            <c:strRef>
              <c:f>'[CPI Inflation_Case Study.xlsx]Problem.4'!$N$11:$O$11</c:f>
              <c:strCache>
                <c:ptCount val="2"/>
                <c:pt idx="0">
                  <c:v>Urban</c:v>
                </c:pt>
                <c:pt idx="1">
                  <c:v> Health</c:v>
                </c:pt>
              </c:strCache>
            </c:strRef>
          </c:tx>
          <c:spPr>
            <a:solidFill>
              <a:schemeClr val="accent2"/>
            </a:solidFill>
            <a:ln>
              <a:noFill/>
            </a:ln>
            <a:effectLst/>
          </c:spPr>
          <c:invertIfNegative val="0"/>
          <c:cat>
            <c:strRef>
              <c:f>'[CPI Inflation_Case Study.xlsx]Problem.4'!$P$3:$T$3</c:f>
              <c:strCache>
                <c:ptCount val="5"/>
                <c:pt idx="0">
                  <c:v>2018</c:v>
                </c:pt>
                <c:pt idx="1">
                  <c:v>2019</c:v>
                </c:pt>
                <c:pt idx="2">
                  <c:v>2020</c:v>
                </c:pt>
                <c:pt idx="3">
                  <c:v>2021</c:v>
                </c:pt>
                <c:pt idx="4">
                  <c:v>2022</c:v>
                </c:pt>
              </c:strCache>
            </c:strRef>
          </c:cat>
          <c:val>
            <c:numRef>
              <c:f>'[CPI Inflation_Case Study.xlsx]Problem.4'!$P$11:$T$11</c:f>
              <c:numCache>
                <c:formatCode>0.00%</c:formatCode>
                <c:ptCount val="5"/>
                <c:pt idx="0">
                  <c:v>6.7605445808862755E-2</c:v>
                </c:pt>
                <c:pt idx="1">
                  <c:v>5.5788869503941081E-2</c:v>
                </c:pt>
                <c:pt idx="2">
                  <c:v>5.2060457305257823E-2</c:v>
                </c:pt>
                <c:pt idx="3">
                  <c:v>8.387053863785171E-2</c:v>
                </c:pt>
                <c:pt idx="4">
                  <c:v>6.8227841528635896E-2</c:v>
                </c:pt>
              </c:numCache>
            </c:numRef>
          </c:val>
          <c:extLst>
            <c:ext xmlns:c16="http://schemas.microsoft.com/office/drawing/2014/chart" uri="{C3380CC4-5D6E-409C-BE32-E72D297353CC}">
              <c16:uniqueId val="{00000001-B12B-43CA-9027-A5E852D26592}"/>
            </c:ext>
          </c:extLst>
        </c:ser>
        <c:ser>
          <c:idx val="2"/>
          <c:order val="2"/>
          <c:tx>
            <c:strRef>
              <c:f>'[CPI Inflation_Case Study.xlsx]Problem.4'!$N$12:$O$12</c:f>
              <c:strCache>
                <c:ptCount val="2"/>
                <c:pt idx="0">
                  <c:v>Urban</c:v>
                </c:pt>
                <c:pt idx="1">
                  <c:v> Essentital Services</c:v>
                </c:pt>
              </c:strCache>
            </c:strRef>
          </c:tx>
          <c:spPr>
            <a:solidFill>
              <a:schemeClr val="accent3"/>
            </a:solidFill>
            <a:ln>
              <a:noFill/>
            </a:ln>
            <a:effectLst/>
          </c:spPr>
          <c:invertIfNegative val="0"/>
          <c:cat>
            <c:strRef>
              <c:f>'[CPI Inflation_Case Study.xlsx]Problem.4'!$P$3:$T$3</c:f>
              <c:strCache>
                <c:ptCount val="5"/>
                <c:pt idx="0">
                  <c:v>2018</c:v>
                </c:pt>
                <c:pt idx="1">
                  <c:v>2019</c:v>
                </c:pt>
                <c:pt idx="2">
                  <c:v>2020</c:v>
                </c:pt>
                <c:pt idx="3">
                  <c:v>2021</c:v>
                </c:pt>
                <c:pt idx="4">
                  <c:v>2022</c:v>
                </c:pt>
              </c:strCache>
            </c:strRef>
          </c:cat>
          <c:val>
            <c:numRef>
              <c:f>'[CPI Inflation_Case Study.xlsx]Problem.4'!$P$12:$T$12</c:f>
              <c:numCache>
                <c:formatCode>0.00%</c:formatCode>
                <c:ptCount val="5"/>
                <c:pt idx="0">
                  <c:v>5.7976371196620725E-2</c:v>
                </c:pt>
                <c:pt idx="1">
                  <c:v>2.9930230474231059E-2</c:v>
                </c:pt>
                <c:pt idx="2">
                  <c:v>-9.0698939652248359E-2</c:v>
                </c:pt>
                <c:pt idx="3">
                  <c:v>0.23769301482833496</c:v>
                </c:pt>
                <c:pt idx="4">
                  <c:v>7.0290635091496037E-2</c:v>
                </c:pt>
              </c:numCache>
            </c:numRef>
          </c:val>
          <c:extLst>
            <c:ext xmlns:c16="http://schemas.microsoft.com/office/drawing/2014/chart" uri="{C3380CC4-5D6E-409C-BE32-E72D297353CC}">
              <c16:uniqueId val="{00000002-B12B-43CA-9027-A5E852D26592}"/>
            </c:ext>
          </c:extLst>
        </c:ser>
        <c:dLbls>
          <c:showLegendKey val="0"/>
          <c:showVal val="0"/>
          <c:showCatName val="0"/>
          <c:showSerName val="0"/>
          <c:showPercent val="0"/>
          <c:showBubbleSize val="0"/>
        </c:dLbls>
        <c:gapWidth val="219"/>
        <c:overlap val="-27"/>
        <c:axId val="999135008"/>
        <c:axId val="999133088"/>
      </c:barChart>
      <c:catAx>
        <c:axId val="9991350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99133088"/>
        <c:crosses val="autoZero"/>
        <c:auto val="1"/>
        <c:lblAlgn val="ctr"/>
        <c:lblOffset val="100"/>
        <c:noMultiLvlLbl val="0"/>
      </c:catAx>
      <c:valAx>
        <c:axId val="999133088"/>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9913500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400" b="0" i="0" u="none" strike="noStrike" kern="1200" spc="0" baseline="0">
                <a:solidFill>
                  <a:sysClr val="windowText" lastClr="000000">
                    <a:lumMod val="65000"/>
                    <a:lumOff val="35000"/>
                  </a:sysClr>
                </a:solidFill>
              </a:rPr>
              <a:t>Rural: Inflation Pre and Post Covid</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'[CPI Inflation_Case Study.xlsx]Problem.4'!$N$4:$O$4</c:f>
              <c:strCache>
                <c:ptCount val="2"/>
                <c:pt idx="0">
                  <c:v>Rural</c:v>
                </c:pt>
                <c:pt idx="1">
                  <c:v> Food</c:v>
                </c:pt>
              </c:strCache>
            </c:strRef>
          </c:tx>
          <c:spPr>
            <a:solidFill>
              <a:schemeClr val="accent1"/>
            </a:solidFill>
            <a:ln>
              <a:noFill/>
            </a:ln>
            <a:effectLst/>
          </c:spPr>
          <c:invertIfNegative val="0"/>
          <c:cat>
            <c:strRef>
              <c:f>'[CPI Inflation_Case Study.xlsx]Problem.4'!$P$3:$T$3</c:f>
              <c:strCache>
                <c:ptCount val="5"/>
                <c:pt idx="0">
                  <c:v>2018</c:v>
                </c:pt>
                <c:pt idx="1">
                  <c:v>2019</c:v>
                </c:pt>
                <c:pt idx="2">
                  <c:v>2020</c:v>
                </c:pt>
                <c:pt idx="3">
                  <c:v>2021</c:v>
                </c:pt>
                <c:pt idx="4">
                  <c:v>2022</c:v>
                </c:pt>
              </c:strCache>
            </c:strRef>
          </c:cat>
          <c:val>
            <c:numRef>
              <c:f>'[CPI Inflation_Case Study.xlsx]Problem.4'!$P$4:$T$4</c:f>
              <c:numCache>
                <c:formatCode>0.00%</c:formatCode>
                <c:ptCount val="5"/>
                <c:pt idx="0">
                  <c:v>1.4925830105782037E-2</c:v>
                </c:pt>
                <c:pt idx="1">
                  <c:v>1.9084628906946385E-2</c:v>
                </c:pt>
                <c:pt idx="2">
                  <c:v>-2.0345462928577144E-2</c:v>
                </c:pt>
                <c:pt idx="3">
                  <c:v>0.17426447629503586</c:v>
                </c:pt>
                <c:pt idx="4">
                  <c:v>5.9514772546950666E-2</c:v>
                </c:pt>
              </c:numCache>
            </c:numRef>
          </c:val>
          <c:extLst>
            <c:ext xmlns:c16="http://schemas.microsoft.com/office/drawing/2014/chart" uri="{C3380CC4-5D6E-409C-BE32-E72D297353CC}">
              <c16:uniqueId val="{00000000-16D4-4073-8A91-6EF15A5862D3}"/>
            </c:ext>
          </c:extLst>
        </c:ser>
        <c:ser>
          <c:idx val="1"/>
          <c:order val="1"/>
          <c:tx>
            <c:strRef>
              <c:f>'[CPI Inflation_Case Study.xlsx]Problem.4'!$N$5:$O$5</c:f>
              <c:strCache>
                <c:ptCount val="2"/>
                <c:pt idx="0">
                  <c:v>Rural</c:v>
                </c:pt>
                <c:pt idx="1">
                  <c:v> Health</c:v>
                </c:pt>
              </c:strCache>
            </c:strRef>
          </c:tx>
          <c:spPr>
            <a:solidFill>
              <a:schemeClr val="accent2"/>
            </a:solidFill>
            <a:ln>
              <a:noFill/>
            </a:ln>
            <a:effectLst/>
          </c:spPr>
          <c:invertIfNegative val="0"/>
          <c:cat>
            <c:strRef>
              <c:f>'[CPI Inflation_Case Study.xlsx]Problem.4'!$P$3:$T$3</c:f>
              <c:strCache>
                <c:ptCount val="5"/>
                <c:pt idx="0">
                  <c:v>2018</c:v>
                </c:pt>
                <c:pt idx="1">
                  <c:v>2019</c:v>
                </c:pt>
                <c:pt idx="2">
                  <c:v>2020</c:v>
                </c:pt>
                <c:pt idx="3">
                  <c:v>2021</c:v>
                </c:pt>
                <c:pt idx="4">
                  <c:v>2022</c:v>
                </c:pt>
              </c:strCache>
            </c:strRef>
          </c:cat>
          <c:val>
            <c:numRef>
              <c:f>'[CPI Inflation_Case Study.xlsx]Problem.4'!$P$5:$T$5</c:f>
              <c:numCache>
                <c:formatCode>0.00%</c:formatCode>
                <c:ptCount val="5"/>
                <c:pt idx="0">
                  <c:v>5.8279312732078814E-2</c:v>
                </c:pt>
                <c:pt idx="1">
                  <c:v>8.6043305490228122E-2</c:v>
                </c:pt>
                <c:pt idx="2">
                  <c:v>3.8649940262843067E-2</c:v>
                </c:pt>
                <c:pt idx="3">
                  <c:v>6.9611395487050073E-2</c:v>
                </c:pt>
                <c:pt idx="4">
                  <c:v>5.6930205047318605E-2</c:v>
                </c:pt>
              </c:numCache>
            </c:numRef>
          </c:val>
          <c:extLst>
            <c:ext xmlns:c16="http://schemas.microsoft.com/office/drawing/2014/chart" uri="{C3380CC4-5D6E-409C-BE32-E72D297353CC}">
              <c16:uniqueId val="{00000001-16D4-4073-8A91-6EF15A5862D3}"/>
            </c:ext>
          </c:extLst>
        </c:ser>
        <c:ser>
          <c:idx val="2"/>
          <c:order val="2"/>
          <c:tx>
            <c:strRef>
              <c:f>'[CPI Inflation_Case Study.xlsx]Problem.4'!$N$6:$O$6</c:f>
              <c:strCache>
                <c:ptCount val="2"/>
                <c:pt idx="0">
                  <c:v>Rural</c:v>
                </c:pt>
                <c:pt idx="1">
                  <c:v> Essentital Services</c:v>
                </c:pt>
              </c:strCache>
            </c:strRef>
          </c:tx>
          <c:spPr>
            <a:solidFill>
              <a:schemeClr val="accent3"/>
            </a:solidFill>
            <a:ln>
              <a:noFill/>
            </a:ln>
            <a:effectLst/>
          </c:spPr>
          <c:invertIfNegative val="0"/>
          <c:cat>
            <c:strRef>
              <c:f>'[CPI Inflation_Case Study.xlsx]Problem.4'!$P$3:$T$3</c:f>
              <c:strCache>
                <c:ptCount val="5"/>
                <c:pt idx="0">
                  <c:v>2018</c:v>
                </c:pt>
                <c:pt idx="1">
                  <c:v>2019</c:v>
                </c:pt>
                <c:pt idx="2">
                  <c:v>2020</c:v>
                </c:pt>
                <c:pt idx="3">
                  <c:v>2021</c:v>
                </c:pt>
                <c:pt idx="4">
                  <c:v>2022</c:v>
                </c:pt>
              </c:strCache>
            </c:strRef>
          </c:cat>
          <c:val>
            <c:numRef>
              <c:f>'[CPI Inflation_Case Study.xlsx]Problem.4'!$P$6:$T$6</c:f>
              <c:numCache>
                <c:formatCode>0.00%</c:formatCode>
                <c:ptCount val="5"/>
                <c:pt idx="0">
                  <c:v>6.0640336820938764E-2</c:v>
                </c:pt>
                <c:pt idx="1">
                  <c:v>4.2935202665035595E-2</c:v>
                </c:pt>
                <c:pt idx="2">
                  <c:v>-0.12135202830066869</c:v>
                </c:pt>
                <c:pt idx="3">
                  <c:v>0.24376091032520866</c:v>
                </c:pt>
                <c:pt idx="4">
                  <c:v>6.9214674654641373E-2</c:v>
                </c:pt>
              </c:numCache>
            </c:numRef>
          </c:val>
          <c:extLst>
            <c:ext xmlns:c16="http://schemas.microsoft.com/office/drawing/2014/chart" uri="{C3380CC4-5D6E-409C-BE32-E72D297353CC}">
              <c16:uniqueId val="{00000002-16D4-4073-8A91-6EF15A5862D3}"/>
            </c:ext>
          </c:extLst>
        </c:ser>
        <c:dLbls>
          <c:showLegendKey val="0"/>
          <c:showVal val="0"/>
          <c:showCatName val="0"/>
          <c:showSerName val="0"/>
          <c:showPercent val="0"/>
          <c:showBubbleSize val="0"/>
        </c:dLbls>
        <c:gapWidth val="219"/>
        <c:overlap val="-27"/>
        <c:axId val="1032905328"/>
        <c:axId val="1032903408"/>
      </c:barChart>
      <c:catAx>
        <c:axId val="10329053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32903408"/>
        <c:crosses val="autoZero"/>
        <c:auto val="1"/>
        <c:lblAlgn val="ctr"/>
        <c:lblOffset val="100"/>
        <c:noMultiLvlLbl val="0"/>
      </c:catAx>
      <c:valAx>
        <c:axId val="1032903408"/>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3290532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400" b="0" i="0" u="none" strike="noStrike" kern="1200" spc="0" baseline="0">
                <a:solidFill>
                  <a:sysClr val="windowText" lastClr="000000">
                    <a:lumMod val="65000"/>
                    <a:lumOff val="35000"/>
                  </a:sysClr>
                </a:solidFill>
              </a:rPr>
              <a:t>Rural+Urban: Inflation Pre and Post Covid</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'[CPI Inflation_Case Study.xlsx]Problem.4'!$N$7:$O$7</c:f>
              <c:strCache>
                <c:ptCount val="2"/>
                <c:pt idx="0">
                  <c:v>Rural+Urban</c:v>
                </c:pt>
                <c:pt idx="1">
                  <c:v> Food</c:v>
                </c:pt>
              </c:strCache>
            </c:strRef>
          </c:tx>
          <c:spPr>
            <a:solidFill>
              <a:schemeClr val="accent1"/>
            </a:solidFill>
            <a:ln>
              <a:noFill/>
            </a:ln>
            <a:effectLst/>
          </c:spPr>
          <c:invertIfNegative val="0"/>
          <c:cat>
            <c:strRef>
              <c:f>'[CPI Inflation_Case Study.xlsx]Problem.4'!$P$3:$T$3</c:f>
              <c:strCache>
                <c:ptCount val="5"/>
                <c:pt idx="0">
                  <c:v>2018</c:v>
                </c:pt>
                <c:pt idx="1">
                  <c:v>2019</c:v>
                </c:pt>
                <c:pt idx="2">
                  <c:v>2020</c:v>
                </c:pt>
                <c:pt idx="3">
                  <c:v>2021</c:v>
                </c:pt>
                <c:pt idx="4">
                  <c:v>2022</c:v>
                </c:pt>
              </c:strCache>
            </c:strRef>
          </c:cat>
          <c:val>
            <c:numRef>
              <c:f>'[CPI Inflation_Case Study.xlsx]Problem.4'!$P$7:$T$7</c:f>
              <c:numCache>
                <c:formatCode>0.00%</c:formatCode>
                <c:ptCount val="5"/>
                <c:pt idx="0">
                  <c:v>9.9840603553875956E-3</c:v>
                </c:pt>
                <c:pt idx="1">
                  <c:v>3.4342737223600164E-2</c:v>
                </c:pt>
                <c:pt idx="2">
                  <c:v>-1.8194614672368537E-2</c:v>
                </c:pt>
                <c:pt idx="3">
                  <c:v>0.17542150131422465</c:v>
                </c:pt>
                <c:pt idx="4">
                  <c:v>5.8791019585670061E-2</c:v>
                </c:pt>
              </c:numCache>
            </c:numRef>
          </c:val>
          <c:extLst>
            <c:ext xmlns:c16="http://schemas.microsoft.com/office/drawing/2014/chart" uri="{C3380CC4-5D6E-409C-BE32-E72D297353CC}">
              <c16:uniqueId val="{00000000-79AF-4153-8962-3AD54A020E96}"/>
            </c:ext>
          </c:extLst>
        </c:ser>
        <c:ser>
          <c:idx val="1"/>
          <c:order val="1"/>
          <c:tx>
            <c:strRef>
              <c:f>'[CPI Inflation_Case Study.xlsx]Problem.4'!$N$8:$O$8</c:f>
              <c:strCache>
                <c:ptCount val="2"/>
                <c:pt idx="0">
                  <c:v>Rural+Urban</c:v>
                </c:pt>
                <c:pt idx="1">
                  <c:v> Health</c:v>
                </c:pt>
              </c:strCache>
            </c:strRef>
          </c:tx>
          <c:spPr>
            <a:solidFill>
              <a:schemeClr val="accent2"/>
            </a:solidFill>
            <a:ln>
              <a:noFill/>
            </a:ln>
            <a:effectLst/>
          </c:spPr>
          <c:invertIfNegative val="0"/>
          <c:cat>
            <c:strRef>
              <c:f>'[CPI Inflation_Case Study.xlsx]Problem.4'!$P$3:$T$3</c:f>
              <c:strCache>
                <c:ptCount val="5"/>
                <c:pt idx="0">
                  <c:v>2018</c:v>
                </c:pt>
                <c:pt idx="1">
                  <c:v>2019</c:v>
                </c:pt>
                <c:pt idx="2">
                  <c:v>2020</c:v>
                </c:pt>
                <c:pt idx="3">
                  <c:v>2021</c:v>
                </c:pt>
                <c:pt idx="4">
                  <c:v>2022</c:v>
                </c:pt>
              </c:strCache>
            </c:strRef>
          </c:cat>
          <c:val>
            <c:numRef>
              <c:f>'[CPI Inflation_Case Study.xlsx]Problem.4'!$P$8:$T$8</c:f>
              <c:numCache>
                <c:formatCode>0.00%</c:formatCode>
                <c:ptCount val="5"/>
                <c:pt idx="0">
                  <c:v>6.2077838533290831E-2</c:v>
                </c:pt>
                <c:pt idx="1">
                  <c:v>7.4588403722262109E-2</c:v>
                </c:pt>
                <c:pt idx="2">
                  <c:v>4.3534403246633074E-2</c:v>
                </c:pt>
                <c:pt idx="3">
                  <c:v>7.4926835975094988E-2</c:v>
                </c:pt>
                <c:pt idx="4">
                  <c:v>6.0800964775639302E-2</c:v>
                </c:pt>
              </c:numCache>
            </c:numRef>
          </c:val>
          <c:extLst>
            <c:ext xmlns:c16="http://schemas.microsoft.com/office/drawing/2014/chart" uri="{C3380CC4-5D6E-409C-BE32-E72D297353CC}">
              <c16:uniqueId val="{00000001-79AF-4153-8962-3AD54A020E96}"/>
            </c:ext>
          </c:extLst>
        </c:ser>
        <c:ser>
          <c:idx val="2"/>
          <c:order val="2"/>
          <c:tx>
            <c:strRef>
              <c:f>'[CPI Inflation_Case Study.xlsx]Problem.4'!$N$9:$O$9</c:f>
              <c:strCache>
                <c:ptCount val="2"/>
                <c:pt idx="0">
                  <c:v>Rural+Urban</c:v>
                </c:pt>
                <c:pt idx="1">
                  <c:v> Essentital Services</c:v>
                </c:pt>
              </c:strCache>
            </c:strRef>
          </c:tx>
          <c:spPr>
            <a:solidFill>
              <a:schemeClr val="accent3"/>
            </a:solidFill>
            <a:ln>
              <a:noFill/>
            </a:ln>
            <a:effectLst/>
          </c:spPr>
          <c:invertIfNegative val="0"/>
          <c:cat>
            <c:strRef>
              <c:f>'[CPI Inflation_Case Study.xlsx]Problem.4'!$P$3:$T$3</c:f>
              <c:strCache>
                <c:ptCount val="5"/>
                <c:pt idx="0">
                  <c:v>2018</c:v>
                </c:pt>
                <c:pt idx="1">
                  <c:v>2019</c:v>
                </c:pt>
                <c:pt idx="2">
                  <c:v>2020</c:v>
                </c:pt>
                <c:pt idx="3">
                  <c:v>2021</c:v>
                </c:pt>
                <c:pt idx="4">
                  <c:v>2022</c:v>
                </c:pt>
              </c:strCache>
            </c:strRef>
          </c:cat>
          <c:val>
            <c:numRef>
              <c:f>'[CPI Inflation_Case Study.xlsx]Problem.4'!$P$9:$T$9</c:f>
              <c:numCache>
                <c:formatCode>0.00%</c:formatCode>
                <c:ptCount val="5"/>
                <c:pt idx="0">
                  <c:v>6.1327413186869663E-2</c:v>
                </c:pt>
                <c:pt idx="1">
                  <c:v>3.6261411039235844E-2</c:v>
                </c:pt>
                <c:pt idx="2">
                  <c:v>-0.10041538317931489</c:v>
                </c:pt>
                <c:pt idx="3">
                  <c:v>0.22710057329632427</c:v>
                </c:pt>
                <c:pt idx="4">
                  <c:v>6.649613664950775E-2</c:v>
                </c:pt>
              </c:numCache>
            </c:numRef>
          </c:val>
          <c:extLst>
            <c:ext xmlns:c16="http://schemas.microsoft.com/office/drawing/2014/chart" uri="{C3380CC4-5D6E-409C-BE32-E72D297353CC}">
              <c16:uniqueId val="{00000002-79AF-4153-8962-3AD54A020E96}"/>
            </c:ext>
          </c:extLst>
        </c:ser>
        <c:dLbls>
          <c:showLegendKey val="0"/>
          <c:showVal val="0"/>
          <c:showCatName val="0"/>
          <c:showSerName val="0"/>
          <c:showPercent val="0"/>
          <c:showBubbleSize val="0"/>
        </c:dLbls>
        <c:gapWidth val="219"/>
        <c:overlap val="-27"/>
        <c:axId val="1085935168"/>
        <c:axId val="1085931808"/>
      </c:barChart>
      <c:catAx>
        <c:axId val="10859351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85931808"/>
        <c:crosses val="autoZero"/>
        <c:auto val="1"/>
        <c:lblAlgn val="ctr"/>
        <c:lblOffset val="100"/>
        <c:noMultiLvlLbl val="0"/>
      </c:catAx>
      <c:valAx>
        <c:axId val="1085931808"/>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8593516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Correlation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'[CPI Inflation_Case Study.xlsx]Problem.5'!$AJ$7</c:f>
              <c:strCache>
                <c:ptCount val="1"/>
                <c:pt idx="0">
                  <c:v>Rural</c:v>
                </c:pt>
              </c:strCache>
            </c:strRef>
          </c:tx>
          <c:spPr>
            <a:solidFill>
              <a:schemeClr val="accent1"/>
            </a:solidFill>
            <a:ln>
              <a:noFill/>
            </a:ln>
            <a:effectLst/>
          </c:spPr>
          <c:invertIfNegative val="0"/>
          <c:cat>
            <c:strRef>
              <c:f>'[CPI Inflation_Case Study.xlsx]Problem.5'!$AI$8:$AI$34</c:f>
              <c:strCache>
                <c:ptCount val="27"/>
                <c:pt idx="0">
                  <c:v>Oils and fats</c:v>
                </c:pt>
                <c:pt idx="1">
                  <c:v>Meat and fish</c:v>
                </c:pt>
                <c:pt idx="2">
                  <c:v>Transport and communication</c:v>
                </c:pt>
                <c:pt idx="3">
                  <c:v>Recreation and amusement</c:v>
                </c:pt>
                <c:pt idx="4">
                  <c:v>Fuel and light</c:v>
                </c:pt>
                <c:pt idx="5">
                  <c:v>Miscellaneous</c:v>
                </c:pt>
                <c:pt idx="6">
                  <c:v>General index</c:v>
                </c:pt>
                <c:pt idx="7">
                  <c:v>Food and beverages</c:v>
                </c:pt>
                <c:pt idx="8">
                  <c:v>Household goods and services</c:v>
                </c:pt>
                <c:pt idx="9">
                  <c:v>Non-alcoholic beverages</c:v>
                </c:pt>
                <c:pt idx="10">
                  <c:v>Clothing</c:v>
                </c:pt>
                <c:pt idx="11">
                  <c:v>Clothing and footwear</c:v>
                </c:pt>
                <c:pt idx="12">
                  <c:v>Footwear</c:v>
                </c:pt>
                <c:pt idx="13">
                  <c:v>Health</c:v>
                </c:pt>
                <c:pt idx="14">
                  <c:v>Prepared meals, snacks, sweets etc.</c:v>
                </c:pt>
                <c:pt idx="15">
                  <c:v>Sugar and Confectionery</c:v>
                </c:pt>
                <c:pt idx="16">
                  <c:v>Housing</c:v>
                </c:pt>
                <c:pt idx="17">
                  <c:v>Education</c:v>
                </c:pt>
                <c:pt idx="18">
                  <c:v>Fruits</c:v>
                </c:pt>
                <c:pt idx="19">
                  <c:v>Personal care and effects</c:v>
                </c:pt>
                <c:pt idx="20">
                  <c:v>Pan, tobacco and intoxicants</c:v>
                </c:pt>
                <c:pt idx="21">
                  <c:v>Milk and products</c:v>
                </c:pt>
                <c:pt idx="22">
                  <c:v>Spices</c:v>
                </c:pt>
                <c:pt idx="23">
                  <c:v>Cereals and products</c:v>
                </c:pt>
                <c:pt idx="24">
                  <c:v>Vegetables</c:v>
                </c:pt>
                <c:pt idx="25">
                  <c:v>Pulses and products</c:v>
                </c:pt>
                <c:pt idx="26">
                  <c:v>Egg</c:v>
                </c:pt>
              </c:strCache>
            </c:strRef>
          </c:cat>
          <c:val>
            <c:numRef>
              <c:f>'[CPI Inflation_Case Study.xlsx]Problem.5'!$AJ$8:$AJ$34</c:f>
              <c:numCache>
                <c:formatCode>0%</c:formatCode>
                <c:ptCount val="27"/>
                <c:pt idx="0">
                  <c:v>0.84347644671152178</c:v>
                </c:pt>
                <c:pt idx="1">
                  <c:v>0.8311953557084375</c:v>
                </c:pt>
                <c:pt idx="2">
                  <c:v>0.75422626542690707</c:v>
                </c:pt>
                <c:pt idx="3">
                  <c:v>0.68906697759853153</c:v>
                </c:pt>
                <c:pt idx="4">
                  <c:v>0.68652004508004316</c:v>
                </c:pt>
                <c:pt idx="5">
                  <c:v>0.65871203375453724</c:v>
                </c:pt>
                <c:pt idx="6">
                  <c:v>0.64481964318472185</c:v>
                </c:pt>
                <c:pt idx="7">
                  <c:v>0.60256504409199929</c:v>
                </c:pt>
                <c:pt idx="8">
                  <c:v>0.61651400861595163</c:v>
                </c:pt>
                <c:pt idx="9">
                  <c:v>0.72105055280060393</c:v>
                </c:pt>
                <c:pt idx="10">
                  <c:v>0.64551326302629164</c:v>
                </c:pt>
                <c:pt idx="11">
                  <c:v>0.64988175264983561</c:v>
                </c:pt>
                <c:pt idx="12">
                  <c:v>0.6761175044692429</c:v>
                </c:pt>
                <c:pt idx="13">
                  <c:v>0.6313152368718854</c:v>
                </c:pt>
                <c:pt idx="14">
                  <c:v>0.62424661762708378</c:v>
                </c:pt>
                <c:pt idx="15">
                  <c:v>0.58356583773637238</c:v>
                </c:pt>
                <c:pt idx="16">
                  <c:v>0</c:v>
                </c:pt>
                <c:pt idx="17">
                  <c:v>0.58367873115505864</c:v>
                </c:pt>
                <c:pt idx="18">
                  <c:v>0.64106986165868607</c:v>
                </c:pt>
                <c:pt idx="19">
                  <c:v>0.5614245546516069</c:v>
                </c:pt>
                <c:pt idx="20">
                  <c:v>0.60100446818917985</c:v>
                </c:pt>
                <c:pt idx="21">
                  <c:v>0.49208177665131331</c:v>
                </c:pt>
                <c:pt idx="22">
                  <c:v>0.4709749042074689</c:v>
                </c:pt>
                <c:pt idx="23">
                  <c:v>0.35015775691604245</c:v>
                </c:pt>
                <c:pt idx="24">
                  <c:v>-4.2841758808321882E-2</c:v>
                </c:pt>
                <c:pt idx="25">
                  <c:v>0.42140673511596438</c:v>
                </c:pt>
                <c:pt idx="26">
                  <c:v>-0.1705978427197021</c:v>
                </c:pt>
              </c:numCache>
            </c:numRef>
          </c:val>
          <c:extLst>
            <c:ext xmlns:c16="http://schemas.microsoft.com/office/drawing/2014/chart" uri="{C3380CC4-5D6E-409C-BE32-E72D297353CC}">
              <c16:uniqueId val="{00000000-C653-4F29-AE89-51F7B115F84F}"/>
            </c:ext>
          </c:extLst>
        </c:ser>
        <c:ser>
          <c:idx val="1"/>
          <c:order val="1"/>
          <c:tx>
            <c:strRef>
              <c:f>'[CPI Inflation_Case Study.xlsx]Problem.5'!$AK$7</c:f>
              <c:strCache>
                <c:ptCount val="1"/>
                <c:pt idx="0">
                  <c:v>Rural+Urban</c:v>
                </c:pt>
              </c:strCache>
            </c:strRef>
          </c:tx>
          <c:spPr>
            <a:solidFill>
              <a:schemeClr val="accent2"/>
            </a:solidFill>
            <a:ln>
              <a:noFill/>
            </a:ln>
            <a:effectLst/>
          </c:spPr>
          <c:invertIfNegative val="0"/>
          <c:cat>
            <c:strRef>
              <c:f>'[CPI Inflation_Case Study.xlsx]Problem.5'!$AI$8:$AI$34</c:f>
              <c:strCache>
                <c:ptCount val="27"/>
                <c:pt idx="0">
                  <c:v>Oils and fats</c:v>
                </c:pt>
                <c:pt idx="1">
                  <c:v>Meat and fish</c:v>
                </c:pt>
                <c:pt idx="2">
                  <c:v>Transport and communication</c:v>
                </c:pt>
                <c:pt idx="3">
                  <c:v>Recreation and amusement</c:v>
                </c:pt>
                <c:pt idx="4">
                  <c:v>Fuel and light</c:v>
                </c:pt>
                <c:pt idx="5">
                  <c:v>Miscellaneous</c:v>
                </c:pt>
                <c:pt idx="6">
                  <c:v>General index</c:v>
                </c:pt>
                <c:pt idx="7">
                  <c:v>Food and beverages</c:v>
                </c:pt>
                <c:pt idx="8">
                  <c:v>Household goods and services</c:v>
                </c:pt>
                <c:pt idx="9">
                  <c:v>Non-alcoholic beverages</c:v>
                </c:pt>
                <c:pt idx="10">
                  <c:v>Clothing</c:v>
                </c:pt>
                <c:pt idx="11">
                  <c:v>Clothing and footwear</c:v>
                </c:pt>
                <c:pt idx="12">
                  <c:v>Footwear</c:v>
                </c:pt>
                <c:pt idx="13">
                  <c:v>Health</c:v>
                </c:pt>
                <c:pt idx="14">
                  <c:v>Prepared meals, snacks, sweets etc.</c:v>
                </c:pt>
                <c:pt idx="15">
                  <c:v>Sugar and Confectionery</c:v>
                </c:pt>
                <c:pt idx="16">
                  <c:v>Housing</c:v>
                </c:pt>
                <c:pt idx="17">
                  <c:v>Education</c:v>
                </c:pt>
                <c:pt idx="18">
                  <c:v>Fruits</c:v>
                </c:pt>
                <c:pt idx="19">
                  <c:v>Personal care and effects</c:v>
                </c:pt>
                <c:pt idx="20">
                  <c:v>Pan, tobacco and intoxicants</c:v>
                </c:pt>
                <c:pt idx="21">
                  <c:v>Milk and products</c:v>
                </c:pt>
                <c:pt idx="22">
                  <c:v>Spices</c:v>
                </c:pt>
                <c:pt idx="23">
                  <c:v>Cereals and products</c:v>
                </c:pt>
                <c:pt idx="24">
                  <c:v>Vegetables</c:v>
                </c:pt>
                <c:pt idx="25">
                  <c:v>Pulses and products</c:v>
                </c:pt>
                <c:pt idx="26">
                  <c:v>Egg</c:v>
                </c:pt>
              </c:strCache>
            </c:strRef>
          </c:cat>
          <c:val>
            <c:numRef>
              <c:f>'[CPI Inflation_Case Study.xlsx]Problem.5'!$AK$8:$AK$34</c:f>
              <c:numCache>
                <c:formatCode>0%</c:formatCode>
                <c:ptCount val="27"/>
                <c:pt idx="0">
                  <c:v>0.84422772692376136</c:v>
                </c:pt>
                <c:pt idx="1">
                  <c:v>0.83598749729266875</c:v>
                </c:pt>
                <c:pt idx="2">
                  <c:v>0.76576171271104887</c:v>
                </c:pt>
                <c:pt idx="3">
                  <c:v>0.70780060439817616</c:v>
                </c:pt>
                <c:pt idx="4">
                  <c:v>0.68314218184816067</c:v>
                </c:pt>
                <c:pt idx="5">
                  <c:v>0.66711382865951885</c:v>
                </c:pt>
                <c:pt idx="6">
                  <c:v>0.65481753095456197</c:v>
                </c:pt>
                <c:pt idx="7">
                  <c:v>0.62611760355909529</c:v>
                </c:pt>
                <c:pt idx="8">
                  <c:v>0.62840567323289465</c:v>
                </c:pt>
                <c:pt idx="9">
                  <c:v>0.69006812063410339</c:v>
                </c:pt>
                <c:pt idx="10">
                  <c:v>0.63999596542419068</c:v>
                </c:pt>
                <c:pt idx="11">
                  <c:v>0.64290501356080942</c:v>
                </c:pt>
                <c:pt idx="12">
                  <c:v>0.65743031343341085</c:v>
                </c:pt>
                <c:pt idx="13">
                  <c:v>0.62234139728974081</c:v>
                </c:pt>
                <c:pt idx="14">
                  <c:v>0.61390514483714842</c:v>
                </c:pt>
                <c:pt idx="15">
                  <c:v>0.57331528370969742</c:v>
                </c:pt>
                <c:pt idx="16">
                  <c:v>0.58062590091830779</c:v>
                </c:pt>
                <c:pt idx="17">
                  <c:v>0.56530282829272271</c:v>
                </c:pt>
                <c:pt idx="18">
                  <c:v>0.6037698236126493</c:v>
                </c:pt>
                <c:pt idx="19">
                  <c:v>0.54573216251432155</c:v>
                </c:pt>
                <c:pt idx="20">
                  <c:v>0.58049367771424432</c:v>
                </c:pt>
                <c:pt idx="21">
                  <c:v>0.49054554470049516</c:v>
                </c:pt>
                <c:pt idx="22">
                  <c:v>0.46693302033217432</c:v>
                </c:pt>
                <c:pt idx="23">
                  <c:v>0.35390489488918025</c:v>
                </c:pt>
                <c:pt idx="24">
                  <c:v>5.5923122604335171E-2</c:v>
                </c:pt>
                <c:pt idx="25">
                  <c:v>0.34068109477860187</c:v>
                </c:pt>
                <c:pt idx="26">
                  <c:v>-0.18908169545002326</c:v>
                </c:pt>
              </c:numCache>
            </c:numRef>
          </c:val>
          <c:extLst>
            <c:ext xmlns:c16="http://schemas.microsoft.com/office/drawing/2014/chart" uri="{C3380CC4-5D6E-409C-BE32-E72D297353CC}">
              <c16:uniqueId val="{00000001-C653-4F29-AE89-51F7B115F84F}"/>
            </c:ext>
          </c:extLst>
        </c:ser>
        <c:ser>
          <c:idx val="2"/>
          <c:order val="2"/>
          <c:tx>
            <c:strRef>
              <c:f>'[CPI Inflation_Case Study.xlsx]Problem.5'!$AL$7</c:f>
              <c:strCache>
                <c:ptCount val="1"/>
                <c:pt idx="0">
                  <c:v>Urban</c:v>
                </c:pt>
              </c:strCache>
            </c:strRef>
          </c:tx>
          <c:spPr>
            <a:solidFill>
              <a:schemeClr val="accent3"/>
            </a:solidFill>
            <a:ln>
              <a:noFill/>
            </a:ln>
            <a:effectLst/>
          </c:spPr>
          <c:invertIfNegative val="0"/>
          <c:cat>
            <c:strRef>
              <c:f>'[CPI Inflation_Case Study.xlsx]Problem.5'!$AI$8:$AI$34</c:f>
              <c:strCache>
                <c:ptCount val="27"/>
                <c:pt idx="0">
                  <c:v>Oils and fats</c:v>
                </c:pt>
                <c:pt idx="1">
                  <c:v>Meat and fish</c:v>
                </c:pt>
                <c:pt idx="2">
                  <c:v>Transport and communication</c:v>
                </c:pt>
                <c:pt idx="3">
                  <c:v>Recreation and amusement</c:v>
                </c:pt>
                <c:pt idx="4">
                  <c:v>Fuel and light</c:v>
                </c:pt>
                <c:pt idx="5">
                  <c:v>Miscellaneous</c:v>
                </c:pt>
                <c:pt idx="6">
                  <c:v>General index</c:v>
                </c:pt>
                <c:pt idx="7">
                  <c:v>Food and beverages</c:v>
                </c:pt>
                <c:pt idx="8">
                  <c:v>Household goods and services</c:v>
                </c:pt>
                <c:pt idx="9">
                  <c:v>Non-alcoholic beverages</c:v>
                </c:pt>
                <c:pt idx="10">
                  <c:v>Clothing</c:v>
                </c:pt>
                <c:pt idx="11">
                  <c:v>Clothing and footwear</c:v>
                </c:pt>
                <c:pt idx="12">
                  <c:v>Footwear</c:v>
                </c:pt>
                <c:pt idx="13">
                  <c:v>Health</c:v>
                </c:pt>
                <c:pt idx="14">
                  <c:v>Prepared meals, snacks, sweets etc.</c:v>
                </c:pt>
                <c:pt idx="15">
                  <c:v>Sugar and Confectionery</c:v>
                </c:pt>
                <c:pt idx="16">
                  <c:v>Housing</c:v>
                </c:pt>
                <c:pt idx="17">
                  <c:v>Education</c:v>
                </c:pt>
                <c:pt idx="18">
                  <c:v>Fruits</c:v>
                </c:pt>
                <c:pt idx="19">
                  <c:v>Personal care and effects</c:v>
                </c:pt>
                <c:pt idx="20">
                  <c:v>Pan, tobacco and intoxicants</c:v>
                </c:pt>
                <c:pt idx="21">
                  <c:v>Milk and products</c:v>
                </c:pt>
                <c:pt idx="22">
                  <c:v>Spices</c:v>
                </c:pt>
                <c:pt idx="23">
                  <c:v>Cereals and products</c:v>
                </c:pt>
                <c:pt idx="24">
                  <c:v>Vegetables</c:v>
                </c:pt>
                <c:pt idx="25">
                  <c:v>Pulses and products</c:v>
                </c:pt>
                <c:pt idx="26">
                  <c:v>Egg</c:v>
                </c:pt>
              </c:strCache>
            </c:strRef>
          </c:cat>
          <c:val>
            <c:numRef>
              <c:f>'[CPI Inflation_Case Study.xlsx]Problem.5'!$AL$8:$AL$34</c:f>
              <c:numCache>
                <c:formatCode>0%</c:formatCode>
                <c:ptCount val="27"/>
                <c:pt idx="0">
                  <c:v>0.85325827127484377</c:v>
                </c:pt>
                <c:pt idx="1">
                  <c:v>0.84330774093722249</c:v>
                </c:pt>
                <c:pt idx="2">
                  <c:v>0.77512710209787494</c:v>
                </c:pt>
                <c:pt idx="3">
                  <c:v>0.71873792028041816</c:v>
                </c:pt>
                <c:pt idx="4">
                  <c:v>0.67776210527972391</c:v>
                </c:pt>
                <c:pt idx="5">
                  <c:v>0.67538784217301051</c:v>
                </c:pt>
                <c:pt idx="6">
                  <c:v>0.66655127045903018</c:v>
                </c:pt>
                <c:pt idx="7">
                  <c:v>0.66292465080795948</c:v>
                </c:pt>
                <c:pt idx="8">
                  <c:v>0.64311230420905141</c:v>
                </c:pt>
                <c:pt idx="9">
                  <c:v>0.63631162486377402</c:v>
                </c:pt>
                <c:pt idx="10">
                  <c:v>0.6304794492369209</c:v>
                </c:pt>
                <c:pt idx="11">
                  <c:v>0.62974588943675336</c:v>
                </c:pt>
                <c:pt idx="12">
                  <c:v>0.62512775402214515</c:v>
                </c:pt>
                <c:pt idx="13">
                  <c:v>0.61060353104112297</c:v>
                </c:pt>
                <c:pt idx="14">
                  <c:v>0.60457236950804727</c:v>
                </c:pt>
                <c:pt idx="15">
                  <c:v>0.59659705450519795</c:v>
                </c:pt>
                <c:pt idx="16">
                  <c:v>0.58062590091830779</c:v>
                </c:pt>
                <c:pt idx="17">
                  <c:v>0.55291078874698063</c:v>
                </c:pt>
                <c:pt idx="18">
                  <c:v>0.54491401923217209</c:v>
                </c:pt>
                <c:pt idx="19">
                  <c:v>0.51823921073517254</c:v>
                </c:pt>
                <c:pt idx="20">
                  <c:v>0.51664527918801773</c:v>
                </c:pt>
                <c:pt idx="21">
                  <c:v>0.48804737960574901</c:v>
                </c:pt>
                <c:pt idx="22">
                  <c:v>0.45829348646500984</c:v>
                </c:pt>
                <c:pt idx="23">
                  <c:v>0.36599495618539468</c:v>
                </c:pt>
                <c:pt idx="24">
                  <c:v>0.22199555529250886</c:v>
                </c:pt>
                <c:pt idx="25">
                  <c:v>0.18291924602534482</c:v>
                </c:pt>
                <c:pt idx="26">
                  <c:v>-0.23519088860405676</c:v>
                </c:pt>
              </c:numCache>
            </c:numRef>
          </c:val>
          <c:extLst>
            <c:ext xmlns:c16="http://schemas.microsoft.com/office/drawing/2014/chart" uri="{C3380CC4-5D6E-409C-BE32-E72D297353CC}">
              <c16:uniqueId val="{00000002-C653-4F29-AE89-51F7B115F84F}"/>
            </c:ext>
          </c:extLst>
        </c:ser>
        <c:dLbls>
          <c:showLegendKey val="0"/>
          <c:showVal val="0"/>
          <c:showCatName val="0"/>
          <c:showSerName val="0"/>
          <c:showPercent val="0"/>
          <c:showBubbleSize val="0"/>
        </c:dLbls>
        <c:gapWidth val="219"/>
        <c:overlap val="-27"/>
        <c:axId val="1389898416"/>
        <c:axId val="1389900336"/>
      </c:barChart>
      <c:catAx>
        <c:axId val="13898984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89900336"/>
        <c:crosses val="autoZero"/>
        <c:auto val="1"/>
        <c:lblAlgn val="ctr"/>
        <c:lblOffset val="100"/>
        <c:noMultiLvlLbl val="0"/>
      </c:catAx>
      <c:valAx>
        <c:axId val="1389900336"/>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8989841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5">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2E31F2-724E-4EB3-9DA2-BF6C9DC8AA7D}" type="datetimeFigureOut">
              <a:rPr lang="en-IN" smtClean="0"/>
              <a:t>27-02-2026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D6885C-AF40-4341-8A2F-25A397268AB3}" type="slidenum">
              <a:rPr lang="en-IN" smtClean="0"/>
              <a:t>‹#›</a:t>
            </a:fld>
            <a:endParaRPr lang="en-IN"/>
          </a:p>
        </p:txBody>
      </p:sp>
    </p:spTree>
    <p:extLst>
      <p:ext uri="{BB962C8B-B14F-4D97-AF65-F5344CB8AC3E}">
        <p14:creationId xmlns:p14="http://schemas.microsoft.com/office/powerpoint/2010/main" val="26477238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BD6885C-AF40-4341-8A2F-25A397268AB3}" type="slidenum">
              <a:rPr lang="en-IN" smtClean="0"/>
              <a:t>7</a:t>
            </a:fld>
            <a:endParaRPr lang="en-IN"/>
          </a:p>
        </p:txBody>
      </p:sp>
    </p:spTree>
    <p:extLst>
      <p:ext uri="{BB962C8B-B14F-4D97-AF65-F5344CB8AC3E}">
        <p14:creationId xmlns:p14="http://schemas.microsoft.com/office/powerpoint/2010/main" val="25065058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AEEE268-89F9-469D-BEDC-FD0671547D51}" type="datetimeFigureOut">
              <a:rPr lang="en-IN" smtClean="0"/>
              <a:t>27-02-2026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F313B8-A197-4970-B5FC-FB9439E8871E}" type="slidenum">
              <a:rPr lang="en-IN" smtClean="0"/>
              <a:t>‹#›</a:t>
            </a:fld>
            <a:endParaRPr lang="en-IN"/>
          </a:p>
        </p:txBody>
      </p:sp>
    </p:spTree>
    <p:extLst>
      <p:ext uri="{BB962C8B-B14F-4D97-AF65-F5344CB8AC3E}">
        <p14:creationId xmlns:p14="http://schemas.microsoft.com/office/powerpoint/2010/main" val="41585845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AEEE268-89F9-469D-BEDC-FD0671547D51}" type="datetimeFigureOut">
              <a:rPr lang="en-IN" smtClean="0"/>
              <a:t>27-02-2026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F313B8-A197-4970-B5FC-FB9439E8871E}" type="slidenum">
              <a:rPr lang="en-IN" smtClean="0"/>
              <a:t>‹#›</a:t>
            </a:fld>
            <a:endParaRPr lang="en-IN"/>
          </a:p>
        </p:txBody>
      </p:sp>
    </p:spTree>
    <p:extLst>
      <p:ext uri="{BB962C8B-B14F-4D97-AF65-F5344CB8AC3E}">
        <p14:creationId xmlns:p14="http://schemas.microsoft.com/office/powerpoint/2010/main" val="23480115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AEEE268-89F9-469D-BEDC-FD0671547D51}" type="datetimeFigureOut">
              <a:rPr lang="en-IN" smtClean="0"/>
              <a:t>27-02-2026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F313B8-A197-4970-B5FC-FB9439E8871E}" type="slidenum">
              <a:rPr lang="en-IN" smtClean="0"/>
              <a:t>‹#›</a:t>
            </a:fld>
            <a:endParaRPr lang="en-IN"/>
          </a:p>
        </p:txBody>
      </p:sp>
    </p:spTree>
    <p:extLst>
      <p:ext uri="{BB962C8B-B14F-4D97-AF65-F5344CB8AC3E}">
        <p14:creationId xmlns:p14="http://schemas.microsoft.com/office/powerpoint/2010/main" val="13312355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AEEE268-89F9-469D-BEDC-FD0671547D51}" type="datetimeFigureOut">
              <a:rPr lang="en-IN" smtClean="0"/>
              <a:t>27-02-2026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4F313B8-A197-4970-B5FC-FB9439E8871E}" type="slidenum">
              <a:rPr lang="en-IN" smtClean="0"/>
              <a:t>‹#›</a:t>
            </a:fld>
            <a:endParaRPr lang="en-IN"/>
          </a:p>
        </p:txBody>
      </p:sp>
    </p:spTree>
    <p:extLst>
      <p:ext uri="{BB962C8B-B14F-4D97-AF65-F5344CB8AC3E}">
        <p14:creationId xmlns:p14="http://schemas.microsoft.com/office/powerpoint/2010/main" val="20655755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AEEE268-89F9-469D-BEDC-FD0671547D51}" type="datetimeFigureOut">
              <a:rPr lang="en-IN" smtClean="0"/>
              <a:t>27-02-2026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4F313B8-A197-4970-B5FC-FB9439E8871E}" type="slidenum">
              <a:rPr lang="en-IN" smtClean="0"/>
              <a:t>‹#›</a:t>
            </a:fld>
            <a:endParaRPr lang="en-IN"/>
          </a:p>
        </p:txBody>
      </p:sp>
    </p:spTree>
    <p:extLst>
      <p:ext uri="{BB962C8B-B14F-4D97-AF65-F5344CB8AC3E}">
        <p14:creationId xmlns:p14="http://schemas.microsoft.com/office/powerpoint/2010/main" val="312281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AEEE268-89F9-469D-BEDC-FD0671547D51}" type="datetimeFigureOut">
              <a:rPr lang="en-IN" smtClean="0"/>
              <a:t>27-02-2026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4F313B8-A197-4970-B5FC-FB9439E8871E}" type="slidenum">
              <a:rPr lang="en-IN" smtClean="0"/>
              <a:t>‹#›</a:t>
            </a:fld>
            <a:endParaRPr lang="en-IN"/>
          </a:p>
        </p:txBody>
      </p:sp>
    </p:spTree>
    <p:extLst>
      <p:ext uri="{BB962C8B-B14F-4D97-AF65-F5344CB8AC3E}">
        <p14:creationId xmlns:p14="http://schemas.microsoft.com/office/powerpoint/2010/main" val="40529845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AEEE268-89F9-469D-BEDC-FD0671547D51}" type="datetimeFigureOut">
              <a:rPr lang="en-IN" smtClean="0"/>
              <a:t>27-02-2026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4F313B8-A197-4970-B5FC-FB9439E8871E}" type="slidenum">
              <a:rPr lang="en-IN" smtClean="0"/>
              <a:t>‹#›</a:t>
            </a:fld>
            <a:endParaRPr lang="en-IN"/>
          </a:p>
        </p:txBody>
      </p:sp>
    </p:spTree>
    <p:extLst>
      <p:ext uri="{BB962C8B-B14F-4D97-AF65-F5344CB8AC3E}">
        <p14:creationId xmlns:p14="http://schemas.microsoft.com/office/powerpoint/2010/main" val="13692611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AEEE268-89F9-469D-BEDC-FD0671547D51}" type="datetimeFigureOut">
              <a:rPr lang="en-IN" smtClean="0"/>
              <a:t>27-02-2026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4F313B8-A197-4970-B5FC-FB9439E8871E}" type="slidenum">
              <a:rPr lang="en-IN" smtClean="0"/>
              <a:t>‹#›</a:t>
            </a:fld>
            <a:endParaRPr lang="en-IN"/>
          </a:p>
        </p:txBody>
      </p:sp>
    </p:spTree>
    <p:extLst>
      <p:ext uri="{BB962C8B-B14F-4D97-AF65-F5344CB8AC3E}">
        <p14:creationId xmlns:p14="http://schemas.microsoft.com/office/powerpoint/2010/main" val="9894019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AEEE268-89F9-469D-BEDC-FD0671547D51}" type="datetimeFigureOut">
              <a:rPr lang="en-IN" smtClean="0"/>
              <a:t>27-02-2026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4F313B8-A197-4970-B5FC-FB9439E8871E}" type="slidenum">
              <a:rPr lang="en-IN" smtClean="0"/>
              <a:t>‹#›</a:t>
            </a:fld>
            <a:endParaRPr lang="en-IN"/>
          </a:p>
        </p:txBody>
      </p:sp>
    </p:spTree>
    <p:extLst>
      <p:ext uri="{BB962C8B-B14F-4D97-AF65-F5344CB8AC3E}">
        <p14:creationId xmlns:p14="http://schemas.microsoft.com/office/powerpoint/2010/main" val="19510891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AEEE268-89F9-469D-BEDC-FD0671547D51}" type="datetimeFigureOut">
              <a:rPr lang="en-IN" smtClean="0"/>
              <a:t>27-02-2026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F313B8-A197-4970-B5FC-FB9439E8871E}" type="slidenum">
              <a:rPr lang="en-IN" smtClean="0"/>
              <a:t>‹#›</a:t>
            </a:fld>
            <a:endParaRPr lang="en-IN"/>
          </a:p>
        </p:txBody>
      </p:sp>
    </p:spTree>
    <p:extLst>
      <p:ext uri="{BB962C8B-B14F-4D97-AF65-F5344CB8AC3E}">
        <p14:creationId xmlns:p14="http://schemas.microsoft.com/office/powerpoint/2010/main" val="35183757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AEEE268-89F9-469D-BEDC-FD0671547D51}" type="datetimeFigureOut">
              <a:rPr lang="en-IN" smtClean="0"/>
              <a:t>27-02-2026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F313B8-A197-4970-B5FC-FB9439E8871E}" type="slidenum">
              <a:rPr lang="en-IN" smtClean="0"/>
              <a:t>‹#›</a:t>
            </a:fld>
            <a:endParaRPr lang="en-IN"/>
          </a:p>
        </p:txBody>
      </p:sp>
    </p:spTree>
    <p:extLst>
      <p:ext uri="{BB962C8B-B14F-4D97-AF65-F5344CB8AC3E}">
        <p14:creationId xmlns:p14="http://schemas.microsoft.com/office/powerpoint/2010/main" val="32420165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EEE268-89F9-469D-BEDC-FD0671547D51}" type="datetimeFigureOut">
              <a:rPr lang="en-IN" smtClean="0"/>
              <a:t>27-02-2026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F313B8-A197-4970-B5FC-FB9439E8871E}" type="slidenum">
              <a:rPr lang="en-IN" smtClean="0"/>
              <a:t>‹#›</a:t>
            </a:fld>
            <a:endParaRPr lang="en-IN"/>
          </a:p>
        </p:txBody>
      </p:sp>
    </p:spTree>
    <p:extLst>
      <p:ext uri="{BB962C8B-B14F-4D97-AF65-F5344CB8AC3E}">
        <p14:creationId xmlns:p14="http://schemas.microsoft.com/office/powerpoint/2010/main" val="1928345454"/>
      </p:ext>
    </p:extLst>
  </p:cSld>
  <p:clrMap bg1="lt1" tx1="dk1" bg2="lt2" tx2="dk2" accent1="accent1" accent2="accent2" accent3="accent3" accent4="accent4" accent5="accent5" accent6="accent6" hlink="hlink" folHlink="folHlink"/>
  <p:sldLayoutIdLst>
    <p:sldLayoutId id="2147483787" r:id="rId1"/>
    <p:sldLayoutId id="2147483788" r:id="rId2"/>
    <p:sldLayoutId id="2147483789" r:id="rId3"/>
    <p:sldLayoutId id="2147483790" r:id="rId4"/>
    <p:sldLayoutId id="2147483791" r:id="rId5"/>
    <p:sldLayoutId id="2147483792" r:id="rId6"/>
    <p:sldLayoutId id="2147483793" r:id="rId7"/>
    <p:sldLayoutId id="2147483794" r:id="rId8"/>
    <p:sldLayoutId id="2147483795" r:id="rId9"/>
    <p:sldLayoutId id="2147483796" r:id="rId10"/>
    <p:sldLayoutId id="214748379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7.xml"/><Relationship Id="rId4" Type="http://schemas.openxmlformats.org/officeDocument/2006/relationships/chart" Target="../charts/char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chart" Target="../charts/chart8.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7AED511-268C-9001-D3EF-8258B7C3B860}"/>
              </a:ext>
            </a:extLst>
          </p:cNvPr>
          <p:cNvSpPr>
            <a:spLocks noGrp="1"/>
          </p:cNvSpPr>
          <p:nvPr>
            <p:ph type="subTitle" idx="1"/>
          </p:nvPr>
        </p:nvSpPr>
        <p:spPr>
          <a:xfrm>
            <a:off x="1769806" y="2255881"/>
            <a:ext cx="9144000" cy="914400"/>
          </a:xfrm>
        </p:spPr>
        <p:txBody>
          <a:bodyPr>
            <a:normAutofit/>
          </a:bodyPr>
          <a:lstStyle/>
          <a:p>
            <a:r>
              <a:rPr lang="en-IN" sz="6000" b="1" dirty="0">
                <a:ln w="0"/>
                <a:solidFill>
                  <a:schemeClr val="accent1"/>
                </a:solidFill>
                <a:effectLst>
                  <a:outerShdw blurRad="38100" dist="25400" dir="5400000" algn="ctr" rotWithShape="0">
                    <a:srgbClr val="6E747A">
                      <a:alpha val="43000"/>
                    </a:srgbClr>
                  </a:outerShdw>
                </a:effectLst>
              </a:rPr>
              <a:t>Case Study - CPI Inflation</a:t>
            </a:r>
          </a:p>
        </p:txBody>
      </p:sp>
      <p:sp>
        <p:nvSpPr>
          <p:cNvPr id="4" name="TextBox 3">
            <a:extLst>
              <a:ext uri="{FF2B5EF4-FFF2-40B4-BE49-F238E27FC236}">
                <a16:creationId xmlns:a16="http://schemas.microsoft.com/office/drawing/2014/main" id="{5BC7D68E-652B-ECC7-7713-27A54B896B4F}"/>
              </a:ext>
            </a:extLst>
          </p:cNvPr>
          <p:cNvSpPr txBox="1"/>
          <p:nvPr/>
        </p:nvSpPr>
        <p:spPr>
          <a:xfrm>
            <a:off x="8971738" y="6007508"/>
            <a:ext cx="3392523" cy="369332"/>
          </a:xfrm>
          <a:prstGeom prst="rect">
            <a:avLst/>
          </a:prstGeom>
          <a:noFill/>
        </p:spPr>
        <p:txBody>
          <a:bodyPr wrap="square" rtlCol="0">
            <a:spAutoFit/>
          </a:bodyPr>
          <a:lstStyle/>
          <a:p>
            <a:r>
              <a:rPr lang="en-IN" b="1" dirty="0"/>
              <a:t>Submitted By: Nidhi Gupta</a:t>
            </a:r>
          </a:p>
        </p:txBody>
      </p:sp>
    </p:spTree>
    <p:extLst>
      <p:ext uri="{BB962C8B-B14F-4D97-AF65-F5344CB8AC3E}">
        <p14:creationId xmlns:p14="http://schemas.microsoft.com/office/powerpoint/2010/main" val="11262279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12A44B2-F841-2625-D707-6270F0F04979}"/>
              </a:ext>
            </a:extLst>
          </p:cNvPr>
          <p:cNvSpPr/>
          <p:nvPr/>
        </p:nvSpPr>
        <p:spPr>
          <a:xfrm>
            <a:off x="521110" y="894735"/>
            <a:ext cx="11149780" cy="309716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a:solidFill>
                  <a:schemeClr val="tx1"/>
                </a:solidFill>
              </a:rPr>
              <a:t>Problem 1. </a:t>
            </a:r>
          </a:p>
          <a:p>
            <a:pPr algn="ctr"/>
            <a:r>
              <a:rPr lang="en-US" sz="2000" dirty="0">
                <a:solidFill>
                  <a:schemeClr val="tx1"/>
                </a:solidFill>
              </a:rPr>
              <a:t>Based on the latest month's data, identify the contribution of different broader categories (food, energy, transportation, education, etc.) towards the CPI basket. Broader categories (buckets) can be created by combining similar categories into one bucket; Ex.: Meals, Beverages, Cereals, can be clubbed to create "Food" category, etc.</a:t>
            </a:r>
          </a:p>
          <a:p>
            <a:pPr marL="285750" indent="-285750" algn="ctr">
              <a:buFont typeface="Arial" panose="020B0604020202020204" pitchFamily="34" charset="0"/>
              <a:buChar char="•"/>
            </a:pPr>
            <a:r>
              <a:rPr lang="en-US" sz="2000" dirty="0">
                <a:solidFill>
                  <a:schemeClr val="tx1"/>
                </a:solidFill>
              </a:rPr>
              <a:t>Which broader category has the highest contribution towards CPI calculation</a:t>
            </a:r>
          </a:p>
          <a:p>
            <a:pPr marL="285750" indent="-285750" algn="ctr">
              <a:buFont typeface="Arial" panose="020B0604020202020204" pitchFamily="34" charset="0"/>
              <a:buChar char="•"/>
            </a:pPr>
            <a:r>
              <a:rPr lang="en-US" sz="2000" dirty="0">
                <a:solidFill>
                  <a:schemeClr val="tx1"/>
                </a:solidFill>
              </a:rPr>
              <a:t>Contribution is calculated by evaluating the underlying index values for broader category and should add to 100% when contribution from different broader categories are added.</a:t>
            </a:r>
          </a:p>
        </p:txBody>
      </p:sp>
    </p:spTree>
    <p:extLst>
      <p:ext uri="{BB962C8B-B14F-4D97-AF65-F5344CB8AC3E}">
        <p14:creationId xmlns:p14="http://schemas.microsoft.com/office/powerpoint/2010/main" val="3560042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F6F7F7B-5A52-6092-C709-D62B71CC7614}"/>
              </a:ext>
            </a:extLst>
          </p:cNvPr>
          <p:cNvSpPr>
            <a:spLocks noGrp="1"/>
          </p:cNvSpPr>
          <p:nvPr>
            <p:ph type="title"/>
          </p:nvPr>
        </p:nvSpPr>
        <p:spPr>
          <a:xfrm>
            <a:off x="786580" y="316668"/>
            <a:ext cx="11493910" cy="946770"/>
          </a:xfrm>
        </p:spPr>
        <p:txBody>
          <a:bodyPr>
            <a:normAutofit/>
          </a:bodyPr>
          <a:lstStyle/>
          <a:p>
            <a:r>
              <a:rPr lang="en-US" sz="4000" b="1" dirty="0">
                <a:ln w="0"/>
                <a:solidFill>
                  <a:schemeClr val="accent1"/>
                </a:solidFill>
                <a:effectLst>
                  <a:outerShdw blurRad="38100" dist="25400" dir="5400000" algn="ctr" rotWithShape="0">
                    <a:srgbClr val="6E747A">
                      <a:alpha val="43000"/>
                    </a:srgbClr>
                  </a:outerShdw>
                </a:effectLst>
                <a:latin typeface="+mn-lt"/>
              </a:rPr>
              <a:t>Contribution towards based on the new category </a:t>
            </a:r>
            <a:endParaRPr lang="en-IN" sz="4000" b="1" dirty="0">
              <a:ln w="0"/>
              <a:solidFill>
                <a:schemeClr val="accent1"/>
              </a:solidFill>
              <a:effectLst>
                <a:outerShdw blurRad="38100" dist="25400" dir="5400000" algn="ctr" rotWithShape="0">
                  <a:srgbClr val="6E747A">
                    <a:alpha val="43000"/>
                  </a:srgbClr>
                </a:outerShdw>
              </a:effectLst>
              <a:latin typeface="+mn-lt"/>
            </a:endParaRPr>
          </a:p>
        </p:txBody>
      </p:sp>
      <p:graphicFrame>
        <p:nvGraphicFramePr>
          <p:cNvPr id="15" name="Table 14">
            <a:extLst>
              <a:ext uri="{FF2B5EF4-FFF2-40B4-BE49-F238E27FC236}">
                <a16:creationId xmlns:a16="http://schemas.microsoft.com/office/drawing/2014/main" id="{1D99AB2A-3D24-49AE-0EF0-0BE80FE39EC9}"/>
              </a:ext>
            </a:extLst>
          </p:cNvPr>
          <p:cNvGraphicFramePr>
            <a:graphicFrameLocks noGrp="1"/>
          </p:cNvGraphicFramePr>
          <p:nvPr>
            <p:extLst>
              <p:ext uri="{D42A27DB-BD31-4B8C-83A1-F6EECF244321}">
                <p14:modId xmlns:p14="http://schemas.microsoft.com/office/powerpoint/2010/main" val="1979437621"/>
              </p:ext>
            </p:extLst>
          </p:nvPr>
        </p:nvGraphicFramePr>
        <p:xfrm>
          <a:off x="1927120" y="1474839"/>
          <a:ext cx="8780208" cy="4444188"/>
        </p:xfrm>
        <a:graphic>
          <a:graphicData uri="http://schemas.openxmlformats.org/drawingml/2006/table">
            <a:tbl>
              <a:tblPr/>
              <a:tblGrid>
                <a:gridCol w="3436900">
                  <a:extLst>
                    <a:ext uri="{9D8B030D-6E8A-4147-A177-3AD203B41FA5}">
                      <a16:colId xmlns:a16="http://schemas.microsoft.com/office/drawing/2014/main" val="1571172565"/>
                    </a:ext>
                  </a:extLst>
                </a:gridCol>
                <a:gridCol w="1261988">
                  <a:extLst>
                    <a:ext uri="{9D8B030D-6E8A-4147-A177-3AD203B41FA5}">
                      <a16:colId xmlns:a16="http://schemas.microsoft.com/office/drawing/2014/main" val="1641689121"/>
                    </a:ext>
                  </a:extLst>
                </a:gridCol>
                <a:gridCol w="1476793">
                  <a:extLst>
                    <a:ext uri="{9D8B030D-6E8A-4147-A177-3AD203B41FA5}">
                      <a16:colId xmlns:a16="http://schemas.microsoft.com/office/drawing/2014/main" val="2251625242"/>
                    </a:ext>
                  </a:extLst>
                </a:gridCol>
                <a:gridCol w="2604527">
                  <a:extLst>
                    <a:ext uri="{9D8B030D-6E8A-4147-A177-3AD203B41FA5}">
                      <a16:colId xmlns:a16="http://schemas.microsoft.com/office/drawing/2014/main" val="590959765"/>
                    </a:ext>
                  </a:extLst>
                </a:gridCol>
              </a:tblGrid>
              <a:tr h="317442">
                <a:tc>
                  <a:txBody>
                    <a:bodyPr/>
                    <a:lstStyle/>
                    <a:p>
                      <a:pPr algn="ctr" fontAlgn="ctr">
                        <a:buNone/>
                      </a:pPr>
                      <a:r>
                        <a:rPr lang="en-IN" sz="1100" b="1" i="0" u="none" strike="noStrike" dirty="0">
                          <a:solidFill>
                            <a:srgbClr val="FFFFFF"/>
                          </a:solidFill>
                          <a:effectLst/>
                          <a:latin typeface="Calibri" panose="020F0502020204030204" pitchFamily="34" charset="0"/>
                        </a:rPr>
                        <a:t>New Category Mapped</a:t>
                      </a:r>
                    </a:p>
                  </a:txBody>
                  <a:tcPr marL="7620" marR="7620" marT="7620" marB="0" anchor="ctr">
                    <a:lnL w="6350" cap="flat" cmpd="sng" algn="ctr">
                      <a:solidFill>
                        <a:srgbClr val="000000"/>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ctr" fontAlgn="ctr">
                        <a:buNone/>
                      </a:pPr>
                      <a:r>
                        <a:rPr lang="en-IN" sz="1100" b="1" i="0" u="none" strike="noStrike">
                          <a:solidFill>
                            <a:srgbClr val="FFFFFF"/>
                          </a:solidFill>
                          <a:effectLst/>
                          <a:latin typeface="Calibri" panose="020F0502020204030204" pitchFamily="34" charset="0"/>
                        </a:rPr>
                        <a:t>Rural%</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ctr" fontAlgn="ctr">
                        <a:buNone/>
                      </a:pPr>
                      <a:r>
                        <a:rPr lang="en-IN" sz="1100" b="1" i="0" u="none" strike="noStrike">
                          <a:solidFill>
                            <a:srgbClr val="FFFFFF"/>
                          </a:solidFill>
                          <a:effectLst/>
                          <a:latin typeface="Calibri" panose="020F0502020204030204" pitchFamily="34" charset="0"/>
                        </a:rPr>
                        <a:t>Urban%</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ctr" fontAlgn="ctr">
                        <a:buNone/>
                      </a:pPr>
                      <a:r>
                        <a:rPr lang="en-IN" sz="1100" b="1" i="0" u="none" strike="noStrike" dirty="0" err="1">
                          <a:solidFill>
                            <a:srgbClr val="FFFFFF"/>
                          </a:solidFill>
                          <a:effectLst/>
                          <a:latin typeface="Calibri" panose="020F0502020204030204" pitchFamily="34" charset="0"/>
                        </a:rPr>
                        <a:t>Rural+Urban</a:t>
                      </a:r>
                      <a:r>
                        <a:rPr lang="en-IN" sz="1100" b="1" i="0" u="none" strike="noStrike" dirty="0">
                          <a:solidFill>
                            <a:srgbClr val="FFFFFF"/>
                          </a:solidFill>
                          <a:effectLst/>
                          <a:latin typeface="Calibri" panose="020F0502020204030204" pitchFamily="34" charset="0"/>
                        </a:rPr>
                        <a:t>%</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extLst>
                  <a:ext uri="{0D108BD9-81ED-4DB2-BD59-A6C34878D82A}">
                    <a16:rowId xmlns:a16="http://schemas.microsoft.com/office/drawing/2014/main" val="3957532267"/>
                  </a:ext>
                </a:extLst>
              </a:tr>
              <a:tr h="317442">
                <a:tc>
                  <a:txBody>
                    <a:bodyPr/>
                    <a:lstStyle/>
                    <a:p>
                      <a:pPr algn="ctr" fontAlgn="ctr">
                        <a:buNone/>
                      </a:pPr>
                      <a:r>
                        <a:rPr lang="en-IN" sz="1100" b="0" i="0" u="none" strike="noStrike">
                          <a:solidFill>
                            <a:srgbClr val="000000"/>
                          </a:solidFill>
                          <a:effectLst/>
                          <a:latin typeface="Calibri" panose="020F0502020204030204" pitchFamily="34" charset="0"/>
                        </a:rPr>
                        <a:t>Food</a:t>
                      </a:r>
                    </a:p>
                  </a:txBody>
                  <a:tcPr marL="7620" marR="7620" marT="7620" marB="0" anchor="ctr">
                    <a:lnL w="6350" cap="flat" cmpd="sng" algn="ctr">
                      <a:solidFill>
                        <a:srgbClr val="000000"/>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46.9%</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46.7%</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dirty="0">
                          <a:solidFill>
                            <a:srgbClr val="000000"/>
                          </a:solidFill>
                          <a:effectLst/>
                          <a:latin typeface="Calibri" panose="020F0502020204030204" pitchFamily="34" charset="0"/>
                        </a:rPr>
                        <a:t>45.8%</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2236040849"/>
                  </a:ext>
                </a:extLst>
              </a:tr>
              <a:tr h="317442">
                <a:tc>
                  <a:txBody>
                    <a:bodyPr/>
                    <a:lstStyle/>
                    <a:p>
                      <a:pPr algn="ctr" fontAlgn="ctr">
                        <a:buNone/>
                      </a:pPr>
                      <a:r>
                        <a:rPr lang="en-IN" sz="1100" b="0" i="0" u="none" strike="noStrike">
                          <a:solidFill>
                            <a:srgbClr val="000000"/>
                          </a:solidFill>
                          <a:effectLst/>
                          <a:latin typeface="Calibri" panose="020F0502020204030204" pitchFamily="34" charset="0"/>
                        </a:rPr>
                        <a:t>Luxury</a:t>
                      </a:r>
                    </a:p>
                  </a:txBody>
                  <a:tcPr marL="7620" marR="7620" marT="7620" marB="0" anchor="ctr">
                    <a:lnL w="6350" cap="flat" cmpd="sng" algn="ctr">
                      <a:solidFill>
                        <a:srgbClr val="000000"/>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8.4%</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8.0%</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8.0%</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3391807437"/>
                  </a:ext>
                </a:extLst>
              </a:tr>
              <a:tr h="317442">
                <a:tc>
                  <a:txBody>
                    <a:bodyPr/>
                    <a:lstStyle/>
                    <a:p>
                      <a:pPr algn="ctr" fontAlgn="ctr">
                        <a:buNone/>
                      </a:pPr>
                      <a:r>
                        <a:rPr lang="en-IN" sz="1100" b="0" i="0" u="none" strike="noStrike">
                          <a:solidFill>
                            <a:srgbClr val="000000"/>
                          </a:solidFill>
                          <a:effectLst/>
                          <a:latin typeface="Calibri" panose="020F0502020204030204" pitchFamily="34" charset="0"/>
                        </a:rPr>
                        <a:t>Apparel</a:t>
                      </a:r>
                    </a:p>
                  </a:txBody>
                  <a:tcPr marL="7620" marR="7620" marT="7620" marB="0" anchor="ctr">
                    <a:lnL w="6350" cap="flat" cmpd="sng" algn="ctr">
                      <a:solidFill>
                        <a:srgbClr val="000000"/>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12.7%</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11.4%</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11.9%</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2243785954"/>
                  </a:ext>
                </a:extLst>
              </a:tr>
              <a:tr h="317442">
                <a:tc>
                  <a:txBody>
                    <a:bodyPr/>
                    <a:lstStyle/>
                    <a:p>
                      <a:pPr algn="ctr" fontAlgn="ctr">
                        <a:buNone/>
                      </a:pPr>
                      <a:r>
                        <a:rPr lang="en-IN" sz="1100" b="0" i="0" u="none" strike="noStrike">
                          <a:solidFill>
                            <a:srgbClr val="000000"/>
                          </a:solidFill>
                          <a:effectLst/>
                          <a:latin typeface="Calibri" panose="020F0502020204030204" pitchFamily="34" charset="0"/>
                        </a:rPr>
                        <a:t>Housing</a:t>
                      </a:r>
                    </a:p>
                  </a:txBody>
                  <a:tcPr marL="7620" marR="7620" marT="7620" marB="0" anchor="ctr">
                    <a:lnL w="6350" cap="flat" cmpd="sng" algn="ctr">
                      <a:solidFill>
                        <a:srgbClr val="000000"/>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4.0%</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7.4%</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7.5%</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3257652807"/>
                  </a:ext>
                </a:extLst>
              </a:tr>
              <a:tr h="317442">
                <a:tc>
                  <a:txBody>
                    <a:bodyPr/>
                    <a:lstStyle/>
                    <a:p>
                      <a:pPr algn="ctr" fontAlgn="ctr">
                        <a:buNone/>
                      </a:pPr>
                      <a:r>
                        <a:rPr lang="en-IN" sz="1100" b="0" i="0" u="none" strike="noStrike">
                          <a:solidFill>
                            <a:srgbClr val="000000"/>
                          </a:solidFill>
                          <a:effectLst/>
                          <a:latin typeface="Calibri" panose="020F0502020204030204" pitchFamily="34" charset="0"/>
                        </a:rPr>
                        <a:t>Fuel and light</a:t>
                      </a:r>
                    </a:p>
                  </a:txBody>
                  <a:tcPr marL="7620" marR="7620" marT="7620" marB="0" anchor="ctr">
                    <a:lnL w="6350" cap="flat" cmpd="sng" algn="ctr">
                      <a:solidFill>
                        <a:srgbClr val="000000"/>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4.1%</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4.0%</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dirty="0">
                          <a:solidFill>
                            <a:srgbClr val="000000"/>
                          </a:solidFill>
                          <a:effectLst/>
                          <a:latin typeface="Calibri" panose="020F0502020204030204" pitchFamily="34" charset="0"/>
                        </a:rPr>
                        <a:t>3.9%</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571209764"/>
                  </a:ext>
                </a:extLst>
              </a:tr>
              <a:tr h="317442">
                <a:tc>
                  <a:txBody>
                    <a:bodyPr/>
                    <a:lstStyle/>
                    <a:p>
                      <a:pPr algn="ctr" fontAlgn="ctr">
                        <a:buNone/>
                      </a:pPr>
                      <a:r>
                        <a:rPr lang="en-IN" sz="1100" b="0" i="0" u="none" strike="noStrike" dirty="0">
                          <a:solidFill>
                            <a:srgbClr val="000000"/>
                          </a:solidFill>
                          <a:effectLst/>
                          <a:latin typeface="Calibri" panose="020F0502020204030204" pitchFamily="34" charset="0"/>
                        </a:rPr>
                        <a:t>Health</a:t>
                      </a:r>
                    </a:p>
                  </a:txBody>
                  <a:tcPr marL="7620" marR="7620" marT="7620" marB="0" anchor="ctr">
                    <a:lnL w="6350" cap="flat" cmpd="sng" algn="ctr">
                      <a:solidFill>
                        <a:srgbClr val="000000"/>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4.2%</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3.9%</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4.0%</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379226914"/>
                  </a:ext>
                </a:extLst>
              </a:tr>
              <a:tr h="317442">
                <a:tc>
                  <a:txBody>
                    <a:bodyPr/>
                    <a:lstStyle/>
                    <a:p>
                      <a:pPr algn="ctr" fontAlgn="ctr">
                        <a:buNone/>
                      </a:pPr>
                      <a:r>
                        <a:rPr lang="en-IN" sz="1100" b="0" i="0" u="none" strike="noStrike">
                          <a:solidFill>
                            <a:srgbClr val="000000"/>
                          </a:solidFill>
                          <a:effectLst/>
                          <a:latin typeface="Calibri" panose="020F0502020204030204" pitchFamily="34" charset="0"/>
                        </a:rPr>
                        <a:t>Transport</a:t>
                      </a:r>
                    </a:p>
                  </a:txBody>
                  <a:tcPr marL="7620" marR="7620" marT="7620" marB="0" anchor="ctr">
                    <a:lnL w="6350" cap="flat" cmpd="sng" algn="ctr">
                      <a:solidFill>
                        <a:srgbClr val="000000"/>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3.8%</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3.5%</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3.5%</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4272777311"/>
                  </a:ext>
                </a:extLst>
              </a:tr>
              <a:tr h="317442">
                <a:tc>
                  <a:txBody>
                    <a:bodyPr/>
                    <a:lstStyle/>
                    <a:p>
                      <a:pPr algn="ctr" fontAlgn="ctr">
                        <a:buNone/>
                      </a:pPr>
                      <a:r>
                        <a:rPr lang="en-IN" sz="1100" b="0" i="0" u="none" strike="noStrike">
                          <a:solidFill>
                            <a:srgbClr val="000000"/>
                          </a:solidFill>
                          <a:effectLst/>
                          <a:latin typeface="Calibri" panose="020F0502020204030204" pitchFamily="34" charset="0"/>
                        </a:rPr>
                        <a:t>Recreation and amusement</a:t>
                      </a:r>
                    </a:p>
                  </a:txBody>
                  <a:tcPr marL="7620" marR="7620" marT="7620" marB="0" anchor="ctr">
                    <a:lnL w="6350" cap="flat" cmpd="sng" algn="ctr">
                      <a:solidFill>
                        <a:srgbClr val="000000"/>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3.9%</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3.6%</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3.7%</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3378840940"/>
                  </a:ext>
                </a:extLst>
              </a:tr>
              <a:tr h="317442">
                <a:tc>
                  <a:txBody>
                    <a:bodyPr/>
                    <a:lstStyle/>
                    <a:p>
                      <a:pPr algn="ctr" fontAlgn="ctr">
                        <a:buNone/>
                      </a:pPr>
                      <a:r>
                        <a:rPr lang="en-IN" sz="1100" b="0" i="0" u="none" strike="noStrike">
                          <a:solidFill>
                            <a:srgbClr val="000000"/>
                          </a:solidFill>
                          <a:effectLst/>
                          <a:latin typeface="Calibri" panose="020F0502020204030204" pitchFamily="34" charset="0"/>
                        </a:rPr>
                        <a:t>Education</a:t>
                      </a:r>
                    </a:p>
                  </a:txBody>
                  <a:tcPr marL="7620" marR="7620" marT="7620" marB="0" anchor="ctr">
                    <a:lnL w="6350" cap="flat" cmpd="sng" algn="ctr">
                      <a:solidFill>
                        <a:srgbClr val="000000"/>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4.0%</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3.8%</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3.8%</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988991929"/>
                  </a:ext>
                </a:extLst>
              </a:tr>
              <a:tr h="317442">
                <a:tc>
                  <a:txBody>
                    <a:bodyPr/>
                    <a:lstStyle/>
                    <a:p>
                      <a:pPr algn="ctr" fontAlgn="ctr">
                        <a:buNone/>
                      </a:pPr>
                      <a:r>
                        <a:rPr lang="en-IN" sz="1100" b="0" i="0" u="none" strike="noStrike">
                          <a:solidFill>
                            <a:srgbClr val="000000"/>
                          </a:solidFill>
                          <a:effectLst/>
                          <a:latin typeface="Calibri" panose="020F0502020204030204" pitchFamily="34" charset="0"/>
                        </a:rPr>
                        <a:t>Personal care and effects</a:t>
                      </a:r>
                    </a:p>
                  </a:txBody>
                  <a:tcPr marL="7620" marR="7620" marT="7620" marB="0" anchor="ctr">
                    <a:lnL w="6350" cap="flat" cmpd="sng" algn="ctr">
                      <a:solidFill>
                        <a:srgbClr val="000000"/>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dirty="0">
                          <a:solidFill>
                            <a:srgbClr val="000000"/>
                          </a:solidFill>
                          <a:effectLst/>
                          <a:latin typeface="Calibri" panose="020F0502020204030204" pitchFamily="34" charset="0"/>
                        </a:rPr>
                        <a:t>4.1%</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4.0%</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4.0%</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1854125652"/>
                  </a:ext>
                </a:extLst>
              </a:tr>
              <a:tr h="317442">
                <a:tc>
                  <a:txBody>
                    <a:bodyPr/>
                    <a:lstStyle/>
                    <a:p>
                      <a:pPr algn="ctr" fontAlgn="ctr">
                        <a:buNone/>
                      </a:pPr>
                      <a:r>
                        <a:rPr lang="en-IN" sz="1100" b="0" i="0" u="none" strike="noStrike">
                          <a:solidFill>
                            <a:srgbClr val="000000"/>
                          </a:solidFill>
                          <a:effectLst/>
                          <a:latin typeface="Calibri" panose="020F0502020204030204" pitchFamily="34" charset="0"/>
                        </a:rPr>
                        <a:t>Misc</a:t>
                      </a:r>
                    </a:p>
                  </a:txBody>
                  <a:tcPr marL="7620" marR="7620" marT="7620" marB="0" anchor="ctr">
                    <a:lnL w="6350" cap="flat" cmpd="sng" algn="ctr">
                      <a:solidFill>
                        <a:srgbClr val="000000"/>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4.0%</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3.7%</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3.8%</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3129500624"/>
                  </a:ext>
                </a:extLst>
              </a:tr>
              <a:tr h="317442">
                <a:tc>
                  <a:txBody>
                    <a:bodyPr/>
                    <a:lstStyle/>
                    <a:p>
                      <a:pPr algn="ctr" fontAlgn="ctr">
                        <a:buNone/>
                      </a:pPr>
                      <a:r>
                        <a:rPr lang="en-IN" sz="1100" b="0" i="0" u="none" strike="noStrike">
                          <a:solidFill>
                            <a:srgbClr val="FF0000"/>
                          </a:solidFill>
                          <a:effectLst/>
                          <a:latin typeface="Calibri" panose="020F0502020204030204" pitchFamily="34" charset="0"/>
                        </a:rPr>
                        <a:t>GI</a:t>
                      </a:r>
                    </a:p>
                  </a:txBody>
                  <a:tcPr marL="7620" marR="7620" marT="7620" marB="0" anchor="ctr">
                    <a:lnL w="6350" cap="flat" cmpd="sng" algn="ctr">
                      <a:solidFill>
                        <a:srgbClr val="000000"/>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FF0000"/>
                          </a:solidFill>
                          <a:effectLst/>
                          <a:latin typeface="Calibri" panose="020F0502020204030204" pitchFamily="34" charset="0"/>
                        </a:rPr>
                        <a:t>-</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FF0000"/>
                          </a:solidFill>
                          <a:effectLst/>
                          <a:latin typeface="Calibri" panose="020F0502020204030204" pitchFamily="34" charset="0"/>
                        </a:rPr>
                        <a:t>-</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FF0000"/>
                          </a:solidFill>
                          <a:effectLst/>
                          <a:latin typeface="Calibri" panose="020F0502020204030204" pitchFamily="34" charset="0"/>
                        </a:rPr>
                        <a:t>-</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49073950"/>
                  </a:ext>
                </a:extLst>
              </a:tr>
              <a:tr h="317442">
                <a:tc>
                  <a:txBody>
                    <a:bodyPr/>
                    <a:lstStyle/>
                    <a:p>
                      <a:pPr algn="ctr" fontAlgn="ctr">
                        <a:buNone/>
                      </a:pPr>
                      <a:r>
                        <a:rPr lang="en-IN" sz="1100" b="1" i="0" u="none" strike="noStrike" dirty="0">
                          <a:solidFill>
                            <a:srgbClr val="000000"/>
                          </a:solidFill>
                          <a:effectLst/>
                          <a:latin typeface="Calibri" panose="020F0502020204030204" pitchFamily="34" charset="0"/>
                        </a:rPr>
                        <a:t>Grand Total</a:t>
                      </a:r>
                    </a:p>
                  </a:txBody>
                  <a:tcPr marL="7620" marR="7620" marT="7620" marB="0" anchor="ctr">
                    <a:lnL w="6350" cap="flat" cmpd="sng" algn="ctr">
                      <a:solidFill>
                        <a:srgbClr val="000000"/>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1" i="0" u="none" strike="noStrike">
                          <a:solidFill>
                            <a:srgbClr val="000000"/>
                          </a:solidFill>
                          <a:effectLst/>
                          <a:latin typeface="Calibri" panose="020F0502020204030204" pitchFamily="34" charset="0"/>
                        </a:rPr>
                        <a:t>100.0%</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1" i="0" u="none" strike="noStrike" dirty="0">
                          <a:solidFill>
                            <a:srgbClr val="000000"/>
                          </a:solidFill>
                          <a:effectLst/>
                          <a:latin typeface="Calibri" panose="020F0502020204030204" pitchFamily="34" charset="0"/>
                        </a:rPr>
                        <a:t>100.0%</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1" i="0" u="none" strike="noStrike" dirty="0">
                          <a:solidFill>
                            <a:srgbClr val="000000"/>
                          </a:solidFill>
                          <a:effectLst/>
                          <a:latin typeface="Calibri" panose="020F0502020204030204" pitchFamily="34" charset="0"/>
                        </a:rPr>
                        <a:t>100.0%</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2616078898"/>
                  </a:ext>
                </a:extLst>
              </a:tr>
            </a:tbl>
          </a:graphicData>
        </a:graphic>
      </p:graphicFrame>
    </p:spTree>
    <p:extLst>
      <p:ext uri="{BB962C8B-B14F-4D97-AF65-F5344CB8AC3E}">
        <p14:creationId xmlns:p14="http://schemas.microsoft.com/office/powerpoint/2010/main" val="32538076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6A41F-047B-8F21-7C85-467E30259439}"/>
              </a:ext>
            </a:extLst>
          </p:cNvPr>
          <p:cNvSpPr>
            <a:spLocks noGrp="1"/>
          </p:cNvSpPr>
          <p:nvPr>
            <p:ph type="title"/>
          </p:nvPr>
        </p:nvSpPr>
        <p:spPr>
          <a:xfrm>
            <a:off x="1015181" y="207808"/>
            <a:ext cx="10515600" cy="1325563"/>
          </a:xfrm>
          <a:noFill/>
          <a:ln>
            <a:noFill/>
          </a:ln>
        </p:spPr>
        <p:style>
          <a:lnRef idx="0">
            <a:scrgbClr r="0" g="0" b="0"/>
          </a:lnRef>
          <a:fillRef idx="0">
            <a:scrgbClr r="0" g="0" b="0"/>
          </a:fillRef>
          <a:effectRef idx="0">
            <a:scrgbClr r="0" g="0" b="0"/>
          </a:effectRef>
          <a:fontRef idx="minor">
            <a:schemeClr val="accent5"/>
          </a:fontRef>
        </p:style>
        <p:txBody>
          <a:bodyPr/>
          <a:lstStyle/>
          <a:p>
            <a:r>
              <a:rPr lang="en-IN" b="1" dirty="0">
                <a:ln w="0"/>
                <a:solidFill>
                  <a:schemeClr val="accent1"/>
                </a:solidFill>
                <a:effectLst>
                  <a:outerShdw blurRad="38100" dist="25400" dir="5400000" algn="ctr" rotWithShape="0">
                    <a:srgbClr val="6E747A">
                      <a:alpha val="43000"/>
                    </a:srgbClr>
                  </a:outerShdw>
                </a:effectLst>
                <a:latin typeface="+mn-lt"/>
              </a:rPr>
              <a:t>New Category mapped Based on the Sector</a:t>
            </a:r>
            <a:r>
              <a:rPr lang="en-IN" dirty="0">
                <a:ln w="0"/>
                <a:solidFill>
                  <a:schemeClr val="accent1"/>
                </a:solidFill>
                <a:effectLst>
                  <a:outerShdw blurRad="38100" dist="25400" dir="5400000" algn="ctr" rotWithShape="0">
                    <a:srgbClr val="6E747A">
                      <a:alpha val="43000"/>
                    </a:srgbClr>
                  </a:outerShdw>
                </a:effectLst>
                <a:latin typeface="+mn-lt"/>
              </a:rPr>
              <a:t> </a:t>
            </a:r>
          </a:p>
        </p:txBody>
      </p:sp>
      <p:graphicFrame>
        <p:nvGraphicFramePr>
          <p:cNvPr id="3" name="Chart 2">
            <a:extLst>
              <a:ext uri="{FF2B5EF4-FFF2-40B4-BE49-F238E27FC236}">
                <a16:creationId xmlns:a16="http://schemas.microsoft.com/office/drawing/2014/main" id="{B16BCCDD-4609-982C-0C5D-2EEF4B4CA9D5}"/>
              </a:ext>
            </a:extLst>
          </p:cNvPr>
          <p:cNvGraphicFramePr>
            <a:graphicFrameLocks/>
          </p:cNvGraphicFramePr>
          <p:nvPr>
            <p:extLst>
              <p:ext uri="{D42A27DB-BD31-4B8C-83A1-F6EECF244321}">
                <p14:modId xmlns:p14="http://schemas.microsoft.com/office/powerpoint/2010/main" val="3057126310"/>
              </p:ext>
            </p:extLst>
          </p:nvPr>
        </p:nvGraphicFramePr>
        <p:xfrm>
          <a:off x="1839370" y="1681317"/>
          <a:ext cx="8867222" cy="477223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8536924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65A3B2FE-6858-02C8-F653-1049436E1CBB}"/>
              </a:ext>
            </a:extLst>
          </p:cNvPr>
          <p:cNvGraphicFramePr>
            <a:graphicFrameLocks/>
          </p:cNvGraphicFramePr>
          <p:nvPr>
            <p:extLst>
              <p:ext uri="{D42A27DB-BD31-4B8C-83A1-F6EECF244321}">
                <p14:modId xmlns:p14="http://schemas.microsoft.com/office/powerpoint/2010/main" val="3925469240"/>
              </p:ext>
            </p:extLst>
          </p:nvPr>
        </p:nvGraphicFramePr>
        <p:xfrm>
          <a:off x="-98322" y="3686"/>
          <a:ext cx="6980902" cy="43815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Chart 3">
            <a:extLst>
              <a:ext uri="{FF2B5EF4-FFF2-40B4-BE49-F238E27FC236}">
                <a16:creationId xmlns:a16="http://schemas.microsoft.com/office/drawing/2014/main" id="{B16BCCDD-4609-982C-0C5D-2EEF4B4CA9D5}"/>
              </a:ext>
            </a:extLst>
          </p:cNvPr>
          <p:cNvGraphicFramePr>
            <a:graphicFrameLocks/>
          </p:cNvGraphicFramePr>
          <p:nvPr>
            <p:extLst>
              <p:ext uri="{D42A27DB-BD31-4B8C-83A1-F6EECF244321}">
                <p14:modId xmlns:p14="http://schemas.microsoft.com/office/powerpoint/2010/main" val="960523073"/>
              </p:ext>
            </p:extLst>
          </p:nvPr>
        </p:nvGraphicFramePr>
        <p:xfrm>
          <a:off x="-98322" y="216678"/>
          <a:ext cx="6794090" cy="43815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a:extLst>
              <a:ext uri="{FF2B5EF4-FFF2-40B4-BE49-F238E27FC236}">
                <a16:creationId xmlns:a16="http://schemas.microsoft.com/office/drawing/2014/main" id="{B16BCCDD-4609-982C-0C5D-2EEF4B4CA9D5}"/>
              </a:ext>
            </a:extLst>
          </p:cNvPr>
          <p:cNvGraphicFramePr>
            <a:graphicFrameLocks/>
          </p:cNvGraphicFramePr>
          <p:nvPr>
            <p:extLst>
              <p:ext uri="{D42A27DB-BD31-4B8C-83A1-F6EECF244321}">
                <p14:modId xmlns:p14="http://schemas.microsoft.com/office/powerpoint/2010/main" val="2202604495"/>
              </p:ext>
            </p:extLst>
          </p:nvPr>
        </p:nvGraphicFramePr>
        <p:xfrm>
          <a:off x="5425932" y="2163956"/>
          <a:ext cx="6980902" cy="4381500"/>
        </p:xfrm>
        <a:graphic>
          <a:graphicData uri="http://schemas.openxmlformats.org/drawingml/2006/chart">
            <c:chart xmlns:c="http://schemas.openxmlformats.org/drawingml/2006/chart" xmlns:r="http://schemas.openxmlformats.org/officeDocument/2006/relationships" r:id="rId4"/>
          </a:graphicData>
        </a:graphic>
      </p:graphicFrame>
      <p:sp>
        <p:nvSpPr>
          <p:cNvPr id="2" name="Rectangle 1">
            <a:extLst>
              <a:ext uri="{FF2B5EF4-FFF2-40B4-BE49-F238E27FC236}">
                <a16:creationId xmlns:a16="http://schemas.microsoft.com/office/drawing/2014/main" id="{23FE9FE8-9E98-E861-50B8-307BB2F887F0}"/>
              </a:ext>
            </a:extLst>
          </p:cNvPr>
          <p:cNvSpPr/>
          <p:nvPr/>
        </p:nvSpPr>
        <p:spPr>
          <a:xfrm>
            <a:off x="6695768" y="639096"/>
            <a:ext cx="5015191" cy="122940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chemeClr val="tx1"/>
                </a:solidFill>
              </a:rPr>
              <a:t>Insight: </a:t>
            </a:r>
            <a:r>
              <a:rPr lang="en-US" dirty="0">
                <a:solidFill>
                  <a:schemeClr val="tx1"/>
                </a:solidFill>
              </a:rPr>
              <a:t>Food has the highest contribution towards CPI calculation in all rural, urban and </a:t>
            </a:r>
            <a:r>
              <a:rPr lang="en-US" dirty="0" err="1">
                <a:solidFill>
                  <a:schemeClr val="tx1"/>
                </a:solidFill>
              </a:rPr>
              <a:t>rural+urban</a:t>
            </a:r>
            <a:endParaRPr lang="en-US" dirty="0">
              <a:solidFill>
                <a:schemeClr val="tx1"/>
              </a:solidFill>
            </a:endParaRPr>
          </a:p>
        </p:txBody>
      </p:sp>
    </p:spTree>
    <p:extLst>
      <p:ext uri="{BB962C8B-B14F-4D97-AF65-F5344CB8AC3E}">
        <p14:creationId xmlns:p14="http://schemas.microsoft.com/office/powerpoint/2010/main" val="29698823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BF4DDEE-A2DD-8A57-7420-73CF19C371F9}"/>
              </a:ext>
            </a:extLst>
          </p:cNvPr>
          <p:cNvSpPr/>
          <p:nvPr/>
        </p:nvSpPr>
        <p:spPr>
          <a:xfrm>
            <a:off x="668592" y="710521"/>
            <a:ext cx="10854814" cy="193203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a:solidFill>
                  <a:schemeClr val="tx1"/>
                </a:solidFill>
              </a:rPr>
              <a:t>Problem 2. </a:t>
            </a:r>
          </a:p>
          <a:p>
            <a:pPr algn="ctr"/>
            <a:r>
              <a:rPr lang="en-US" sz="2000" dirty="0">
                <a:solidFill>
                  <a:schemeClr val="tx1"/>
                </a:solidFill>
              </a:rPr>
              <a:t>A trend of Y-o-Y increase in CPI (rural + urban) inflation starting 2017 for the entire basket of products combined.</a:t>
            </a:r>
          </a:p>
          <a:p>
            <a:pPr marL="342900" indent="-342900" algn="ctr">
              <a:buFont typeface="Arial" panose="020B0604020202020204" pitchFamily="34" charset="0"/>
              <a:buChar char="•"/>
            </a:pPr>
            <a:r>
              <a:rPr lang="en-US" sz="2000" dirty="0">
                <a:solidFill>
                  <a:schemeClr val="tx1"/>
                </a:solidFill>
              </a:rPr>
              <a:t>Create a graph depicting the growth rate Y-o-Y and identify the year with highest inflation rate</a:t>
            </a:r>
          </a:p>
          <a:p>
            <a:pPr marL="342900" indent="-342900" algn="ctr">
              <a:buFont typeface="Arial" panose="020B0604020202020204" pitchFamily="34" charset="0"/>
              <a:buChar char="•"/>
            </a:pPr>
            <a:r>
              <a:rPr lang="en-US" sz="2000" dirty="0">
                <a:solidFill>
                  <a:schemeClr val="tx1"/>
                </a:solidFill>
              </a:rPr>
              <a:t>Highlight the reason why the year has the highest inflation (based on research).</a:t>
            </a:r>
          </a:p>
        </p:txBody>
      </p:sp>
      <p:sp>
        <p:nvSpPr>
          <p:cNvPr id="6" name="TextBox 5">
            <a:extLst>
              <a:ext uri="{FF2B5EF4-FFF2-40B4-BE49-F238E27FC236}">
                <a16:creationId xmlns:a16="http://schemas.microsoft.com/office/drawing/2014/main" id="{22A2C805-D3C6-D07B-E57F-62C1A448A7C4}"/>
              </a:ext>
            </a:extLst>
          </p:cNvPr>
          <p:cNvSpPr txBox="1"/>
          <p:nvPr/>
        </p:nvSpPr>
        <p:spPr>
          <a:xfrm>
            <a:off x="835742" y="3972232"/>
            <a:ext cx="10687664" cy="646331"/>
          </a:xfrm>
          <a:prstGeom prst="rect">
            <a:avLst/>
          </a:prstGeom>
          <a:noFill/>
        </p:spPr>
        <p:txBody>
          <a:bodyPr wrap="square">
            <a:spAutoFit/>
          </a:bodyPr>
          <a:lstStyle/>
          <a:p>
            <a:pPr algn="ctr"/>
            <a:r>
              <a:rPr lang="en-IN" b="1" dirty="0"/>
              <a:t>Growth Trend:</a:t>
            </a:r>
          </a:p>
          <a:p>
            <a:r>
              <a:rPr lang="en-IN" dirty="0"/>
              <a:t>YoY Growth Rate = (Current Year Index − Previous Year Index) / Previous Year Index </a:t>
            </a:r>
          </a:p>
        </p:txBody>
      </p:sp>
    </p:spTree>
    <p:extLst>
      <p:ext uri="{BB962C8B-B14F-4D97-AF65-F5344CB8AC3E}">
        <p14:creationId xmlns:p14="http://schemas.microsoft.com/office/powerpoint/2010/main" val="8655753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FA64B1A-CF33-7CE8-ECCB-4F1BBEE873AC}"/>
              </a:ext>
            </a:extLst>
          </p:cNvPr>
          <p:cNvSpPr txBox="1"/>
          <p:nvPr/>
        </p:nvSpPr>
        <p:spPr>
          <a:xfrm>
            <a:off x="0" y="137653"/>
            <a:ext cx="12192000" cy="1446550"/>
          </a:xfrm>
          <a:prstGeom prst="rect">
            <a:avLst/>
          </a:prstGeom>
          <a:noFill/>
        </p:spPr>
        <p:txBody>
          <a:bodyPr wrap="square">
            <a:spAutoFit/>
          </a:bodyPr>
          <a:lstStyle/>
          <a:p>
            <a:pPr algn="ctr"/>
            <a:r>
              <a:rPr lang="en-IN" sz="4400" b="1" dirty="0">
                <a:ln w="0"/>
                <a:solidFill>
                  <a:schemeClr val="accent1"/>
                </a:solidFill>
                <a:effectLst>
                  <a:outerShdw blurRad="38100" dist="25400" dir="5400000" algn="ctr" rotWithShape="0">
                    <a:srgbClr val="6E747A">
                      <a:alpha val="43000"/>
                    </a:srgbClr>
                  </a:outerShdw>
                </a:effectLst>
              </a:rPr>
              <a:t>T</a:t>
            </a:r>
            <a:r>
              <a:rPr lang="en-US" sz="4400" b="1" dirty="0">
                <a:ln w="0"/>
                <a:solidFill>
                  <a:schemeClr val="accent1"/>
                </a:solidFill>
                <a:effectLst>
                  <a:outerShdw blurRad="38100" dist="25400" dir="5400000" algn="ctr" rotWithShape="0">
                    <a:srgbClr val="6E747A">
                      <a:alpha val="43000"/>
                    </a:srgbClr>
                  </a:outerShdw>
                </a:effectLst>
              </a:rPr>
              <a:t>rend</a:t>
            </a:r>
            <a:r>
              <a:rPr lang="en-US" sz="4400" dirty="0"/>
              <a:t> </a:t>
            </a:r>
            <a:r>
              <a:rPr lang="en-US" sz="4400" b="1" dirty="0">
                <a:ln w="0"/>
                <a:solidFill>
                  <a:schemeClr val="accent1"/>
                </a:solidFill>
                <a:effectLst>
                  <a:outerShdw blurRad="38100" dist="25400" dir="5400000" algn="ctr" rotWithShape="0">
                    <a:srgbClr val="6E747A">
                      <a:alpha val="43000"/>
                    </a:srgbClr>
                  </a:outerShdw>
                </a:effectLst>
              </a:rPr>
              <a:t>of Y-o-Y increase in CPI (rural + urban) inflation</a:t>
            </a:r>
            <a:endParaRPr lang="en-IN" sz="4400" dirty="0"/>
          </a:p>
        </p:txBody>
      </p:sp>
      <p:graphicFrame>
        <p:nvGraphicFramePr>
          <p:cNvPr id="9" name="Chart 8">
            <a:extLst>
              <a:ext uri="{FF2B5EF4-FFF2-40B4-BE49-F238E27FC236}">
                <a16:creationId xmlns:a16="http://schemas.microsoft.com/office/drawing/2014/main" id="{0BA2F0C2-FC5B-B8DB-0DA4-BE875D4CBC4C}"/>
              </a:ext>
            </a:extLst>
          </p:cNvPr>
          <p:cNvGraphicFramePr>
            <a:graphicFrameLocks/>
          </p:cNvGraphicFramePr>
          <p:nvPr>
            <p:extLst>
              <p:ext uri="{D42A27DB-BD31-4B8C-83A1-F6EECF244321}">
                <p14:modId xmlns:p14="http://schemas.microsoft.com/office/powerpoint/2010/main" val="1997436290"/>
              </p:ext>
            </p:extLst>
          </p:nvPr>
        </p:nvGraphicFramePr>
        <p:xfrm>
          <a:off x="506360" y="1811593"/>
          <a:ext cx="6740013" cy="431390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Table 13">
            <a:extLst>
              <a:ext uri="{FF2B5EF4-FFF2-40B4-BE49-F238E27FC236}">
                <a16:creationId xmlns:a16="http://schemas.microsoft.com/office/drawing/2014/main" id="{710DA4FE-4880-95BD-05A2-C698103640F9}"/>
              </a:ext>
            </a:extLst>
          </p:cNvPr>
          <p:cNvGraphicFramePr>
            <a:graphicFrameLocks noGrp="1"/>
          </p:cNvGraphicFramePr>
          <p:nvPr>
            <p:extLst>
              <p:ext uri="{D42A27DB-BD31-4B8C-83A1-F6EECF244321}">
                <p14:modId xmlns:p14="http://schemas.microsoft.com/office/powerpoint/2010/main" val="2760983430"/>
              </p:ext>
            </p:extLst>
          </p:nvPr>
        </p:nvGraphicFramePr>
        <p:xfrm>
          <a:off x="7367639" y="3793832"/>
          <a:ext cx="4214762" cy="2606968"/>
        </p:xfrm>
        <a:graphic>
          <a:graphicData uri="http://schemas.openxmlformats.org/drawingml/2006/table">
            <a:tbl>
              <a:tblPr/>
              <a:tblGrid>
                <a:gridCol w="1556589">
                  <a:extLst>
                    <a:ext uri="{9D8B030D-6E8A-4147-A177-3AD203B41FA5}">
                      <a16:colId xmlns:a16="http://schemas.microsoft.com/office/drawing/2014/main" val="190110091"/>
                    </a:ext>
                  </a:extLst>
                </a:gridCol>
                <a:gridCol w="2658173">
                  <a:extLst>
                    <a:ext uri="{9D8B030D-6E8A-4147-A177-3AD203B41FA5}">
                      <a16:colId xmlns:a16="http://schemas.microsoft.com/office/drawing/2014/main" val="1103392420"/>
                    </a:ext>
                  </a:extLst>
                </a:gridCol>
              </a:tblGrid>
              <a:tr h="372424">
                <a:tc>
                  <a:txBody>
                    <a:bodyPr/>
                    <a:lstStyle/>
                    <a:p>
                      <a:pPr algn="ctr" fontAlgn="ctr">
                        <a:buNone/>
                      </a:pPr>
                      <a:r>
                        <a:rPr lang="en-IN" sz="1100" b="1" i="0" u="none" strike="noStrike">
                          <a:solidFill>
                            <a:srgbClr val="FFFFFF"/>
                          </a:solidFill>
                          <a:effectLst/>
                          <a:latin typeface="Calibri" panose="020F0502020204030204" pitchFamily="34" charset="0"/>
                        </a:rPr>
                        <a:t>Year</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ctr">
                        <a:buNone/>
                      </a:pPr>
                      <a:r>
                        <a:rPr lang="en-IN" sz="1100" b="1" i="0" u="none" strike="noStrike">
                          <a:solidFill>
                            <a:srgbClr val="FFFFFF"/>
                          </a:solidFill>
                          <a:effectLst/>
                          <a:latin typeface="Calibri" panose="020F0502020204030204" pitchFamily="34" charset="0"/>
                        </a:rPr>
                        <a:t>Inflation Rate (YoY%)</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extLst>
                  <a:ext uri="{0D108BD9-81ED-4DB2-BD59-A6C34878D82A}">
                    <a16:rowId xmlns:a16="http://schemas.microsoft.com/office/drawing/2014/main" val="576709278"/>
                  </a:ext>
                </a:extLst>
              </a:tr>
              <a:tr h="372424">
                <a:tc>
                  <a:txBody>
                    <a:bodyPr/>
                    <a:lstStyle/>
                    <a:p>
                      <a:pPr algn="ctr" fontAlgn="ctr">
                        <a:buNone/>
                      </a:pPr>
                      <a:r>
                        <a:rPr lang="en-IN" sz="1100" b="0" i="0" u="none" strike="noStrike">
                          <a:solidFill>
                            <a:srgbClr val="000000"/>
                          </a:solidFill>
                          <a:effectLst/>
                          <a:latin typeface="Calibri" panose="020F0502020204030204" pitchFamily="34" charset="0"/>
                        </a:rPr>
                        <a:t>2017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5.30%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3005380297"/>
                  </a:ext>
                </a:extLst>
              </a:tr>
              <a:tr h="372424">
                <a:tc>
                  <a:txBody>
                    <a:bodyPr/>
                    <a:lstStyle/>
                    <a:p>
                      <a:pPr algn="ctr" fontAlgn="ctr">
                        <a:buNone/>
                      </a:pPr>
                      <a:r>
                        <a:rPr lang="en-IN" sz="1100" b="0" i="0" u="none" strike="noStrike">
                          <a:solidFill>
                            <a:srgbClr val="000000"/>
                          </a:solidFill>
                          <a:effectLst/>
                          <a:latin typeface="Calibri" panose="020F0502020204030204" pitchFamily="34" charset="0"/>
                        </a:rPr>
                        <a:t>2018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2.34%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34721425"/>
                  </a:ext>
                </a:extLst>
              </a:tr>
              <a:tr h="372424">
                <a:tc>
                  <a:txBody>
                    <a:bodyPr/>
                    <a:lstStyle/>
                    <a:p>
                      <a:pPr algn="ctr" fontAlgn="ctr">
                        <a:buNone/>
                      </a:pPr>
                      <a:r>
                        <a:rPr lang="en-IN" sz="1100" b="0" i="0" u="none" strike="noStrike">
                          <a:solidFill>
                            <a:srgbClr val="000000"/>
                          </a:solidFill>
                          <a:effectLst/>
                          <a:latin typeface="Calibri" panose="020F0502020204030204" pitchFamily="34" charset="0"/>
                        </a:rPr>
                        <a:t>2019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7.74%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2143372128"/>
                  </a:ext>
                </a:extLst>
              </a:tr>
              <a:tr h="372424">
                <a:tc>
                  <a:txBody>
                    <a:bodyPr/>
                    <a:lstStyle/>
                    <a:p>
                      <a:pPr algn="ctr" fontAlgn="ctr">
                        <a:buNone/>
                      </a:pPr>
                      <a:r>
                        <a:rPr lang="en-IN" sz="1100" b="0" i="0" u="none" strike="noStrike">
                          <a:solidFill>
                            <a:srgbClr val="000000"/>
                          </a:solidFill>
                          <a:effectLst/>
                          <a:latin typeface="Calibri" panose="020F0502020204030204" pitchFamily="34" charset="0"/>
                        </a:rPr>
                        <a:t>2020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5.79%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54692755"/>
                  </a:ext>
                </a:extLst>
              </a:tr>
              <a:tr h="372424">
                <a:tc>
                  <a:txBody>
                    <a:bodyPr/>
                    <a:lstStyle/>
                    <a:p>
                      <a:pPr algn="ctr" fontAlgn="ctr">
                        <a:buNone/>
                      </a:pPr>
                      <a:r>
                        <a:rPr lang="en-IN" sz="1100" b="0" i="0" u="none" strike="noStrike">
                          <a:solidFill>
                            <a:srgbClr val="000000"/>
                          </a:solidFill>
                          <a:effectLst/>
                          <a:latin typeface="Calibri" panose="020F0502020204030204" pitchFamily="34" charset="0"/>
                        </a:rPr>
                        <a:t>2021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5.66%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3298238808"/>
                  </a:ext>
                </a:extLst>
              </a:tr>
              <a:tr h="372424">
                <a:tc>
                  <a:txBody>
                    <a:bodyPr/>
                    <a:lstStyle/>
                    <a:p>
                      <a:pPr algn="ctr" fontAlgn="ctr">
                        <a:buNone/>
                      </a:pPr>
                      <a:r>
                        <a:rPr lang="en-IN" sz="1100" b="0" i="0" u="none" strike="noStrike">
                          <a:solidFill>
                            <a:srgbClr val="000000"/>
                          </a:solidFill>
                          <a:effectLst/>
                          <a:latin typeface="Calibri" panose="020F0502020204030204" pitchFamily="34" charset="0"/>
                        </a:rPr>
                        <a:t>2022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100" b="0" i="0" u="none" strike="noStrike" dirty="0">
                          <a:solidFill>
                            <a:srgbClr val="000000"/>
                          </a:solidFill>
                          <a:effectLst/>
                          <a:latin typeface="Calibri" panose="020F0502020204030204" pitchFamily="34" charset="0"/>
                        </a:rPr>
                        <a:t>6.04%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14101404"/>
                  </a:ext>
                </a:extLst>
              </a:tr>
            </a:tbl>
          </a:graphicData>
        </a:graphic>
      </p:graphicFrame>
    </p:spTree>
    <p:extLst>
      <p:ext uri="{BB962C8B-B14F-4D97-AF65-F5344CB8AC3E}">
        <p14:creationId xmlns:p14="http://schemas.microsoft.com/office/powerpoint/2010/main" val="15473179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able 13">
            <a:extLst>
              <a:ext uri="{FF2B5EF4-FFF2-40B4-BE49-F238E27FC236}">
                <a16:creationId xmlns:a16="http://schemas.microsoft.com/office/drawing/2014/main" id="{55738E35-88EB-8ED5-020E-2D8DEC67B2FD}"/>
              </a:ext>
            </a:extLst>
          </p:cNvPr>
          <p:cNvGraphicFramePr>
            <a:graphicFrameLocks noGrp="1"/>
          </p:cNvGraphicFramePr>
          <p:nvPr>
            <p:extLst>
              <p:ext uri="{D42A27DB-BD31-4B8C-83A1-F6EECF244321}">
                <p14:modId xmlns:p14="http://schemas.microsoft.com/office/powerpoint/2010/main" val="2732663937"/>
              </p:ext>
            </p:extLst>
          </p:nvPr>
        </p:nvGraphicFramePr>
        <p:xfrm>
          <a:off x="648928" y="1917289"/>
          <a:ext cx="4837471" cy="4129552"/>
        </p:xfrm>
        <a:graphic>
          <a:graphicData uri="http://schemas.openxmlformats.org/drawingml/2006/table">
            <a:tbl>
              <a:tblPr/>
              <a:tblGrid>
                <a:gridCol w="3065328">
                  <a:extLst>
                    <a:ext uri="{9D8B030D-6E8A-4147-A177-3AD203B41FA5}">
                      <a16:colId xmlns:a16="http://schemas.microsoft.com/office/drawing/2014/main" val="2620899762"/>
                    </a:ext>
                  </a:extLst>
                </a:gridCol>
                <a:gridCol w="1772143">
                  <a:extLst>
                    <a:ext uri="{9D8B030D-6E8A-4147-A177-3AD203B41FA5}">
                      <a16:colId xmlns:a16="http://schemas.microsoft.com/office/drawing/2014/main" val="3758023741"/>
                    </a:ext>
                  </a:extLst>
                </a:gridCol>
              </a:tblGrid>
              <a:tr h="294968">
                <a:tc>
                  <a:txBody>
                    <a:bodyPr/>
                    <a:lstStyle/>
                    <a:p>
                      <a:pPr algn="ctr" fontAlgn="ctr">
                        <a:buNone/>
                      </a:pPr>
                      <a:r>
                        <a:rPr lang="en-IN" sz="1100" b="1" i="0" u="none" strike="noStrike">
                          <a:solidFill>
                            <a:srgbClr val="FFFFFF"/>
                          </a:solidFill>
                          <a:effectLst/>
                          <a:latin typeface="Calibri" panose="020F0502020204030204" pitchFamily="34" charset="0"/>
                        </a:rPr>
                        <a:t>New Category mapped</a:t>
                      </a:r>
                    </a:p>
                  </a:txBody>
                  <a:tcPr marL="7620" marR="7620" marT="762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ctr" fontAlgn="ctr">
                        <a:buNone/>
                      </a:pPr>
                      <a:r>
                        <a:rPr lang="en-IN" sz="1100" b="1" i="0" u="none" strike="noStrike" dirty="0">
                          <a:solidFill>
                            <a:srgbClr val="FFFFFF"/>
                          </a:solidFill>
                          <a:effectLst/>
                          <a:latin typeface="Calibri" panose="020F0502020204030204" pitchFamily="34" charset="0"/>
                        </a:rPr>
                        <a:t>Inflation rate</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extLst>
                  <a:ext uri="{0D108BD9-81ED-4DB2-BD59-A6C34878D82A}">
                    <a16:rowId xmlns:a16="http://schemas.microsoft.com/office/drawing/2014/main" val="244310990"/>
                  </a:ext>
                </a:extLst>
              </a:tr>
              <a:tr h="294968">
                <a:tc>
                  <a:txBody>
                    <a:bodyPr/>
                    <a:lstStyle/>
                    <a:p>
                      <a:pPr algn="ctr" fontAlgn="ctr">
                        <a:buNone/>
                      </a:pPr>
                      <a:r>
                        <a:rPr lang="en-IN" sz="1100" b="0" i="0" u="none" strike="noStrike">
                          <a:solidFill>
                            <a:srgbClr val="000000"/>
                          </a:solidFill>
                          <a:effectLst/>
                          <a:latin typeface="Calibri" panose="020F0502020204030204" pitchFamily="34" charset="0"/>
                        </a:rPr>
                        <a:t>Food</a:t>
                      </a:r>
                    </a:p>
                  </a:txBody>
                  <a:tcPr marL="7620" marR="7620" marT="762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143.0%</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3637359997"/>
                  </a:ext>
                </a:extLst>
              </a:tr>
              <a:tr h="294968">
                <a:tc>
                  <a:txBody>
                    <a:bodyPr/>
                    <a:lstStyle/>
                    <a:p>
                      <a:pPr algn="ctr" fontAlgn="ctr">
                        <a:buNone/>
                      </a:pPr>
                      <a:r>
                        <a:rPr lang="en-IN" sz="1100" b="0" i="0" u="none" strike="noStrike">
                          <a:solidFill>
                            <a:srgbClr val="000000"/>
                          </a:solidFill>
                          <a:effectLst/>
                          <a:latin typeface="Calibri" panose="020F0502020204030204" pitchFamily="34" charset="0"/>
                        </a:rPr>
                        <a:t>GI</a:t>
                      </a:r>
                    </a:p>
                  </a:txBody>
                  <a:tcPr marL="7620" marR="7620" marT="762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7.7%</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3355393915"/>
                  </a:ext>
                </a:extLst>
              </a:tr>
              <a:tr h="294968">
                <a:tc>
                  <a:txBody>
                    <a:bodyPr/>
                    <a:lstStyle/>
                    <a:p>
                      <a:pPr algn="ctr" fontAlgn="ctr">
                        <a:buNone/>
                      </a:pPr>
                      <a:r>
                        <a:rPr lang="en-IN" sz="1100" b="0" i="0" u="none" strike="noStrike">
                          <a:solidFill>
                            <a:srgbClr val="000000"/>
                          </a:solidFill>
                          <a:effectLst/>
                          <a:latin typeface="Calibri" panose="020F0502020204030204" pitchFamily="34" charset="0"/>
                        </a:rPr>
                        <a:t>Personal care and effects</a:t>
                      </a:r>
                    </a:p>
                  </a:txBody>
                  <a:tcPr marL="7620" marR="7620" marT="762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5.7%</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3136921511"/>
                  </a:ext>
                </a:extLst>
              </a:tr>
              <a:tr h="294968">
                <a:tc>
                  <a:txBody>
                    <a:bodyPr/>
                    <a:lstStyle/>
                    <a:p>
                      <a:pPr algn="ctr" fontAlgn="ctr">
                        <a:buNone/>
                      </a:pPr>
                      <a:r>
                        <a:rPr lang="en-IN" sz="1100" b="0" i="0" u="none" strike="noStrike">
                          <a:solidFill>
                            <a:srgbClr val="000000"/>
                          </a:solidFill>
                          <a:effectLst/>
                          <a:latin typeface="Calibri" panose="020F0502020204030204" pitchFamily="34" charset="0"/>
                        </a:rPr>
                        <a:t>Transport</a:t>
                      </a:r>
                    </a:p>
                  </a:txBody>
                  <a:tcPr marL="7620" marR="7620" marT="762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5.3%</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3117658198"/>
                  </a:ext>
                </a:extLst>
              </a:tr>
              <a:tr h="294968">
                <a:tc>
                  <a:txBody>
                    <a:bodyPr/>
                    <a:lstStyle/>
                    <a:p>
                      <a:pPr algn="ctr" fontAlgn="ctr">
                        <a:buNone/>
                      </a:pPr>
                      <a:r>
                        <a:rPr lang="en-IN" sz="1100" b="0" i="0" u="none" strike="noStrike">
                          <a:solidFill>
                            <a:srgbClr val="000000"/>
                          </a:solidFill>
                          <a:effectLst/>
                          <a:latin typeface="Calibri" panose="020F0502020204030204" pitchFamily="34" charset="0"/>
                        </a:rPr>
                        <a:t>Recreation and amusement</a:t>
                      </a:r>
                    </a:p>
                  </a:txBody>
                  <a:tcPr marL="7620" marR="7620" marT="762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4.1%</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1928946915"/>
                  </a:ext>
                </a:extLst>
              </a:tr>
              <a:tr h="294968">
                <a:tc>
                  <a:txBody>
                    <a:bodyPr/>
                    <a:lstStyle/>
                    <a:p>
                      <a:pPr algn="ctr" fontAlgn="ctr">
                        <a:buNone/>
                      </a:pPr>
                      <a:r>
                        <a:rPr lang="en-IN" sz="1100" b="0" i="0" u="none" strike="noStrike">
                          <a:solidFill>
                            <a:srgbClr val="000000"/>
                          </a:solidFill>
                          <a:effectLst/>
                          <a:latin typeface="Calibri" panose="020F0502020204030204" pitchFamily="34" charset="0"/>
                        </a:rPr>
                        <a:t>Misc</a:t>
                      </a:r>
                    </a:p>
                  </a:txBody>
                  <a:tcPr marL="7620" marR="7620" marT="762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4.1%</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2015701341"/>
                  </a:ext>
                </a:extLst>
              </a:tr>
              <a:tr h="294968">
                <a:tc>
                  <a:txBody>
                    <a:bodyPr/>
                    <a:lstStyle/>
                    <a:p>
                      <a:pPr algn="ctr" fontAlgn="ctr">
                        <a:buNone/>
                      </a:pPr>
                      <a:r>
                        <a:rPr lang="en-IN" sz="1100" b="0" i="0" u="none" strike="noStrike">
                          <a:solidFill>
                            <a:srgbClr val="000000"/>
                          </a:solidFill>
                          <a:effectLst/>
                          <a:latin typeface="Calibri" panose="020F0502020204030204" pitchFamily="34" charset="0"/>
                        </a:rPr>
                        <a:t>Education</a:t>
                      </a:r>
                    </a:p>
                  </a:txBody>
                  <a:tcPr marL="7620" marR="7620" marT="762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3.7%</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2583621736"/>
                  </a:ext>
                </a:extLst>
              </a:tr>
              <a:tr h="294968">
                <a:tc>
                  <a:txBody>
                    <a:bodyPr/>
                    <a:lstStyle/>
                    <a:p>
                      <a:pPr algn="ctr" fontAlgn="ctr">
                        <a:buNone/>
                      </a:pPr>
                      <a:r>
                        <a:rPr lang="en-IN" sz="1100" b="0" i="0" u="none" strike="noStrike">
                          <a:solidFill>
                            <a:srgbClr val="000000"/>
                          </a:solidFill>
                          <a:effectLst/>
                          <a:latin typeface="Calibri" panose="020F0502020204030204" pitchFamily="34" charset="0"/>
                        </a:rPr>
                        <a:t>Health</a:t>
                      </a:r>
                    </a:p>
                  </a:txBody>
                  <a:tcPr marL="7620" marR="7620" marT="762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3.7%</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2357002642"/>
                  </a:ext>
                </a:extLst>
              </a:tr>
              <a:tr h="294968">
                <a:tc>
                  <a:txBody>
                    <a:bodyPr/>
                    <a:lstStyle/>
                    <a:p>
                      <a:pPr algn="ctr" fontAlgn="ctr">
                        <a:buNone/>
                      </a:pPr>
                      <a:r>
                        <a:rPr lang="en-IN" sz="1100" b="0" i="0" u="none" strike="noStrike">
                          <a:solidFill>
                            <a:srgbClr val="000000"/>
                          </a:solidFill>
                          <a:effectLst/>
                          <a:latin typeface="Calibri" panose="020F0502020204030204" pitchFamily="34" charset="0"/>
                        </a:rPr>
                        <a:t>Housing</a:t>
                      </a:r>
                    </a:p>
                  </a:txBody>
                  <a:tcPr marL="7620" marR="7620" marT="762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5.0%</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924088583"/>
                  </a:ext>
                </a:extLst>
              </a:tr>
              <a:tr h="294968">
                <a:tc>
                  <a:txBody>
                    <a:bodyPr/>
                    <a:lstStyle/>
                    <a:p>
                      <a:pPr algn="ctr" fontAlgn="ctr">
                        <a:buNone/>
                      </a:pPr>
                      <a:r>
                        <a:rPr lang="en-IN" sz="1100" b="0" i="0" u="none" strike="noStrike">
                          <a:solidFill>
                            <a:srgbClr val="000000"/>
                          </a:solidFill>
                          <a:effectLst/>
                          <a:latin typeface="Calibri" panose="020F0502020204030204" pitchFamily="34" charset="0"/>
                        </a:rPr>
                        <a:t>Luxury</a:t>
                      </a:r>
                    </a:p>
                  </a:txBody>
                  <a:tcPr marL="7620" marR="7620" marT="762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5.1%</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437068446"/>
                  </a:ext>
                </a:extLst>
              </a:tr>
              <a:tr h="294968">
                <a:tc>
                  <a:txBody>
                    <a:bodyPr/>
                    <a:lstStyle/>
                    <a:p>
                      <a:pPr algn="ctr" fontAlgn="ctr">
                        <a:buNone/>
                      </a:pPr>
                      <a:r>
                        <a:rPr lang="en-IN" sz="1100" b="0" i="0" u="none" strike="noStrike">
                          <a:solidFill>
                            <a:srgbClr val="000000"/>
                          </a:solidFill>
                          <a:effectLst/>
                          <a:latin typeface="Calibri" panose="020F0502020204030204" pitchFamily="34" charset="0"/>
                        </a:rPr>
                        <a:t>Fuel and light</a:t>
                      </a:r>
                    </a:p>
                  </a:txBody>
                  <a:tcPr marL="7620" marR="7620" marT="762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3.0%</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276152879"/>
                  </a:ext>
                </a:extLst>
              </a:tr>
              <a:tr h="294968">
                <a:tc>
                  <a:txBody>
                    <a:bodyPr/>
                    <a:lstStyle/>
                    <a:p>
                      <a:pPr algn="ctr" fontAlgn="ctr">
                        <a:buNone/>
                      </a:pPr>
                      <a:r>
                        <a:rPr lang="en-IN" sz="1100" b="0" i="0" u="none" strike="noStrike">
                          <a:solidFill>
                            <a:srgbClr val="000000"/>
                          </a:solidFill>
                          <a:effectLst/>
                          <a:latin typeface="Calibri" panose="020F0502020204030204" pitchFamily="34" charset="0"/>
                        </a:rPr>
                        <a:t>Apparel</a:t>
                      </a:r>
                    </a:p>
                  </a:txBody>
                  <a:tcPr marL="7620" marR="7620" marT="762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5.3%</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1563605968"/>
                  </a:ext>
                </a:extLst>
              </a:tr>
              <a:tr h="294968">
                <a:tc>
                  <a:txBody>
                    <a:bodyPr/>
                    <a:lstStyle/>
                    <a:p>
                      <a:pPr algn="ctr" fontAlgn="ctr">
                        <a:buNone/>
                      </a:pPr>
                      <a:r>
                        <a:rPr lang="en-IN" sz="1100" b="1" i="0" u="none" strike="noStrike">
                          <a:solidFill>
                            <a:srgbClr val="000000"/>
                          </a:solidFill>
                          <a:effectLst/>
                          <a:latin typeface="Calibri" panose="020F0502020204030204" pitchFamily="34" charset="0"/>
                        </a:rPr>
                        <a:t>Grand Total</a:t>
                      </a:r>
                    </a:p>
                  </a:txBody>
                  <a:tcPr marL="7620" marR="7620" marT="762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1" i="0" u="none" strike="noStrike" dirty="0">
                          <a:solidFill>
                            <a:srgbClr val="000000"/>
                          </a:solidFill>
                          <a:effectLst/>
                          <a:latin typeface="Calibri" panose="020F0502020204030204" pitchFamily="34" charset="0"/>
                        </a:rPr>
                        <a:t>195.6%</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15022491"/>
                  </a:ext>
                </a:extLst>
              </a:tr>
            </a:tbl>
          </a:graphicData>
        </a:graphic>
      </p:graphicFrame>
      <p:graphicFrame>
        <p:nvGraphicFramePr>
          <p:cNvPr id="16" name="Table 15">
            <a:extLst>
              <a:ext uri="{FF2B5EF4-FFF2-40B4-BE49-F238E27FC236}">
                <a16:creationId xmlns:a16="http://schemas.microsoft.com/office/drawing/2014/main" id="{069B1A06-7DB5-23A5-FBA6-D7A26A7F4ED3}"/>
              </a:ext>
            </a:extLst>
          </p:cNvPr>
          <p:cNvGraphicFramePr>
            <a:graphicFrameLocks noGrp="1"/>
          </p:cNvGraphicFramePr>
          <p:nvPr>
            <p:extLst>
              <p:ext uri="{D42A27DB-BD31-4B8C-83A1-F6EECF244321}">
                <p14:modId xmlns:p14="http://schemas.microsoft.com/office/powerpoint/2010/main" val="3944989733"/>
              </p:ext>
            </p:extLst>
          </p:nvPr>
        </p:nvGraphicFramePr>
        <p:xfrm>
          <a:off x="5896281" y="1917289"/>
          <a:ext cx="5813937" cy="4129548"/>
        </p:xfrm>
        <a:graphic>
          <a:graphicData uri="http://schemas.openxmlformats.org/drawingml/2006/table">
            <a:tbl>
              <a:tblPr/>
              <a:tblGrid>
                <a:gridCol w="2318330">
                  <a:extLst>
                    <a:ext uri="{9D8B030D-6E8A-4147-A177-3AD203B41FA5}">
                      <a16:colId xmlns:a16="http://schemas.microsoft.com/office/drawing/2014/main" val="3469048981"/>
                    </a:ext>
                  </a:extLst>
                </a:gridCol>
                <a:gridCol w="1340285">
                  <a:extLst>
                    <a:ext uri="{9D8B030D-6E8A-4147-A177-3AD203B41FA5}">
                      <a16:colId xmlns:a16="http://schemas.microsoft.com/office/drawing/2014/main" val="209456295"/>
                    </a:ext>
                  </a:extLst>
                </a:gridCol>
                <a:gridCol w="2155322">
                  <a:extLst>
                    <a:ext uri="{9D8B030D-6E8A-4147-A177-3AD203B41FA5}">
                      <a16:colId xmlns:a16="http://schemas.microsoft.com/office/drawing/2014/main" val="1409455096"/>
                    </a:ext>
                  </a:extLst>
                </a:gridCol>
              </a:tblGrid>
              <a:tr h="297625">
                <a:tc>
                  <a:txBody>
                    <a:bodyPr/>
                    <a:lstStyle/>
                    <a:p>
                      <a:pPr algn="ctr" fontAlgn="ctr">
                        <a:buNone/>
                      </a:pPr>
                      <a:r>
                        <a:rPr lang="en-IN" sz="1100" b="1" i="0" u="none" strike="noStrike">
                          <a:solidFill>
                            <a:srgbClr val="FFFFFF"/>
                          </a:solidFill>
                          <a:effectLst/>
                          <a:latin typeface="Calibri" panose="020F0502020204030204" pitchFamily="34" charset="0"/>
                        </a:rPr>
                        <a:t>Category</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ctr">
                        <a:buNone/>
                      </a:pPr>
                      <a:r>
                        <a:rPr lang="en-IN" sz="1100" b="1" i="0" u="none" strike="noStrike">
                          <a:solidFill>
                            <a:srgbClr val="FFFFFF"/>
                          </a:solidFill>
                          <a:effectLst/>
                          <a:latin typeface="Calibri" panose="020F0502020204030204" pitchFamily="34" charset="0"/>
                        </a:rPr>
                        <a:t>Inflation rate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tc>
                  <a:txBody>
                    <a:bodyPr/>
                    <a:lstStyle/>
                    <a:p>
                      <a:pPr algn="ctr" fontAlgn="ctr">
                        <a:buNone/>
                      </a:pPr>
                      <a:r>
                        <a:rPr lang="en-IN" sz="1100" b="1" i="0" u="none" strike="noStrike">
                          <a:solidFill>
                            <a:srgbClr val="FFFFFF"/>
                          </a:solidFill>
                          <a:effectLst/>
                          <a:latin typeface="Calibri" panose="020F0502020204030204" pitchFamily="34" charset="0"/>
                        </a:rPr>
                        <a:t>New Category mapped</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472C4"/>
                    </a:solidFill>
                  </a:tcPr>
                </a:tc>
                <a:extLst>
                  <a:ext uri="{0D108BD9-81ED-4DB2-BD59-A6C34878D82A}">
                    <a16:rowId xmlns:a16="http://schemas.microsoft.com/office/drawing/2014/main" val="1023837142"/>
                  </a:ext>
                </a:extLst>
              </a:tr>
              <a:tr h="297625">
                <a:tc>
                  <a:txBody>
                    <a:bodyPr/>
                    <a:lstStyle/>
                    <a:p>
                      <a:pPr algn="ctr" fontAlgn="ctr">
                        <a:buNone/>
                      </a:pPr>
                      <a:r>
                        <a:rPr lang="en-IN" sz="1100" b="0" i="0" u="none" strike="noStrike">
                          <a:solidFill>
                            <a:srgbClr val="000000"/>
                          </a:solidFill>
                          <a:effectLst/>
                          <a:latin typeface="Calibri" panose="020F0502020204030204" pitchFamily="34" charset="0"/>
                        </a:rPr>
                        <a:t>Vegetables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65.27%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Food</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2150521057"/>
                  </a:ext>
                </a:extLst>
              </a:tr>
              <a:tr h="297625">
                <a:tc>
                  <a:txBody>
                    <a:bodyPr/>
                    <a:lstStyle/>
                    <a:p>
                      <a:pPr algn="ctr" fontAlgn="ctr">
                        <a:buNone/>
                      </a:pPr>
                      <a:r>
                        <a:rPr lang="en-IN" sz="1100" b="0" i="0" u="none" strike="noStrike">
                          <a:solidFill>
                            <a:srgbClr val="000000"/>
                          </a:solidFill>
                          <a:effectLst/>
                          <a:latin typeface="Calibri" panose="020F0502020204030204" pitchFamily="34" charset="0"/>
                        </a:rPr>
                        <a:t>Pulses and products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14.96%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Food</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80530132"/>
                  </a:ext>
                </a:extLst>
              </a:tr>
              <a:tr h="297625">
                <a:tc>
                  <a:txBody>
                    <a:bodyPr/>
                    <a:lstStyle/>
                    <a:p>
                      <a:pPr algn="ctr" fontAlgn="ctr">
                        <a:buNone/>
                      </a:pPr>
                      <a:r>
                        <a:rPr lang="en-IN" sz="1100" b="0" i="0" u="none" strike="noStrike">
                          <a:solidFill>
                            <a:srgbClr val="000000"/>
                          </a:solidFill>
                          <a:effectLst/>
                          <a:latin typeface="Calibri" panose="020F0502020204030204" pitchFamily="34" charset="0"/>
                        </a:rPr>
                        <a:t>Food and beverages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12.81%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Food</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449232151"/>
                  </a:ext>
                </a:extLst>
              </a:tr>
              <a:tr h="297625">
                <a:tc>
                  <a:txBody>
                    <a:bodyPr/>
                    <a:lstStyle/>
                    <a:p>
                      <a:pPr algn="ctr" fontAlgn="ctr">
                        <a:buNone/>
                      </a:pPr>
                      <a:r>
                        <a:rPr lang="en-IN" sz="1100" b="0" i="0" u="none" strike="noStrike">
                          <a:solidFill>
                            <a:srgbClr val="000000"/>
                          </a:solidFill>
                          <a:effectLst/>
                          <a:latin typeface="Calibri" panose="020F0502020204030204" pitchFamily="34" charset="0"/>
                        </a:rPr>
                        <a:t>Meat and fish</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8.98%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Food</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59386123"/>
                  </a:ext>
                </a:extLst>
              </a:tr>
              <a:tr h="297625">
                <a:tc>
                  <a:txBody>
                    <a:bodyPr/>
                    <a:lstStyle/>
                    <a:p>
                      <a:pPr algn="ctr" fontAlgn="ctr">
                        <a:buNone/>
                      </a:pPr>
                      <a:r>
                        <a:rPr lang="en-IN" sz="1100" b="0" i="0" u="none" strike="noStrike">
                          <a:solidFill>
                            <a:srgbClr val="000000"/>
                          </a:solidFill>
                          <a:effectLst/>
                          <a:latin typeface="Calibri" panose="020F0502020204030204" pitchFamily="34" charset="0"/>
                        </a:rPr>
                        <a:t>Egg</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7.77%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Food</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640795283"/>
                  </a:ext>
                </a:extLst>
              </a:tr>
              <a:tr h="297625">
                <a:tc>
                  <a:txBody>
                    <a:bodyPr/>
                    <a:lstStyle/>
                    <a:p>
                      <a:pPr algn="ctr" fontAlgn="ctr">
                        <a:buNone/>
                      </a:pPr>
                      <a:r>
                        <a:rPr lang="en-IN" sz="1100" b="0" i="0" u="none" strike="noStrike">
                          <a:solidFill>
                            <a:srgbClr val="000000"/>
                          </a:solidFill>
                          <a:effectLst/>
                          <a:latin typeface="Calibri" panose="020F0502020204030204" pitchFamily="34" charset="0"/>
                        </a:rPr>
                        <a:t>Fruits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7.61%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Food</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71698889"/>
                  </a:ext>
                </a:extLst>
              </a:tr>
              <a:tr h="297625">
                <a:tc>
                  <a:txBody>
                    <a:bodyPr/>
                    <a:lstStyle/>
                    <a:p>
                      <a:pPr algn="ctr" fontAlgn="ctr">
                        <a:buNone/>
                      </a:pPr>
                      <a:r>
                        <a:rPr lang="en-IN" sz="1100" b="0" i="0" u="none" strike="noStrike">
                          <a:solidFill>
                            <a:srgbClr val="000000"/>
                          </a:solidFill>
                          <a:effectLst/>
                          <a:latin typeface="Calibri" panose="020F0502020204030204" pitchFamily="34" charset="0"/>
                        </a:rPr>
                        <a:t>Spices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6.67%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Food</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2306105804"/>
                  </a:ext>
                </a:extLst>
              </a:tr>
              <a:tr h="297625">
                <a:tc>
                  <a:txBody>
                    <a:bodyPr/>
                    <a:lstStyle/>
                    <a:p>
                      <a:pPr algn="ctr" fontAlgn="ctr">
                        <a:buNone/>
                      </a:pPr>
                      <a:r>
                        <a:rPr lang="en-IN" sz="1100" b="0" i="0" u="none" strike="noStrike">
                          <a:solidFill>
                            <a:srgbClr val="000000"/>
                          </a:solidFill>
                          <a:effectLst/>
                          <a:latin typeface="Calibri" panose="020F0502020204030204" pitchFamily="34" charset="0"/>
                        </a:rPr>
                        <a:t>Cereals and products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4.67%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Food</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36826644"/>
                  </a:ext>
                </a:extLst>
              </a:tr>
              <a:tr h="297625">
                <a:tc>
                  <a:txBody>
                    <a:bodyPr/>
                    <a:lstStyle/>
                    <a:p>
                      <a:pPr algn="ctr" fontAlgn="ctr">
                        <a:buNone/>
                      </a:pPr>
                      <a:r>
                        <a:rPr lang="en-IN" sz="1100" b="0" i="0" u="none" strike="noStrike">
                          <a:solidFill>
                            <a:srgbClr val="000000"/>
                          </a:solidFill>
                          <a:effectLst/>
                          <a:latin typeface="Calibri" panose="020F0502020204030204" pitchFamily="34" charset="0"/>
                        </a:rPr>
                        <a:t>Sugar and Confectionery</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4.49%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Food</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772112702"/>
                  </a:ext>
                </a:extLst>
              </a:tr>
              <a:tr h="297625">
                <a:tc>
                  <a:txBody>
                    <a:bodyPr/>
                    <a:lstStyle/>
                    <a:p>
                      <a:pPr algn="ctr" fontAlgn="ctr">
                        <a:buNone/>
                      </a:pPr>
                      <a:r>
                        <a:rPr lang="en-IN" sz="1100" b="0" i="0" u="none" strike="noStrike">
                          <a:solidFill>
                            <a:srgbClr val="000000"/>
                          </a:solidFill>
                          <a:effectLst/>
                          <a:latin typeface="Calibri" panose="020F0502020204030204" pitchFamily="34" charset="0"/>
                        </a:rPr>
                        <a:t>Milk and products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4.36%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Food</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08612746"/>
                  </a:ext>
                </a:extLst>
              </a:tr>
              <a:tr h="297625">
                <a:tc>
                  <a:txBody>
                    <a:bodyPr/>
                    <a:lstStyle/>
                    <a:p>
                      <a:pPr algn="ctr" fontAlgn="ctr">
                        <a:buNone/>
                      </a:pPr>
                      <a:r>
                        <a:rPr lang="en-IN" sz="1100" b="0" i="0" u="none" strike="noStrike">
                          <a:solidFill>
                            <a:srgbClr val="000000"/>
                          </a:solidFill>
                          <a:effectLst/>
                          <a:latin typeface="Calibri" panose="020F0502020204030204" pitchFamily="34" charset="0"/>
                        </a:rPr>
                        <a:t>Oils and fats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3.20%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Food</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2"/>
                    </a:solidFill>
                  </a:tcPr>
                </a:tc>
                <a:extLst>
                  <a:ext uri="{0D108BD9-81ED-4DB2-BD59-A6C34878D82A}">
                    <a16:rowId xmlns:a16="http://schemas.microsoft.com/office/drawing/2014/main" val="3714438906"/>
                  </a:ext>
                </a:extLst>
              </a:tr>
              <a:tr h="558048">
                <a:tc>
                  <a:txBody>
                    <a:bodyPr/>
                    <a:lstStyle/>
                    <a:p>
                      <a:pPr algn="ctr" fontAlgn="ctr">
                        <a:buNone/>
                      </a:pPr>
                      <a:r>
                        <a:rPr lang="en-US" sz="1100" b="0" i="0" u="none" strike="noStrike">
                          <a:solidFill>
                            <a:srgbClr val="000000"/>
                          </a:solidFill>
                          <a:effectLst/>
                          <a:latin typeface="Calibri" panose="020F0502020204030204" pitchFamily="34" charset="0"/>
                        </a:rPr>
                        <a:t>Prepared meals, snacks, sweets etc.</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2.20%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100" b="0" i="0" u="none" strike="noStrike" dirty="0">
                          <a:solidFill>
                            <a:srgbClr val="000000"/>
                          </a:solidFill>
                          <a:effectLst/>
                          <a:latin typeface="Calibri" panose="020F0502020204030204" pitchFamily="34" charset="0"/>
                        </a:rPr>
                        <a:t>Food</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86136124"/>
                  </a:ext>
                </a:extLst>
              </a:tr>
            </a:tbl>
          </a:graphicData>
        </a:graphic>
      </p:graphicFrame>
      <p:sp>
        <p:nvSpPr>
          <p:cNvPr id="2" name="Rectangle 1">
            <a:extLst>
              <a:ext uri="{FF2B5EF4-FFF2-40B4-BE49-F238E27FC236}">
                <a16:creationId xmlns:a16="http://schemas.microsoft.com/office/drawing/2014/main" id="{BA8B2C62-D67D-3B7A-5213-C3A1398A2CA7}"/>
              </a:ext>
            </a:extLst>
          </p:cNvPr>
          <p:cNvSpPr/>
          <p:nvPr/>
        </p:nvSpPr>
        <p:spPr>
          <a:xfrm>
            <a:off x="468874" y="501444"/>
            <a:ext cx="11241344" cy="96356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US" b="1" dirty="0"/>
              <a:t>Business Insight: </a:t>
            </a:r>
            <a:r>
              <a:rPr lang="en-US" dirty="0"/>
              <a:t>2019 witnessed peak inflation (7.74%) primarily due to sharp food price surge, especially vegetables (65.27%), pulses, and food &amp; beverages. This indicates supply-side pressure in essential commodities.</a:t>
            </a:r>
            <a:endParaRPr lang="en-US" dirty="0">
              <a:solidFill>
                <a:schemeClr val="tx1"/>
              </a:solidFill>
            </a:endParaRPr>
          </a:p>
        </p:txBody>
      </p:sp>
    </p:spTree>
    <p:extLst>
      <p:ext uri="{BB962C8B-B14F-4D97-AF65-F5344CB8AC3E}">
        <p14:creationId xmlns:p14="http://schemas.microsoft.com/office/powerpoint/2010/main" val="40438791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1C14B-5AD6-9C41-629A-A733DE6154E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85FABC2-4590-C38D-E097-BC252EDCB24A}"/>
              </a:ext>
            </a:extLst>
          </p:cNvPr>
          <p:cNvSpPr/>
          <p:nvPr/>
        </p:nvSpPr>
        <p:spPr>
          <a:xfrm>
            <a:off x="668592" y="538316"/>
            <a:ext cx="10854814" cy="275057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lvl="0" algn="ctr" defTabSz="914400">
              <a:defRPr/>
            </a:pPr>
            <a:r>
              <a:rPr lang="en-US" sz="2000" b="1" dirty="0">
                <a:solidFill>
                  <a:prstClr val="black"/>
                </a:solidFill>
              </a:rPr>
              <a:t>Problem 3. </a:t>
            </a:r>
          </a:p>
          <a:p>
            <a:pPr lvl="0" algn="ctr" defTabSz="914400">
              <a:defRPr/>
            </a:pPr>
            <a:r>
              <a:rPr lang="en-US" sz="2000" dirty="0">
                <a:solidFill>
                  <a:prstClr val="black"/>
                </a:solidFill>
              </a:rPr>
              <a:t>With India's retail inflation reaching a 3-month high of 5.55% in November 2023, largely due to a sharp rise in food prices. Analyze the following for 12months ending May’23 </a:t>
            </a:r>
          </a:p>
          <a:p>
            <a:pPr marL="342900" lvl="0" indent="-342900" algn="ctr" defTabSz="914400">
              <a:buFont typeface="Arial" panose="020B0604020202020204" pitchFamily="34" charset="0"/>
              <a:buChar char="•"/>
              <a:defRPr/>
            </a:pPr>
            <a:r>
              <a:rPr lang="en-US" sz="2000" dirty="0">
                <a:solidFill>
                  <a:prstClr val="black"/>
                </a:solidFill>
              </a:rPr>
              <a:t>Investigate trends in the prices of broader food bucket category and evaluate month-on-month changes. Highlight month with highest and lowest food inflation</a:t>
            </a:r>
          </a:p>
          <a:p>
            <a:pPr marL="342900" lvl="0" indent="-342900" algn="ctr" defTabSz="914400">
              <a:buFont typeface="Arial" panose="020B0604020202020204" pitchFamily="34" charset="0"/>
              <a:buChar char="•"/>
              <a:defRPr/>
            </a:pPr>
            <a:r>
              <a:rPr lang="en-US" sz="2000" dirty="0">
                <a:solidFill>
                  <a:prstClr val="black"/>
                </a:solidFill>
              </a:rPr>
              <a:t>Identify the absolute changes in inflation over the same 12 months period and identify the biggest individual category contributor (only within broader food category) towards inflation</a:t>
            </a:r>
          </a:p>
        </p:txBody>
      </p:sp>
    </p:spTree>
    <p:extLst>
      <p:ext uri="{BB962C8B-B14F-4D97-AF65-F5344CB8AC3E}">
        <p14:creationId xmlns:p14="http://schemas.microsoft.com/office/powerpoint/2010/main" val="29811206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84F4A-76E9-728D-9611-027F2D27F196}"/>
            </a:ext>
          </a:extLst>
        </p:cNvPr>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0413C474-C916-048B-7552-9E7B4BA6C1CE}"/>
              </a:ext>
            </a:extLst>
          </p:cNvPr>
          <p:cNvGraphicFramePr>
            <a:graphicFrameLocks noGrp="1"/>
          </p:cNvGraphicFramePr>
          <p:nvPr>
            <p:extLst>
              <p:ext uri="{D42A27DB-BD31-4B8C-83A1-F6EECF244321}">
                <p14:modId xmlns:p14="http://schemas.microsoft.com/office/powerpoint/2010/main" val="2708222425"/>
              </p:ext>
            </p:extLst>
          </p:nvPr>
        </p:nvGraphicFramePr>
        <p:xfrm>
          <a:off x="633975" y="1629969"/>
          <a:ext cx="3451532" cy="3598062"/>
        </p:xfrm>
        <a:graphic>
          <a:graphicData uri="http://schemas.openxmlformats.org/drawingml/2006/table">
            <a:tbl>
              <a:tblPr/>
              <a:tblGrid>
                <a:gridCol w="804240">
                  <a:extLst>
                    <a:ext uri="{9D8B030D-6E8A-4147-A177-3AD203B41FA5}">
                      <a16:colId xmlns:a16="http://schemas.microsoft.com/office/drawing/2014/main" val="3041222438"/>
                    </a:ext>
                  </a:extLst>
                </a:gridCol>
                <a:gridCol w="804240">
                  <a:extLst>
                    <a:ext uri="{9D8B030D-6E8A-4147-A177-3AD203B41FA5}">
                      <a16:colId xmlns:a16="http://schemas.microsoft.com/office/drawing/2014/main" val="3448775089"/>
                    </a:ext>
                  </a:extLst>
                </a:gridCol>
                <a:gridCol w="1022056">
                  <a:extLst>
                    <a:ext uri="{9D8B030D-6E8A-4147-A177-3AD203B41FA5}">
                      <a16:colId xmlns:a16="http://schemas.microsoft.com/office/drawing/2014/main" val="87274849"/>
                    </a:ext>
                  </a:extLst>
                </a:gridCol>
                <a:gridCol w="820996">
                  <a:extLst>
                    <a:ext uri="{9D8B030D-6E8A-4147-A177-3AD203B41FA5}">
                      <a16:colId xmlns:a16="http://schemas.microsoft.com/office/drawing/2014/main" val="2506015018"/>
                    </a:ext>
                  </a:extLst>
                </a:gridCol>
              </a:tblGrid>
              <a:tr h="276774">
                <a:tc>
                  <a:txBody>
                    <a:bodyPr/>
                    <a:lstStyle/>
                    <a:p>
                      <a:pPr algn="ctr" fontAlgn="ctr">
                        <a:buNone/>
                      </a:pPr>
                      <a:r>
                        <a:rPr lang="en-IN" sz="1100" b="1" i="0" u="none" strike="noStrike">
                          <a:solidFill>
                            <a:srgbClr val="FFFFFF"/>
                          </a:solidFill>
                          <a:effectLst/>
                          <a:latin typeface="Calibri" panose="020F0502020204030204" pitchFamily="34" charset="0"/>
                        </a:rPr>
                        <a:t>Sector</a:t>
                      </a:r>
                    </a:p>
                  </a:txBody>
                  <a:tcPr marL="7620" marR="7620" marT="762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ctr" fontAlgn="ctr">
                        <a:buNone/>
                      </a:pPr>
                      <a:r>
                        <a:rPr lang="en-IN" sz="1100" b="1" i="0" u="none" strike="noStrike">
                          <a:solidFill>
                            <a:srgbClr val="FFFFFF"/>
                          </a:solidFill>
                          <a:effectLst/>
                          <a:latin typeface="Calibri" panose="020F0502020204030204" pitchFamily="34" charset="0"/>
                        </a:rPr>
                        <a:t>Year</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ctr" fontAlgn="ctr">
                        <a:buNone/>
                      </a:pPr>
                      <a:r>
                        <a:rPr lang="en-IN" sz="1100" b="1" i="0" u="none" strike="noStrike" dirty="0">
                          <a:solidFill>
                            <a:srgbClr val="FFFFFF"/>
                          </a:solidFill>
                          <a:effectLst/>
                          <a:latin typeface="Calibri" panose="020F0502020204030204" pitchFamily="34" charset="0"/>
                        </a:rPr>
                        <a:t>Month</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ctr" fontAlgn="ctr">
                        <a:buNone/>
                      </a:pPr>
                      <a:r>
                        <a:rPr lang="en-IN" sz="1100" b="1" i="0" u="none" strike="noStrike" dirty="0">
                          <a:solidFill>
                            <a:srgbClr val="FFFFFF"/>
                          </a:solidFill>
                          <a:effectLst/>
                          <a:latin typeface="Calibri" panose="020F0502020204030204" pitchFamily="34" charset="0"/>
                        </a:rPr>
                        <a:t>MoM%</a:t>
                      </a:r>
                    </a:p>
                  </a:txBody>
                  <a:tcPr marL="7620" marR="7620" marT="762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extLst>
                  <a:ext uri="{0D108BD9-81ED-4DB2-BD59-A6C34878D82A}">
                    <a16:rowId xmlns:a16="http://schemas.microsoft.com/office/drawing/2014/main" val="3027537173"/>
                  </a:ext>
                </a:extLst>
              </a:tr>
              <a:tr h="276774">
                <a:tc>
                  <a:txBody>
                    <a:bodyPr/>
                    <a:lstStyle/>
                    <a:p>
                      <a:pPr algn="ctr" fontAlgn="ctr">
                        <a:buNone/>
                      </a:pPr>
                      <a:r>
                        <a:rPr lang="en-IN" sz="1100" b="0" i="0" u="none" strike="noStrike">
                          <a:solidFill>
                            <a:srgbClr val="000000"/>
                          </a:solidFill>
                          <a:effectLst/>
                          <a:latin typeface="Calibri" panose="020F0502020204030204" pitchFamily="34" charset="0"/>
                        </a:rPr>
                        <a:t>Rural</a:t>
                      </a:r>
                    </a:p>
                  </a:txBody>
                  <a:tcPr marL="7620" marR="7620" marT="7620" marB="0" anchor="ctr">
                    <a:lnL w="6350" cap="flat" cmpd="sng" algn="ctr">
                      <a:solidFill>
                        <a:srgbClr val="000000"/>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2022</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October</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dirty="0">
                          <a:solidFill>
                            <a:srgbClr val="000000"/>
                          </a:solidFill>
                          <a:effectLst/>
                          <a:latin typeface="Calibri" panose="020F0502020204030204" pitchFamily="34" charset="0"/>
                        </a:rPr>
                        <a:t>1.08%</a:t>
                      </a:r>
                    </a:p>
                  </a:txBody>
                  <a:tcPr marL="7620" marR="7620" marT="7620" marB="0" anchor="ctr">
                    <a:lnL>
                      <a:noFill/>
                    </a:lnL>
                    <a:lnR w="6350" cap="flat" cmpd="sng" algn="ctr">
                      <a:solidFill>
                        <a:srgbClr val="000000"/>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63BE7B"/>
                    </a:solidFill>
                  </a:tcPr>
                </a:tc>
                <a:extLst>
                  <a:ext uri="{0D108BD9-81ED-4DB2-BD59-A6C34878D82A}">
                    <a16:rowId xmlns:a16="http://schemas.microsoft.com/office/drawing/2014/main" val="3105002412"/>
                  </a:ext>
                </a:extLst>
              </a:tr>
              <a:tr h="276774">
                <a:tc>
                  <a:txBody>
                    <a:bodyPr/>
                    <a:lstStyle/>
                    <a:p>
                      <a:pPr algn="ctr" fontAlgn="ctr">
                        <a:buNone/>
                      </a:pPr>
                      <a:r>
                        <a:rPr lang="en-IN" sz="1100" b="0" i="0" u="none" strike="noStrike">
                          <a:solidFill>
                            <a:srgbClr val="000000"/>
                          </a:solidFill>
                          <a:effectLst/>
                          <a:latin typeface="Calibri" panose="020F0502020204030204" pitchFamily="34" charset="0"/>
                        </a:rPr>
                        <a:t>Rural</a:t>
                      </a:r>
                    </a:p>
                  </a:txBody>
                  <a:tcPr marL="7620" marR="7620" marT="7620" marB="0" anchor="ctr">
                    <a:lnL w="6350" cap="flat" cmpd="sng" algn="ctr">
                      <a:solidFill>
                        <a:srgbClr val="000000"/>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2022</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June</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0.94%</a:t>
                      </a:r>
                    </a:p>
                  </a:txBody>
                  <a:tcPr marL="7620" marR="7620" marT="7620" marB="0" anchor="ctr">
                    <a:lnL>
                      <a:noFill/>
                    </a:lnL>
                    <a:lnR w="6350" cap="flat" cmpd="sng" algn="ctr">
                      <a:solidFill>
                        <a:srgbClr val="000000"/>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84C87D"/>
                    </a:solidFill>
                  </a:tcPr>
                </a:tc>
                <a:extLst>
                  <a:ext uri="{0D108BD9-81ED-4DB2-BD59-A6C34878D82A}">
                    <a16:rowId xmlns:a16="http://schemas.microsoft.com/office/drawing/2014/main" val="966789634"/>
                  </a:ext>
                </a:extLst>
              </a:tr>
              <a:tr h="276774">
                <a:tc>
                  <a:txBody>
                    <a:bodyPr/>
                    <a:lstStyle/>
                    <a:p>
                      <a:pPr algn="ctr" fontAlgn="ctr">
                        <a:buNone/>
                      </a:pPr>
                      <a:r>
                        <a:rPr lang="en-IN" sz="1100" b="0" i="0" u="none" strike="noStrike">
                          <a:solidFill>
                            <a:srgbClr val="000000"/>
                          </a:solidFill>
                          <a:effectLst/>
                          <a:latin typeface="Calibri" panose="020F0502020204030204" pitchFamily="34" charset="0"/>
                        </a:rPr>
                        <a:t>Rural</a:t>
                      </a:r>
                    </a:p>
                  </a:txBody>
                  <a:tcPr marL="7620" marR="7620" marT="7620" marB="0" anchor="ctr">
                    <a:lnL w="6350" cap="flat" cmpd="sng" algn="ctr">
                      <a:solidFill>
                        <a:srgbClr val="000000"/>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2022</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September</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0.92%</a:t>
                      </a:r>
                    </a:p>
                  </a:txBody>
                  <a:tcPr marL="7620" marR="7620" marT="7620" marB="0" anchor="ctr">
                    <a:lnL>
                      <a:noFill/>
                    </a:lnL>
                    <a:lnR w="6350" cap="flat" cmpd="sng" algn="ctr">
                      <a:solidFill>
                        <a:srgbClr val="000000"/>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87C97E"/>
                    </a:solidFill>
                  </a:tcPr>
                </a:tc>
                <a:extLst>
                  <a:ext uri="{0D108BD9-81ED-4DB2-BD59-A6C34878D82A}">
                    <a16:rowId xmlns:a16="http://schemas.microsoft.com/office/drawing/2014/main" val="106980155"/>
                  </a:ext>
                </a:extLst>
              </a:tr>
              <a:tr h="276774">
                <a:tc>
                  <a:txBody>
                    <a:bodyPr/>
                    <a:lstStyle/>
                    <a:p>
                      <a:pPr algn="ctr" fontAlgn="ctr">
                        <a:buNone/>
                      </a:pPr>
                      <a:r>
                        <a:rPr lang="en-IN" sz="1100" b="0" i="0" u="none" strike="noStrike">
                          <a:solidFill>
                            <a:srgbClr val="000000"/>
                          </a:solidFill>
                          <a:effectLst/>
                          <a:latin typeface="Calibri" panose="020F0502020204030204" pitchFamily="34" charset="0"/>
                        </a:rPr>
                        <a:t>Rural</a:t>
                      </a:r>
                    </a:p>
                  </a:txBody>
                  <a:tcPr marL="7620" marR="7620" marT="7620" marB="0" anchor="ctr">
                    <a:lnL w="6350" cap="flat" cmpd="sng" algn="ctr">
                      <a:solidFill>
                        <a:srgbClr val="000000"/>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2022</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August</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dirty="0">
                          <a:solidFill>
                            <a:srgbClr val="000000"/>
                          </a:solidFill>
                          <a:effectLst/>
                          <a:latin typeface="Calibri" panose="020F0502020204030204" pitchFamily="34" charset="0"/>
                        </a:rPr>
                        <a:t>0.81%</a:t>
                      </a:r>
                    </a:p>
                  </a:txBody>
                  <a:tcPr marL="7620" marR="7620" marT="7620" marB="0" anchor="ctr">
                    <a:lnL>
                      <a:noFill/>
                    </a:lnL>
                    <a:lnR w="6350" cap="flat" cmpd="sng" algn="ctr">
                      <a:solidFill>
                        <a:srgbClr val="000000"/>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9FD07F"/>
                    </a:solidFill>
                  </a:tcPr>
                </a:tc>
                <a:extLst>
                  <a:ext uri="{0D108BD9-81ED-4DB2-BD59-A6C34878D82A}">
                    <a16:rowId xmlns:a16="http://schemas.microsoft.com/office/drawing/2014/main" val="1903250707"/>
                  </a:ext>
                </a:extLst>
              </a:tr>
              <a:tr h="276774">
                <a:tc>
                  <a:txBody>
                    <a:bodyPr/>
                    <a:lstStyle/>
                    <a:p>
                      <a:pPr algn="ctr" fontAlgn="ctr">
                        <a:buNone/>
                      </a:pPr>
                      <a:r>
                        <a:rPr lang="en-IN" sz="1100" b="0" i="0" u="none" strike="noStrike">
                          <a:solidFill>
                            <a:srgbClr val="000000"/>
                          </a:solidFill>
                          <a:effectLst/>
                          <a:latin typeface="Calibri" panose="020F0502020204030204" pitchFamily="34" charset="0"/>
                        </a:rPr>
                        <a:t>Rural</a:t>
                      </a:r>
                    </a:p>
                  </a:txBody>
                  <a:tcPr marL="7620" marR="7620" marT="7620" marB="0" anchor="ctr">
                    <a:lnL w="6350" cap="flat" cmpd="sng" algn="ctr">
                      <a:solidFill>
                        <a:srgbClr val="000000"/>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2023</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May</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0.74%</a:t>
                      </a:r>
                    </a:p>
                  </a:txBody>
                  <a:tcPr marL="7620" marR="7620" marT="7620" marB="0" anchor="ctr">
                    <a:lnL>
                      <a:noFill/>
                    </a:lnL>
                    <a:lnR w="6350" cap="flat" cmpd="sng" algn="ctr">
                      <a:solidFill>
                        <a:srgbClr val="000000"/>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AFD480"/>
                    </a:solidFill>
                  </a:tcPr>
                </a:tc>
                <a:extLst>
                  <a:ext uri="{0D108BD9-81ED-4DB2-BD59-A6C34878D82A}">
                    <a16:rowId xmlns:a16="http://schemas.microsoft.com/office/drawing/2014/main" val="1508855913"/>
                  </a:ext>
                </a:extLst>
              </a:tr>
              <a:tr h="276774">
                <a:tc>
                  <a:txBody>
                    <a:bodyPr/>
                    <a:lstStyle/>
                    <a:p>
                      <a:pPr algn="ctr" fontAlgn="ctr">
                        <a:buNone/>
                      </a:pPr>
                      <a:r>
                        <a:rPr lang="en-IN" sz="1100" b="0" i="0" u="none" strike="noStrike">
                          <a:solidFill>
                            <a:srgbClr val="000000"/>
                          </a:solidFill>
                          <a:effectLst/>
                          <a:latin typeface="Calibri" panose="020F0502020204030204" pitchFamily="34" charset="0"/>
                        </a:rPr>
                        <a:t>Rural</a:t>
                      </a:r>
                    </a:p>
                  </a:txBody>
                  <a:tcPr marL="7620" marR="7620" marT="7620" marB="0" anchor="ctr">
                    <a:lnL w="6350" cap="flat" cmpd="sng" algn="ctr">
                      <a:solidFill>
                        <a:srgbClr val="000000"/>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2023</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April</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0.40%</a:t>
                      </a:r>
                    </a:p>
                  </a:txBody>
                  <a:tcPr marL="7620" marR="7620" marT="7620" marB="0" anchor="ctr">
                    <a:lnL>
                      <a:noFill/>
                    </a:lnL>
                    <a:lnR w="6350" cap="flat" cmpd="sng" algn="ctr">
                      <a:solidFill>
                        <a:srgbClr val="000000"/>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9EA84"/>
                    </a:solidFill>
                  </a:tcPr>
                </a:tc>
                <a:extLst>
                  <a:ext uri="{0D108BD9-81ED-4DB2-BD59-A6C34878D82A}">
                    <a16:rowId xmlns:a16="http://schemas.microsoft.com/office/drawing/2014/main" val="1126839157"/>
                  </a:ext>
                </a:extLst>
              </a:tr>
              <a:tr h="276774">
                <a:tc>
                  <a:txBody>
                    <a:bodyPr/>
                    <a:lstStyle/>
                    <a:p>
                      <a:pPr algn="ctr" fontAlgn="ctr">
                        <a:buNone/>
                      </a:pPr>
                      <a:r>
                        <a:rPr lang="en-IN" sz="1100" b="0" i="0" u="none" strike="noStrike">
                          <a:solidFill>
                            <a:srgbClr val="000000"/>
                          </a:solidFill>
                          <a:effectLst/>
                          <a:latin typeface="Calibri" panose="020F0502020204030204" pitchFamily="34" charset="0"/>
                        </a:rPr>
                        <a:t>Rural</a:t>
                      </a:r>
                    </a:p>
                  </a:txBody>
                  <a:tcPr marL="7620" marR="7620" marT="7620" marB="0" anchor="ctr">
                    <a:lnL w="6350" cap="flat" cmpd="sng" algn="ctr">
                      <a:solidFill>
                        <a:srgbClr val="000000"/>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2023</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January</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0.34%</a:t>
                      </a:r>
                    </a:p>
                  </a:txBody>
                  <a:tcPr marL="7620" marR="7620" marT="7620" marB="0" anchor="ctr">
                    <a:lnL>
                      <a:noFill/>
                    </a:lnL>
                    <a:lnR w="6350" cap="flat" cmpd="sng" algn="ctr">
                      <a:solidFill>
                        <a:srgbClr val="000000"/>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EE883"/>
                    </a:solidFill>
                  </a:tcPr>
                </a:tc>
                <a:extLst>
                  <a:ext uri="{0D108BD9-81ED-4DB2-BD59-A6C34878D82A}">
                    <a16:rowId xmlns:a16="http://schemas.microsoft.com/office/drawing/2014/main" val="2310864058"/>
                  </a:ext>
                </a:extLst>
              </a:tr>
              <a:tr h="276774">
                <a:tc>
                  <a:txBody>
                    <a:bodyPr/>
                    <a:lstStyle/>
                    <a:p>
                      <a:pPr algn="ctr" fontAlgn="ctr">
                        <a:buNone/>
                      </a:pPr>
                      <a:r>
                        <a:rPr lang="en-IN" sz="1100" b="0" i="0" u="none" strike="noStrike">
                          <a:solidFill>
                            <a:srgbClr val="000000"/>
                          </a:solidFill>
                          <a:effectLst/>
                          <a:latin typeface="Calibri" panose="020F0502020204030204" pitchFamily="34" charset="0"/>
                        </a:rPr>
                        <a:t>Rural</a:t>
                      </a:r>
                    </a:p>
                  </a:txBody>
                  <a:tcPr marL="7620" marR="7620" marT="7620" marB="0" anchor="ctr">
                    <a:lnL w="6350" cap="flat" cmpd="sng" algn="ctr">
                      <a:solidFill>
                        <a:srgbClr val="000000"/>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2022</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July</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0.06%</a:t>
                      </a:r>
                    </a:p>
                  </a:txBody>
                  <a:tcPr marL="7620" marR="7620" marT="7620" marB="0" anchor="ctr">
                    <a:lnL>
                      <a:noFill/>
                    </a:lnL>
                    <a:lnR w="6350" cap="flat" cmpd="sng" algn="ctr">
                      <a:solidFill>
                        <a:srgbClr val="000000"/>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DD17F"/>
                    </a:solidFill>
                  </a:tcPr>
                </a:tc>
                <a:extLst>
                  <a:ext uri="{0D108BD9-81ED-4DB2-BD59-A6C34878D82A}">
                    <a16:rowId xmlns:a16="http://schemas.microsoft.com/office/drawing/2014/main" val="2198894095"/>
                  </a:ext>
                </a:extLst>
              </a:tr>
              <a:tr h="276774">
                <a:tc>
                  <a:txBody>
                    <a:bodyPr/>
                    <a:lstStyle/>
                    <a:p>
                      <a:pPr algn="ctr" fontAlgn="ctr">
                        <a:buNone/>
                      </a:pPr>
                      <a:r>
                        <a:rPr lang="en-IN" sz="1100" b="0" i="0" u="none" strike="noStrike">
                          <a:solidFill>
                            <a:srgbClr val="000000"/>
                          </a:solidFill>
                          <a:effectLst/>
                          <a:latin typeface="Calibri" panose="020F0502020204030204" pitchFamily="34" charset="0"/>
                        </a:rPr>
                        <a:t>Rural</a:t>
                      </a:r>
                    </a:p>
                  </a:txBody>
                  <a:tcPr marL="7620" marR="7620" marT="7620" marB="0" anchor="ctr">
                    <a:lnL w="6350" cap="flat" cmpd="sng" algn="ctr">
                      <a:solidFill>
                        <a:srgbClr val="000000"/>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2023</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March</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0.00%</a:t>
                      </a:r>
                    </a:p>
                  </a:txBody>
                  <a:tcPr marL="7620" marR="7620" marT="7620" marB="0" anchor="ctr">
                    <a:lnL>
                      <a:noFill/>
                    </a:lnL>
                    <a:lnR w="6350" cap="flat" cmpd="sng" algn="ctr">
                      <a:solidFill>
                        <a:srgbClr val="000000"/>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DCD7E"/>
                    </a:solidFill>
                  </a:tcPr>
                </a:tc>
                <a:extLst>
                  <a:ext uri="{0D108BD9-81ED-4DB2-BD59-A6C34878D82A}">
                    <a16:rowId xmlns:a16="http://schemas.microsoft.com/office/drawing/2014/main" val="2819873014"/>
                  </a:ext>
                </a:extLst>
              </a:tr>
              <a:tr h="276774">
                <a:tc>
                  <a:txBody>
                    <a:bodyPr/>
                    <a:lstStyle/>
                    <a:p>
                      <a:pPr algn="ctr" fontAlgn="ctr">
                        <a:buNone/>
                      </a:pPr>
                      <a:r>
                        <a:rPr lang="en-IN" sz="1100" b="0" i="0" u="none" strike="noStrike">
                          <a:solidFill>
                            <a:srgbClr val="000000"/>
                          </a:solidFill>
                          <a:effectLst/>
                          <a:latin typeface="Calibri" panose="020F0502020204030204" pitchFamily="34" charset="0"/>
                        </a:rPr>
                        <a:t>Rural</a:t>
                      </a:r>
                    </a:p>
                  </a:txBody>
                  <a:tcPr marL="7620" marR="7620" marT="7620" marB="0" anchor="ctr">
                    <a:lnL w="6350" cap="flat" cmpd="sng" algn="ctr">
                      <a:solidFill>
                        <a:srgbClr val="000000"/>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2023</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February</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-0.11%</a:t>
                      </a:r>
                    </a:p>
                  </a:txBody>
                  <a:tcPr marL="7620" marR="7620" marT="7620" marB="0" anchor="ctr">
                    <a:lnL>
                      <a:noFill/>
                    </a:lnL>
                    <a:lnR w="6350" cap="flat" cmpd="sng" algn="ctr">
                      <a:solidFill>
                        <a:srgbClr val="000000"/>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CC37C"/>
                    </a:solidFill>
                  </a:tcPr>
                </a:tc>
                <a:extLst>
                  <a:ext uri="{0D108BD9-81ED-4DB2-BD59-A6C34878D82A}">
                    <a16:rowId xmlns:a16="http://schemas.microsoft.com/office/drawing/2014/main" val="1149904562"/>
                  </a:ext>
                </a:extLst>
              </a:tr>
              <a:tr h="276774">
                <a:tc>
                  <a:txBody>
                    <a:bodyPr/>
                    <a:lstStyle/>
                    <a:p>
                      <a:pPr algn="ctr" fontAlgn="ctr">
                        <a:buNone/>
                      </a:pPr>
                      <a:r>
                        <a:rPr lang="en-IN" sz="1100" b="0" i="0" u="none" strike="noStrike">
                          <a:solidFill>
                            <a:srgbClr val="000000"/>
                          </a:solidFill>
                          <a:effectLst/>
                          <a:latin typeface="Calibri" panose="020F0502020204030204" pitchFamily="34" charset="0"/>
                        </a:rPr>
                        <a:t>Rural</a:t>
                      </a:r>
                    </a:p>
                  </a:txBody>
                  <a:tcPr marL="7620" marR="7620" marT="7620" marB="0" anchor="ctr">
                    <a:lnL w="6350" cap="flat" cmpd="sng" algn="ctr">
                      <a:solidFill>
                        <a:srgbClr val="000000"/>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2022</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November</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-0.45%</a:t>
                      </a:r>
                    </a:p>
                  </a:txBody>
                  <a:tcPr marL="7620" marR="7620" marT="7620" marB="0" anchor="ctr">
                    <a:lnL>
                      <a:noFill/>
                    </a:lnL>
                    <a:lnR w="6350" cap="flat" cmpd="sng" algn="ctr">
                      <a:solidFill>
                        <a:srgbClr val="000000"/>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BA877"/>
                    </a:solidFill>
                  </a:tcPr>
                </a:tc>
                <a:extLst>
                  <a:ext uri="{0D108BD9-81ED-4DB2-BD59-A6C34878D82A}">
                    <a16:rowId xmlns:a16="http://schemas.microsoft.com/office/drawing/2014/main" val="2289256444"/>
                  </a:ext>
                </a:extLst>
              </a:tr>
              <a:tr h="276774">
                <a:tc>
                  <a:txBody>
                    <a:bodyPr/>
                    <a:lstStyle/>
                    <a:p>
                      <a:pPr algn="ctr" fontAlgn="ctr">
                        <a:buNone/>
                      </a:pPr>
                      <a:r>
                        <a:rPr lang="en-IN" sz="1100" b="0" i="0" u="none" strike="noStrike">
                          <a:solidFill>
                            <a:srgbClr val="000000"/>
                          </a:solidFill>
                          <a:effectLst/>
                          <a:latin typeface="Calibri" panose="020F0502020204030204" pitchFamily="34" charset="0"/>
                        </a:rPr>
                        <a:t>Rural</a:t>
                      </a:r>
                    </a:p>
                  </a:txBody>
                  <a:tcPr marL="7620" marR="7620" marT="7620" marB="0" anchor="ctr">
                    <a:lnL w="6350" cap="flat" cmpd="sng" algn="ctr">
                      <a:solidFill>
                        <a:srgbClr val="000000"/>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2022</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December</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100" b="0" i="0" u="none" strike="noStrike" dirty="0">
                          <a:solidFill>
                            <a:srgbClr val="000000"/>
                          </a:solidFill>
                          <a:effectLst/>
                          <a:latin typeface="Calibri" panose="020F0502020204030204" pitchFamily="34" charset="0"/>
                        </a:rPr>
                        <a:t>-1.25%</a:t>
                      </a:r>
                    </a:p>
                  </a:txBody>
                  <a:tcPr marL="7620" marR="7620" marT="7620" marB="0" anchor="ctr">
                    <a:lnL>
                      <a:noFill/>
                    </a:lnL>
                    <a:lnR w="6350" cap="flat" cmpd="sng" algn="ctr">
                      <a:solidFill>
                        <a:srgbClr val="000000"/>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extLst>
                  <a:ext uri="{0D108BD9-81ED-4DB2-BD59-A6C34878D82A}">
                    <a16:rowId xmlns:a16="http://schemas.microsoft.com/office/drawing/2014/main" val="2382548715"/>
                  </a:ext>
                </a:extLst>
              </a:tr>
            </a:tbl>
          </a:graphicData>
        </a:graphic>
      </p:graphicFrame>
      <p:graphicFrame>
        <p:nvGraphicFramePr>
          <p:cNvPr id="8" name="Table 7">
            <a:extLst>
              <a:ext uri="{FF2B5EF4-FFF2-40B4-BE49-F238E27FC236}">
                <a16:creationId xmlns:a16="http://schemas.microsoft.com/office/drawing/2014/main" id="{6B6217C0-F458-2E7C-E9F2-99F72DFC5138}"/>
              </a:ext>
            </a:extLst>
          </p:cNvPr>
          <p:cNvGraphicFramePr>
            <a:graphicFrameLocks noGrp="1"/>
          </p:cNvGraphicFramePr>
          <p:nvPr>
            <p:extLst>
              <p:ext uri="{D42A27DB-BD31-4B8C-83A1-F6EECF244321}">
                <p14:modId xmlns:p14="http://schemas.microsoft.com/office/powerpoint/2010/main" val="3849060992"/>
              </p:ext>
            </p:extLst>
          </p:nvPr>
        </p:nvGraphicFramePr>
        <p:xfrm>
          <a:off x="4424108" y="1630517"/>
          <a:ext cx="3490863" cy="3598062"/>
        </p:xfrm>
        <a:graphic>
          <a:graphicData uri="http://schemas.openxmlformats.org/drawingml/2006/table">
            <a:tbl>
              <a:tblPr/>
              <a:tblGrid>
                <a:gridCol w="813405">
                  <a:extLst>
                    <a:ext uri="{9D8B030D-6E8A-4147-A177-3AD203B41FA5}">
                      <a16:colId xmlns:a16="http://schemas.microsoft.com/office/drawing/2014/main" val="2812554685"/>
                    </a:ext>
                  </a:extLst>
                </a:gridCol>
                <a:gridCol w="813405">
                  <a:extLst>
                    <a:ext uri="{9D8B030D-6E8A-4147-A177-3AD203B41FA5}">
                      <a16:colId xmlns:a16="http://schemas.microsoft.com/office/drawing/2014/main" val="3173155907"/>
                    </a:ext>
                  </a:extLst>
                </a:gridCol>
                <a:gridCol w="1033702">
                  <a:extLst>
                    <a:ext uri="{9D8B030D-6E8A-4147-A177-3AD203B41FA5}">
                      <a16:colId xmlns:a16="http://schemas.microsoft.com/office/drawing/2014/main" val="4052992614"/>
                    </a:ext>
                  </a:extLst>
                </a:gridCol>
                <a:gridCol w="830351">
                  <a:extLst>
                    <a:ext uri="{9D8B030D-6E8A-4147-A177-3AD203B41FA5}">
                      <a16:colId xmlns:a16="http://schemas.microsoft.com/office/drawing/2014/main" val="2106452674"/>
                    </a:ext>
                  </a:extLst>
                </a:gridCol>
              </a:tblGrid>
              <a:tr h="276774">
                <a:tc>
                  <a:txBody>
                    <a:bodyPr/>
                    <a:lstStyle/>
                    <a:p>
                      <a:pPr algn="ctr" fontAlgn="ctr">
                        <a:buNone/>
                      </a:pPr>
                      <a:r>
                        <a:rPr lang="en-IN" sz="1100" b="1" i="0" u="none" strike="noStrike">
                          <a:solidFill>
                            <a:srgbClr val="FFFFFF"/>
                          </a:solidFill>
                          <a:effectLst/>
                          <a:latin typeface="Calibri" panose="020F0502020204030204" pitchFamily="34" charset="0"/>
                        </a:rPr>
                        <a:t>Sector</a:t>
                      </a:r>
                    </a:p>
                  </a:txBody>
                  <a:tcPr marL="7620" marR="7620" marT="762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ctr" fontAlgn="ctr">
                        <a:buNone/>
                      </a:pPr>
                      <a:r>
                        <a:rPr lang="en-IN" sz="1100" b="1" i="0" u="none" strike="noStrike">
                          <a:solidFill>
                            <a:srgbClr val="FFFFFF"/>
                          </a:solidFill>
                          <a:effectLst/>
                          <a:latin typeface="Calibri" panose="020F0502020204030204" pitchFamily="34" charset="0"/>
                        </a:rPr>
                        <a:t>Year</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ctr" fontAlgn="ctr">
                        <a:buNone/>
                      </a:pPr>
                      <a:r>
                        <a:rPr lang="en-IN" sz="1100" b="1" i="0" u="none" strike="noStrike" dirty="0">
                          <a:solidFill>
                            <a:srgbClr val="FFFFFF"/>
                          </a:solidFill>
                          <a:effectLst/>
                          <a:latin typeface="Calibri" panose="020F0502020204030204" pitchFamily="34" charset="0"/>
                        </a:rPr>
                        <a:t>Month</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ctr" fontAlgn="ctr">
                        <a:buNone/>
                      </a:pPr>
                      <a:r>
                        <a:rPr lang="en-IN" sz="1100" b="1" i="0" u="none" strike="noStrike">
                          <a:solidFill>
                            <a:srgbClr val="FFFFFF"/>
                          </a:solidFill>
                          <a:effectLst/>
                          <a:latin typeface="Calibri" panose="020F0502020204030204" pitchFamily="34" charset="0"/>
                        </a:rPr>
                        <a:t>MoM%</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extLst>
                  <a:ext uri="{0D108BD9-81ED-4DB2-BD59-A6C34878D82A}">
                    <a16:rowId xmlns:a16="http://schemas.microsoft.com/office/drawing/2014/main" val="2724923580"/>
                  </a:ext>
                </a:extLst>
              </a:tr>
              <a:tr h="276774">
                <a:tc>
                  <a:txBody>
                    <a:bodyPr/>
                    <a:lstStyle/>
                    <a:p>
                      <a:pPr algn="ctr" fontAlgn="ctr">
                        <a:buNone/>
                      </a:pPr>
                      <a:r>
                        <a:rPr lang="en-IN" sz="1100" b="0" i="0" u="none" strike="noStrike" dirty="0">
                          <a:solidFill>
                            <a:srgbClr val="000000"/>
                          </a:solidFill>
                          <a:effectLst/>
                          <a:latin typeface="Calibri" panose="020F0502020204030204" pitchFamily="34" charset="0"/>
                        </a:rPr>
                        <a:t>Urban</a:t>
                      </a:r>
                    </a:p>
                  </a:txBody>
                  <a:tcPr marL="7620" marR="7620" marT="762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dirty="0">
                          <a:solidFill>
                            <a:srgbClr val="000000"/>
                          </a:solidFill>
                          <a:effectLst/>
                          <a:latin typeface="Calibri" panose="020F0502020204030204" pitchFamily="34" charset="0"/>
                        </a:rPr>
                        <a:t>2022</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June</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1.01%</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63BE7B"/>
                    </a:solidFill>
                  </a:tcPr>
                </a:tc>
                <a:extLst>
                  <a:ext uri="{0D108BD9-81ED-4DB2-BD59-A6C34878D82A}">
                    <a16:rowId xmlns:a16="http://schemas.microsoft.com/office/drawing/2014/main" val="3090362069"/>
                  </a:ext>
                </a:extLst>
              </a:tr>
              <a:tr h="276774">
                <a:tc>
                  <a:txBody>
                    <a:bodyPr/>
                    <a:lstStyle/>
                    <a:p>
                      <a:pPr algn="ctr" fontAlgn="ctr">
                        <a:buNone/>
                      </a:pPr>
                      <a:r>
                        <a:rPr lang="en-IN" sz="1100" b="0" i="0" u="none" strike="noStrike">
                          <a:solidFill>
                            <a:srgbClr val="000000"/>
                          </a:solidFill>
                          <a:effectLst/>
                          <a:latin typeface="Calibri" panose="020F0502020204030204" pitchFamily="34" charset="0"/>
                        </a:rPr>
                        <a:t>Urban</a:t>
                      </a:r>
                    </a:p>
                  </a:txBody>
                  <a:tcPr marL="7620" marR="7620" marT="762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2022</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October</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0.83%</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A3D17F"/>
                    </a:solidFill>
                  </a:tcPr>
                </a:tc>
                <a:extLst>
                  <a:ext uri="{0D108BD9-81ED-4DB2-BD59-A6C34878D82A}">
                    <a16:rowId xmlns:a16="http://schemas.microsoft.com/office/drawing/2014/main" val="153110509"/>
                  </a:ext>
                </a:extLst>
              </a:tr>
              <a:tr h="276774">
                <a:tc>
                  <a:txBody>
                    <a:bodyPr/>
                    <a:lstStyle/>
                    <a:p>
                      <a:pPr algn="ctr" fontAlgn="ctr">
                        <a:buNone/>
                      </a:pPr>
                      <a:r>
                        <a:rPr lang="en-IN" sz="1100" b="0" i="0" u="none" strike="noStrike">
                          <a:solidFill>
                            <a:srgbClr val="000000"/>
                          </a:solidFill>
                          <a:effectLst/>
                          <a:latin typeface="Calibri" panose="020F0502020204030204" pitchFamily="34" charset="0"/>
                        </a:rPr>
                        <a:t>Urban</a:t>
                      </a:r>
                    </a:p>
                  </a:txBody>
                  <a:tcPr marL="7620" marR="7620" marT="762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2022</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September</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0.78%</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B4D680"/>
                    </a:solidFill>
                  </a:tcPr>
                </a:tc>
                <a:extLst>
                  <a:ext uri="{0D108BD9-81ED-4DB2-BD59-A6C34878D82A}">
                    <a16:rowId xmlns:a16="http://schemas.microsoft.com/office/drawing/2014/main" val="2136735252"/>
                  </a:ext>
                </a:extLst>
              </a:tr>
              <a:tr h="276774">
                <a:tc>
                  <a:txBody>
                    <a:bodyPr/>
                    <a:lstStyle/>
                    <a:p>
                      <a:pPr algn="ctr" fontAlgn="ctr">
                        <a:buNone/>
                      </a:pPr>
                      <a:r>
                        <a:rPr lang="en-IN" sz="1100" b="0" i="0" u="none" strike="noStrike">
                          <a:solidFill>
                            <a:srgbClr val="000000"/>
                          </a:solidFill>
                          <a:effectLst/>
                          <a:latin typeface="Calibri" panose="020F0502020204030204" pitchFamily="34" charset="0"/>
                        </a:rPr>
                        <a:t>Urban</a:t>
                      </a:r>
                    </a:p>
                  </a:txBody>
                  <a:tcPr marL="7620" marR="7620" marT="762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2023</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April</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0.72%</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C7DB81"/>
                    </a:solidFill>
                  </a:tcPr>
                </a:tc>
                <a:extLst>
                  <a:ext uri="{0D108BD9-81ED-4DB2-BD59-A6C34878D82A}">
                    <a16:rowId xmlns:a16="http://schemas.microsoft.com/office/drawing/2014/main" val="1514414887"/>
                  </a:ext>
                </a:extLst>
              </a:tr>
              <a:tr h="276774">
                <a:tc>
                  <a:txBody>
                    <a:bodyPr/>
                    <a:lstStyle/>
                    <a:p>
                      <a:pPr algn="ctr" fontAlgn="ctr">
                        <a:buNone/>
                      </a:pPr>
                      <a:r>
                        <a:rPr lang="en-IN" sz="1100" b="0" i="0" u="none" strike="noStrike">
                          <a:solidFill>
                            <a:srgbClr val="000000"/>
                          </a:solidFill>
                          <a:effectLst/>
                          <a:latin typeface="Calibri" panose="020F0502020204030204" pitchFamily="34" charset="0"/>
                        </a:rPr>
                        <a:t>Urban</a:t>
                      </a:r>
                    </a:p>
                  </a:txBody>
                  <a:tcPr marL="7620" marR="7620" marT="762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2023</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February</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0.67%</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8E082"/>
                    </a:solidFill>
                  </a:tcPr>
                </a:tc>
                <a:extLst>
                  <a:ext uri="{0D108BD9-81ED-4DB2-BD59-A6C34878D82A}">
                    <a16:rowId xmlns:a16="http://schemas.microsoft.com/office/drawing/2014/main" val="2223916714"/>
                  </a:ext>
                </a:extLst>
              </a:tr>
              <a:tr h="276774">
                <a:tc>
                  <a:txBody>
                    <a:bodyPr/>
                    <a:lstStyle/>
                    <a:p>
                      <a:pPr algn="ctr" fontAlgn="ctr">
                        <a:buNone/>
                      </a:pPr>
                      <a:r>
                        <a:rPr lang="en-IN" sz="1100" b="0" i="0" u="none" strike="noStrike" dirty="0">
                          <a:solidFill>
                            <a:srgbClr val="000000"/>
                          </a:solidFill>
                          <a:effectLst/>
                          <a:latin typeface="Calibri" panose="020F0502020204030204" pitchFamily="34" charset="0"/>
                        </a:rPr>
                        <a:t>Urban</a:t>
                      </a:r>
                    </a:p>
                  </a:txBody>
                  <a:tcPr marL="7620" marR="7620" marT="762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2022</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August</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0.56%</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EEB84"/>
                    </a:solidFill>
                  </a:tcPr>
                </a:tc>
                <a:extLst>
                  <a:ext uri="{0D108BD9-81ED-4DB2-BD59-A6C34878D82A}">
                    <a16:rowId xmlns:a16="http://schemas.microsoft.com/office/drawing/2014/main" val="4173516638"/>
                  </a:ext>
                </a:extLst>
              </a:tr>
              <a:tr h="276774">
                <a:tc>
                  <a:txBody>
                    <a:bodyPr/>
                    <a:lstStyle/>
                    <a:p>
                      <a:pPr algn="ctr" fontAlgn="ctr">
                        <a:buNone/>
                      </a:pPr>
                      <a:r>
                        <a:rPr lang="en-IN" sz="1100" b="0" i="0" u="none" strike="noStrike">
                          <a:solidFill>
                            <a:srgbClr val="000000"/>
                          </a:solidFill>
                          <a:effectLst/>
                          <a:latin typeface="Calibri" panose="020F0502020204030204" pitchFamily="34" charset="0"/>
                        </a:rPr>
                        <a:t>Urban</a:t>
                      </a:r>
                    </a:p>
                  </a:txBody>
                  <a:tcPr marL="7620" marR="7620" marT="762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2023</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May</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0.55%</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EEA83"/>
                    </a:solidFill>
                  </a:tcPr>
                </a:tc>
                <a:extLst>
                  <a:ext uri="{0D108BD9-81ED-4DB2-BD59-A6C34878D82A}">
                    <a16:rowId xmlns:a16="http://schemas.microsoft.com/office/drawing/2014/main" val="2120336624"/>
                  </a:ext>
                </a:extLst>
              </a:tr>
              <a:tr h="276774">
                <a:tc>
                  <a:txBody>
                    <a:bodyPr/>
                    <a:lstStyle/>
                    <a:p>
                      <a:pPr algn="ctr" fontAlgn="ctr">
                        <a:buNone/>
                      </a:pPr>
                      <a:r>
                        <a:rPr lang="en-IN" sz="1100" b="0" i="0" u="none" strike="noStrike">
                          <a:solidFill>
                            <a:srgbClr val="000000"/>
                          </a:solidFill>
                          <a:effectLst/>
                          <a:latin typeface="Calibri" panose="020F0502020204030204" pitchFamily="34" charset="0"/>
                        </a:rPr>
                        <a:t>Urban</a:t>
                      </a:r>
                    </a:p>
                  </a:txBody>
                  <a:tcPr marL="7620" marR="7620" marT="762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2023</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January</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0.50%</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EE783"/>
                    </a:solidFill>
                  </a:tcPr>
                </a:tc>
                <a:extLst>
                  <a:ext uri="{0D108BD9-81ED-4DB2-BD59-A6C34878D82A}">
                    <a16:rowId xmlns:a16="http://schemas.microsoft.com/office/drawing/2014/main" val="1698956634"/>
                  </a:ext>
                </a:extLst>
              </a:tr>
              <a:tr h="276774">
                <a:tc>
                  <a:txBody>
                    <a:bodyPr/>
                    <a:lstStyle/>
                    <a:p>
                      <a:pPr algn="ctr" fontAlgn="ctr">
                        <a:buNone/>
                      </a:pPr>
                      <a:r>
                        <a:rPr lang="en-IN" sz="1100" b="0" i="0" u="none" strike="noStrike">
                          <a:solidFill>
                            <a:srgbClr val="000000"/>
                          </a:solidFill>
                          <a:effectLst/>
                          <a:latin typeface="Calibri" panose="020F0502020204030204" pitchFamily="34" charset="0"/>
                        </a:rPr>
                        <a:t>Urban</a:t>
                      </a:r>
                    </a:p>
                  </a:txBody>
                  <a:tcPr marL="7620" marR="7620" marT="762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2022</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July</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0.06%</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DCB7D"/>
                    </a:solidFill>
                  </a:tcPr>
                </a:tc>
                <a:extLst>
                  <a:ext uri="{0D108BD9-81ED-4DB2-BD59-A6C34878D82A}">
                    <a16:rowId xmlns:a16="http://schemas.microsoft.com/office/drawing/2014/main" val="1655100409"/>
                  </a:ext>
                </a:extLst>
              </a:tr>
              <a:tr h="276774">
                <a:tc>
                  <a:txBody>
                    <a:bodyPr/>
                    <a:lstStyle/>
                    <a:p>
                      <a:pPr algn="ctr" fontAlgn="ctr">
                        <a:buNone/>
                      </a:pPr>
                      <a:r>
                        <a:rPr lang="en-IN" sz="1100" b="0" i="0" u="none" strike="noStrike">
                          <a:solidFill>
                            <a:srgbClr val="000000"/>
                          </a:solidFill>
                          <a:effectLst/>
                          <a:latin typeface="Calibri" panose="020F0502020204030204" pitchFamily="34" charset="0"/>
                        </a:rPr>
                        <a:t>Urban</a:t>
                      </a:r>
                    </a:p>
                  </a:txBody>
                  <a:tcPr marL="7620" marR="7620" marT="762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2023</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March</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0.06%</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DCB7D"/>
                    </a:solidFill>
                  </a:tcPr>
                </a:tc>
                <a:extLst>
                  <a:ext uri="{0D108BD9-81ED-4DB2-BD59-A6C34878D82A}">
                    <a16:rowId xmlns:a16="http://schemas.microsoft.com/office/drawing/2014/main" val="3838196079"/>
                  </a:ext>
                </a:extLst>
              </a:tr>
              <a:tr h="276774">
                <a:tc>
                  <a:txBody>
                    <a:bodyPr/>
                    <a:lstStyle/>
                    <a:p>
                      <a:pPr algn="ctr" fontAlgn="ctr">
                        <a:buNone/>
                      </a:pPr>
                      <a:r>
                        <a:rPr lang="en-IN" sz="1100" b="0" i="0" u="none" strike="noStrike">
                          <a:solidFill>
                            <a:srgbClr val="000000"/>
                          </a:solidFill>
                          <a:effectLst/>
                          <a:latin typeface="Calibri" panose="020F0502020204030204" pitchFamily="34" charset="0"/>
                        </a:rPr>
                        <a:t>Urban</a:t>
                      </a:r>
                    </a:p>
                  </a:txBody>
                  <a:tcPr marL="7620" marR="7620" marT="762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2022</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November</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dirty="0">
                          <a:solidFill>
                            <a:srgbClr val="000000"/>
                          </a:solidFill>
                          <a:effectLst/>
                          <a:latin typeface="Calibri" panose="020F0502020204030204" pitchFamily="34" charset="0"/>
                        </a:rPr>
                        <a:t>-1.09%</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9826F"/>
                    </a:solidFill>
                  </a:tcPr>
                </a:tc>
                <a:extLst>
                  <a:ext uri="{0D108BD9-81ED-4DB2-BD59-A6C34878D82A}">
                    <a16:rowId xmlns:a16="http://schemas.microsoft.com/office/drawing/2014/main" val="1377232091"/>
                  </a:ext>
                </a:extLst>
              </a:tr>
              <a:tr h="276774">
                <a:tc>
                  <a:txBody>
                    <a:bodyPr/>
                    <a:lstStyle/>
                    <a:p>
                      <a:pPr algn="ctr" fontAlgn="ctr">
                        <a:buNone/>
                      </a:pPr>
                      <a:r>
                        <a:rPr lang="en-IN" sz="1100" b="0" i="0" u="none" strike="noStrike">
                          <a:solidFill>
                            <a:srgbClr val="000000"/>
                          </a:solidFill>
                          <a:effectLst/>
                          <a:latin typeface="Calibri" panose="020F0502020204030204" pitchFamily="34" charset="0"/>
                        </a:rPr>
                        <a:t>Urban</a:t>
                      </a:r>
                    </a:p>
                  </a:txBody>
                  <a:tcPr marL="7620" marR="7620" marT="762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2022</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dirty="0">
                          <a:solidFill>
                            <a:srgbClr val="000000"/>
                          </a:solidFill>
                          <a:effectLst/>
                          <a:latin typeface="Calibri" panose="020F0502020204030204" pitchFamily="34" charset="0"/>
                        </a:rPr>
                        <a:t>December</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dirty="0">
                          <a:solidFill>
                            <a:srgbClr val="000000"/>
                          </a:solidFill>
                          <a:effectLst/>
                          <a:latin typeface="Calibri" panose="020F0502020204030204" pitchFamily="34" charset="0"/>
                        </a:rPr>
                        <a:t>-1.49%</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8696B"/>
                    </a:solidFill>
                  </a:tcPr>
                </a:tc>
                <a:extLst>
                  <a:ext uri="{0D108BD9-81ED-4DB2-BD59-A6C34878D82A}">
                    <a16:rowId xmlns:a16="http://schemas.microsoft.com/office/drawing/2014/main" val="1844533480"/>
                  </a:ext>
                </a:extLst>
              </a:tr>
            </a:tbl>
          </a:graphicData>
        </a:graphic>
      </p:graphicFrame>
      <p:graphicFrame>
        <p:nvGraphicFramePr>
          <p:cNvPr id="9" name="Table 8">
            <a:extLst>
              <a:ext uri="{FF2B5EF4-FFF2-40B4-BE49-F238E27FC236}">
                <a16:creationId xmlns:a16="http://schemas.microsoft.com/office/drawing/2014/main" id="{F1F07621-AE85-B643-9EA8-A4A4B79CDEE9}"/>
              </a:ext>
            </a:extLst>
          </p:cNvPr>
          <p:cNvGraphicFramePr>
            <a:graphicFrameLocks noGrp="1"/>
          </p:cNvGraphicFramePr>
          <p:nvPr>
            <p:extLst>
              <p:ext uri="{D42A27DB-BD31-4B8C-83A1-F6EECF244321}">
                <p14:modId xmlns:p14="http://schemas.microsoft.com/office/powerpoint/2010/main" val="2308756117"/>
              </p:ext>
            </p:extLst>
          </p:nvPr>
        </p:nvGraphicFramePr>
        <p:xfrm>
          <a:off x="8253572" y="1629969"/>
          <a:ext cx="3682386" cy="3598062"/>
        </p:xfrm>
        <a:graphic>
          <a:graphicData uri="http://schemas.openxmlformats.org/drawingml/2006/table">
            <a:tbl>
              <a:tblPr/>
              <a:tblGrid>
                <a:gridCol w="1254891">
                  <a:extLst>
                    <a:ext uri="{9D8B030D-6E8A-4147-A177-3AD203B41FA5}">
                      <a16:colId xmlns:a16="http://schemas.microsoft.com/office/drawing/2014/main" val="3014774389"/>
                    </a:ext>
                  </a:extLst>
                </a:gridCol>
                <a:gridCol w="555444">
                  <a:extLst>
                    <a:ext uri="{9D8B030D-6E8A-4147-A177-3AD203B41FA5}">
                      <a16:colId xmlns:a16="http://schemas.microsoft.com/office/drawing/2014/main" val="1609845026"/>
                    </a:ext>
                  </a:extLst>
                </a:gridCol>
                <a:gridCol w="1090315">
                  <a:extLst>
                    <a:ext uri="{9D8B030D-6E8A-4147-A177-3AD203B41FA5}">
                      <a16:colId xmlns:a16="http://schemas.microsoft.com/office/drawing/2014/main" val="813370557"/>
                    </a:ext>
                  </a:extLst>
                </a:gridCol>
                <a:gridCol w="781736">
                  <a:extLst>
                    <a:ext uri="{9D8B030D-6E8A-4147-A177-3AD203B41FA5}">
                      <a16:colId xmlns:a16="http://schemas.microsoft.com/office/drawing/2014/main" val="1016895321"/>
                    </a:ext>
                  </a:extLst>
                </a:gridCol>
              </a:tblGrid>
              <a:tr h="276774">
                <a:tc>
                  <a:txBody>
                    <a:bodyPr/>
                    <a:lstStyle/>
                    <a:p>
                      <a:pPr algn="ctr" fontAlgn="ctr">
                        <a:buNone/>
                      </a:pPr>
                      <a:r>
                        <a:rPr lang="en-IN" sz="1100" b="1" i="0" u="none" strike="noStrike">
                          <a:solidFill>
                            <a:srgbClr val="FFFFFF"/>
                          </a:solidFill>
                          <a:effectLst/>
                          <a:latin typeface="Calibri" panose="020F0502020204030204" pitchFamily="34" charset="0"/>
                        </a:rPr>
                        <a:t>Sector</a:t>
                      </a:r>
                    </a:p>
                  </a:txBody>
                  <a:tcPr marL="7620" marR="7620" marT="762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ctr" fontAlgn="ctr">
                        <a:buNone/>
                      </a:pPr>
                      <a:r>
                        <a:rPr lang="en-IN" sz="1100" b="1" i="0" u="none" strike="noStrike">
                          <a:solidFill>
                            <a:srgbClr val="FFFFFF"/>
                          </a:solidFill>
                          <a:effectLst/>
                          <a:latin typeface="Calibri" panose="020F0502020204030204" pitchFamily="34" charset="0"/>
                        </a:rPr>
                        <a:t>Year</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ctr" fontAlgn="ctr">
                        <a:buNone/>
                      </a:pPr>
                      <a:r>
                        <a:rPr lang="en-IN" sz="1100" b="1" i="0" u="none" strike="noStrike">
                          <a:solidFill>
                            <a:srgbClr val="FFFFFF"/>
                          </a:solidFill>
                          <a:effectLst/>
                          <a:latin typeface="Calibri" panose="020F0502020204030204" pitchFamily="34" charset="0"/>
                        </a:rPr>
                        <a:t>Month</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ctr" fontAlgn="ctr">
                        <a:buNone/>
                      </a:pPr>
                      <a:r>
                        <a:rPr lang="en-IN" sz="1100" b="1" i="0" u="none" strike="noStrike">
                          <a:solidFill>
                            <a:srgbClr val="FFFFFF"/>
                          </a:solidFill>
                          <a:effectLst/>
                          <a:latin typeface="Calibri" panose="020F0502020204030204" pitchFamily="34" charset="0"/>
                        </a:rPr>
                        <a:t>MoM%</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extLst>
                  <a:ext uri="{0D108BD9-81ED-4DB2-BD59-A6C34878D82A}">
                    <a16:rowId xmlns:a16="http://schemas.microsoft.com/office/drawing/2014/main" val="1304813962"/>
                  </a:ext>
                </a:extLst>
              </a:tr>
              <a:tr h="276774">
                <a:tc>
                  <a:txBody>
                    <a:bodyPr/>
                    <a:lstStyle/>
                    <a:p>
                      <a:pPr algn="ctr" fontAlgn="ctr">
                        <a:buNone/>
                      </a:pPr>
                      <a:r>
                        <a:rPr lang="en-IN" sz="1100" b="0" i="0" u="none" strike="noStrike">
                          <a:solidFill>
                            <a:srgbClr val="000000"/>
                          </a:solidFill>
                          <a:effectLst/>
                          <a:latin typeface="Calibri" panose="020F0502020204030204" pitchFamily="34" charset="0"/>
                        </a:rPr>
                        <a:t>Rural+Urban</a:t>
                      </a:r>
                    </a:p>
                  </a:txBody>
                  <a:tcPr marL="7620" marR="7620" marT="762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2022</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October</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1.01%</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63BE7B"/>
                    </a:solidFill>
                  </a:tcPr>
                </a:tc>
                <a:extLst>
                  <a:ext uri="{0D108BD9-81ED-4DB2-BD59-A6C34878D82A}">
                    <a16:rowId xmlns:a16="http://schemas.microsoft.com/office/drawing/2014/main" val="1976909124"/>
                  </a:ext>
                </a:extLst>
              </a:tr>
              <a:tr h="276774">
                <a:tc>
                  <a:txBody>
                    <a:bodyPr/>
                    <a:lstStyle/>
                    <a:p>
                      <a:pPr algn="ctr" fontAlgn="ctr">
                        <a:buNone/>
                      </a:pPr>
                      <a:r>
                        <a:rPr lang="en-IN" sz="1100" b="0" i="0" u="none" strike="noStrike">
                          <a:solidFill>
                            <a:srgbClr val="000000"/>
                          </a:solidFill>
                          <a:effectLst/>
                          <a:latin typeface="Calibri" panose="020F0502020204030204" pitchFamily="34" charset="0"/>
                        </a:rPr>
                        <a:t>Rural+Urban</a:t>
                      </a:r>
                    </a:p>
                  </a:txBody>
                  <a:tcPr marL="7620" marR="7620" marT="762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2022</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June</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0.92%</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7EC67D"/>
                    </a:solidFill>
                  </a:tcPr>
                </a:tc>
                <a:extLst>
                  <a:ext uri="{0D108BD9-81ED-4DB2-BD59-A6C34878D82A}">
                    <a16:rowId xmlns:a16="http://schemas.microsoft.com/office/drawing/2014/main" val="2508334171"/>
                  </a:ext>
                </a:extLst>
              </a:tr>
              <a:tr h="276774">
                <a:tc>
                  <a:txBody>
                    <a:bodyPr/>
                    <a:lstStyle/>
                    <a:p>
                      <a:pPr algn="ctr" fontAlgn="ctr">
                        <a:buNone/>
                      </a:pPr>
                      <a:r>
                        <a:rPr lang="en-IN" sz="1100" b="0" i="0" u="none" strike="noStrike">
                          <a:solidFill>
                            <a:srgbClr val="000000"/>
                          </a:solidFill>
                          <a:effectLst/>
                          <a:latin typeface="Calibri" panose="020F0502020204030204" pitchFamily="34" charset="0"/>
                        </a:rPr>
                        <a:t>Rural+Urban</a:t>
                      </a:r>
                    </a:p>
                  </a:txBody>
                  <a:tcPr marL="7620" marR="7620" marT="762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2022</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September</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0.85%</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93CC7E"/>
                    </a:solidFill>
                  </a:tcPr>
                </a:tc>
                <a:extLst>
                  <a:ext uri="{0D108BD9-81ED-4DB2-BD59-A6C34878D82A}">
                    <a16:rowId xmlns:a16="http://schemas.microsoft.com/office/drawing/2014/main" val="3135297661"/>
                  </a:ext>
                </a:extLst>
              </a:tr>
              <a:tr h="276774">
                <a:tc>
                  <a:txBody>
                    <a:bodyPr/>
                    <a:lstStyle/>
                    <a:p>
                      <a:pPr algn="ctr" fontAlgn="ctr">
                        <a:buNone/>
                      </a:pPr>
                      <a:r>
                        <a:rPr lang="en-IN" sz="1100" b="0" i="0" u="none" strike="noStrike">
                          <a:solidFill>
                            <a:srgbClr val="000000"/>
                          </a:solidFill>
                          <a:effectLst/>
                          <a:latin typeface="Calibri" panose="020F0502020204030204" pitchFamily="34" charset="0"/>
                        </a:rPr>
                        <a:t>Rural+Urban</a:t>
                      </a:r>
                    </a:p>
                  </a:txBody>
                  <a:tcPr marL="7620" marR="7620" marT="762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2022</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August</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0.74%</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B3D580"/>
                    </a:solidFill>
                  </a:tcPr>
                </a:tc>
                <a:extLst>
                  <a:ext uri="{0D108BD9-81ED-4DB2-BD59-A6C34878D82A}">
                    <a16:rowId xmlns:a16="http://schemas.microsoft.com/office/drawing/2014/main" val="3152339092"/>
                  </a:ext>
                </a:extLst>
              </a:tr>
              <a:tr h="276774">
                <a:tc>
                  <a:txBody>
                    <a:bodyPr/>
                    <a:lstStyle/>
                    <a:p>
                      <a:pPr algn="ctr" fontAlgn="ctr">
                        <a:buNone/>
                      </a:pPr>
                      <a:r>
                        <a:rPr lang="en-IN" sz="1100" b="0" i="0" u="none" strike="noStrike">
                          <a:solidFill>
                            <a:srgbClr val="000000"/>
                          </a:solidFill>
                          <a:effectLst/>
                          <a:latin typeface="Calibri" panose="020F0502020204030204" pitchFamily="34" charset="0"/>
                        </a:rPr>
                        <a:t>Rural+Urban</a:t>
                      </a:r>
                    </a:p>
                  </a:txBody>
                  <a:tcPr marL="7620" marR="7620" marT="762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2023</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May</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0.67%</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C7DB81"/>
                    </a:solidFill>
                  </a:tcPr>
                </a:tc>
                <a:extLst>
                  <a:ext uri="{0D108BD9-81ED-4DB2-BD59-A6C34878D82A}">
                    <a16:rowId xmlns:a16="http://schemas.microsoft.com/office/drawing/2014/main" val="13215315"/>
                  </a:ext>
                </a:extLst>
              </a:tr>
              <a:tr h="276774">
                <a:tc>
                  <a:txBody>
                    <a:bodyPr/>
                    <a:lstStyle/>
                    <a:p>
                      <a:pPr algn="ctr" fontAlgn="ctr">
                        <a:buNone/>
                      </a:pPr>
                      <a:r>
                        <a:rPr lang="en-IN" sz="1100" b="0" i="0" u="none" strike="noStrike">
                          <a:solidFill>
                            <a:srgbClr val="000000"/>
                          </a:solidFill>
                          <a:effectLst/>
                          <a:latin typeface="Calibri" panose="020F0502020204030204" pitchFamily="34" charset="0"/>
                        </a:rPr>
                        <a:t>Rural+Urban</a:t>
                      </a:r>
                    </a:p>
                  </a:txBody>
                  <a:tcPr marL="7620" marR="7620" marT="762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dirty="0">
                          <a:solidFill>
                            <a:srgbClr val="000000"/>
                          </a:solidFill>
                          <a:effectLst/>
                          <a:latin typeface="Calibri" panose="020F0502020204030204" pitchFamily="34" charset="0"/>
                        </a:rPr>
                        <a:t>2023</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April</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0.51%</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8E984"/>
                    </a:solidFill>
                  </a:tcPr>
                </a:tc>
                <a:extLst>
                  <a:ext uri="{0D108BD9-81ED-4DB2-BD59-A6C34878D82A}">
                    <a16:rowId xmlns:a16="http://schemas.microsoft.com/office/drawing/2014/main" val="3338731353"/>
                  </a:ext>
                </a:extLst>
              </a:tr>
              <a:tr h="276774">
                <a:tc>
                  <a:txBody>
                    <a:bodyPr/>
                    <a:lstStyle/>
                    <a:p>
                      <a:pPr algn="ctr" fontAlgn="ctr">
                        <a:buNone/>
                      </a:pPr>
                      <a:r>
                        <a:rPr lang="en-IN" sz="1100" b="0" i="0" u="none" strike="noStrike">
                          <a:solidFill>
                            <a:srgbClr val="000000"/>
                          </a:solidFill>
                          <a:effectLst/>
                          <a:latin typeface="Calibri" panose="020F0502020204030204" pitchFamily="34" charset="0"/>
                        </a:rPr>
                        <a:t>Rural+Urban</a:t>
                      </a:r>
                    </a:p>
                  </a:txBody>
                  <a:tcPr marL="7620" marR="7620" marT="762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2023</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January</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0.45%</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EE983"/>
                    </a:solidFill>
                  </a:tcPr>
                </a:tc>
                <a:extLst>
                  <a:ext uri="{0D108BD9-81ED-4DB2-BD59-A6C34878D82A}">
                    <a16:rowId xmlns:a16="http://schemas.microsoft.com/office/drawing/2014/main" val="1508108383"/>
                  </a:ext>
                </a:extLst>
              </a:tr>
              <a:tr h="276774">
                <a:tc>
                  <a:txBody>
                    <a:bodyPr/>
                    <a:lstStyle/>
                    <a:p>
                      <a:pPr algn="ctr" fontAlgn="ctr">
                        <a:buNone/>
                      </a:pPr>
                      <a:r>
                        <a:rPr lang="en-IN" sz="1100" b="0" i="0" u="none" strike="noStrike">
                          <a:solidFill>
                            <a:srgbClr val="000000"/>
                          </a:solidFill>
                          <a:effectLst/>
                          <a:latin typeface="Calibri" panose="020F0502020204030204" pitchFamily="34" charset="0"/>
                        </a:rPr>
                        <a:t>Rural+Urban</a:t>
                      </a:r>
                    </a:p>
                  </a:txBody>
                  <a:tcPr marL="7620" marR="7620" marT="762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2023</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February</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0.17%</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DD47F"/>
                    </a:solidFill>
                  </a:tcPr>
                </a:tc>
                <a:extLst>
                  <a:ext uri="{0D108BD9-81ED-4DB2-BD59-A6C34878D82A}">
                    <a16:rowId xmlns:a16="http://schemas.microsoft.com/office/drawing/2014/main" val="1029393252"/>
                  </a:ext>
                </a:extLst>
              </a:tr>
              <a:tr h="276774">
                <a:tc>
                  <a:txBody>
                    <a:bodyPr/>
                    <a:lstStyle/>
                    <a:p>
                      <a:pPr algn="ctr" fontAlgn="ctr">
                        <a:buNone/>
                      </a:pPr>
                      <a:r>
                        <a:rPr lang="en-IN" sz="1100" b="0" i="0" u="none" strike="noStrike">
                          <a:solidFill>
                            <a:srgbClr val="000000"/>
                          </a:solidFill>
                          <a:effectLst/>
                          <a:latin typeface="Calibri" panose="020F0502020204030204" pitchFamily="34" charset="0"/>
                        </a:rPr>
                        <a:t>Rural+Urban</a:t>
                      </a:r>
                    </a:p>
                  </a:txBody>
                  <a:tcPr marL="7620" marR="7620" marT="762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2022</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July</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0.06%</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DCC7E"/>
                    </a:solidFill>
                  </a:tcPr>
                </a:tc>
                <a:extLst>
                  <a:ext uri="{0D108BD9-81ED-4DB2-BD59-A6C34878D82A}">
                    <a16:rowId xmlns:a16="http://schemas.microsoft.com/office/drawing/2014/main" val="1768992998"/>
                  </a:ext>
                </a:extLst>
              </a:tr>
              <a:tr h="276774">
                <a:tc>
                  <a:txBody>
                    <a:bodyPr/>
                    <a:lstStyle/>
                    <a:p>
                      <a:pPr algn="ctr" fontAlgn="ctr">
                        <a:buNone/>
                      </a:pPr>
                      <a:r>
                        <a:rPr lang="en-IN" sz="1100" b="0" i="0" u="none" strike="noStrike">
                          <a:solidFill>
                            <a:srgbClr val="000000"/>
                          </a:solidFill>
                          <a:effectLst/>
                          <a:latin typeface="Calibri" panose="020F0502020204030204" pitchFamily="34" charset="0"/>
                        </a:rPr>
                        <a:t>Rural+Urban</a:t>
                      </a:r>
                    </a:p>
                  </a:txBody>
                  <a:tcPr marL="7620" marR="7620" marT="762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2023</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March</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0.00%</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DC87D"/>
                    </a:solidFill>
                  </a:tcPr>
                </a:tc>
                <a:extLst>
                  <a:ext uri="{0D108BD9-81ED-4DB2-BD59-A6C34878D82A}">
                    <a16:rowId xmlns:a16="http://schemas.microsoft.com/office/drawing/2014/main" val="3997998543"/>
                  </a:ext>
                </a:extLst>
              </a:tr>
              <a:tr h="276774">
                <a:tc>
                  <a:txBody>
                    <a:bodyPr/>
                    <a:lstStyle/>
                    <a:p>
                      <a:pPr algn="ctr" fontAlgn="ctr">
                        <a:buNone/>
                      </a:pPr>
                      <a:r>
                        <a:rPr lang="en-IN" sz="1100" b="0" i="0" u="none" strike="noStrike">
                          <a:solidFill>
                            <a:srgbClr val="000000"/>
                          </a:solidFill>
                          <a:effectLst/>
                          <a:latin typeface="Calibri" panose="020F0502020204030204" pitchFamily="34" charset="0"/>
                        </a:rPr>
                        <a:t>Rural+Urban</a:t>
                      </a:r>
                    </a:p>
                  </a:txBody>
                  <a:tcPr marL="7620" marR="7620" marT="762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2022</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November</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-0.72%</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A9573"/>
                    </a:solidFill>
                  </a:tcPr>
                </a:tc>
                <a:extLst>
                  <a:ext uri="{0D108BD9-81ED-4DB2-BD59-A6C34878D82A}">
                    <a16:rowId xmlns:a16="http://schemas.microsoft.com/office/drawing/2014/main" val="87803999"/>
                  </a:ext>
                </a:extLst>
              </a:tr>
              <a:tr h="276774">
                <a:tc>
                  <a:txBody>
                    <a:bodyPr/>
                    <a:lstStyle/>
                    <a:p>
                      <a:pPr algn="ctr" fontAlgn="ctr">
                        <a:buNone/>
                      </a:pPr>
                      <a:r>
                        <a:rPr lang="en-IN" sz="1100" b="0" i="0" u="none" strike="noStrike">
                          <a:solidFill>
                            <a:srgbClr val="000000"/>
                          </a:solidFill>
                          <a:effectLst/>
                          <a:latin typeface="Calibri" panose="020F0502020204030204" pitchFamily="34" charset="0"/>
                        </a:rPr>
                        <a:t>Rural+Urban</a:t>
                      </a:r>
                    </a:p>
                  </a:txBody>
                  <a:tcPr marL="7620" marR="7620" marT="762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2022</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December</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dirty="0">
                          <a:solidFill>
                            <a:srgbClr val="000000"/>
                          </a:solidFill>
                          <a:effectLst/>
                          <a:latin typeface="Calibri" panose="020F0502020204030204" pitchFamily="34" charset="0"/>
                        </a:rPr>
                        <a:t>-1.35%</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8696B"/>
                    </a:solidFill>
                  </a:tcPr>
                </a:tc>
                <a:extLst>
                  <a:ext uri="{0D108BD9-81ED-4DB2-BD59-A6C34878D82A}">
                    <a16:rowId xmlns:a16="http://schemas.microsoft.com/office/drawing/2014/main" val="528875614"/>
                  </a:ext>
                </a:extLst>
              </a:tr>
            </a:tbl>
          </a:graphicData>
        </a:graphic>
      </p:graphicFrame>
      <p:sp>
        <p:nvSpPr>
          <p:cNvPr id="11" name="TextBox 10">
            <a:extLst>
              <a:ext uri="{FF2B5EF4-FFF2-40B4-BE49-F238E27FC236}">
                <a16:creationId xmlns:a16="http://schemas.microsoft.com/office/drawing/2014/main" id="{E4E72DF4-D951-DBC8-2133-72514F4AEEAE}"/>
              </a:ext>
            </a:extLst>
          </p:cNvPr>
          <p:cNvSpPr txBox="1"/>
          <p:nvPr/>
        </p:nvSpPr>
        <p:spPr>
          <a:xfrm>
            <a:off x="216310" y="365940"/>
            <a:ext cx="11503742" cy="769441"/>
          </a:xfrm>
          <a:prstGeom prst="rect">
            <a:avLst/>
          </a:prstGeom>
          <a:noFill/>
        </p:spPr>
        <p:txBody>
          <a:bodyPr wrap="square">
            <a:spAutoFit/>
          </a:bodyPr>
          <a:lstStyle/>
          <a:p>
            <a:pPr algn="ctr"/>
            <a:r>
              <a:rPr lang="en-IN" sz="4400" b="1" dirty="0">
                <a:ln w="0"/>
                <a:solidFill>
                  <a:schemeClr val="accent1"/>
                </a:solidFill>
                <a:effectLst>
                  <a:outerShdw blurRad="38100" dist="25400" dir="5400000" algn="ctr" rotWithShape="0">
                    <a:srgbClr val="6E747A">
                      <a:alpha val="43000"/>
                    </a:srgbClr>
                  </a:outerShdw>
                </a:effectLst>
              </a:rPr>
              <a:t>Highest</a:t>
            </a:r>
            <a:r>
              <a:rPr lang="en-US" sz="4400" b="1" dirty="0">
                <a:ln w="0"/>
                <a:solidFill>
                  <a:schemeClr val="accent1"/>
                </a:solidFill>
                <a:effectLst>
                  <a:outerShdw blurRad="38100" dist="25400" dir="5400000" algn="ctr" rotWithShape="0">
                    <a:srgbClr val="6E747A">
                      <a:alpha val="43000"/>
                    </a:srgbClr>
                  </a:outerShdw>
                </a:effectLst>
              </a:rPr>
              <a:t> and Lowest food inflation months</a:t>
            </a:r>
            <a:endParaRPr lang="en-IN" sz="4400" dirty="0"/>
          </a:p>
        </p:txBody>
      </p:sp>
    </p:spTree>
    <p:extLst>
      <p:ext uri="{BB962C8B-B14F-4D97-AF65-F5344CB8AC3E}">
        <p14:creationId xmlns:p14="http://schemas.microsoft.com/office/powerpoint/2010/main" val="36079120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74321-3C73-1385-F9EB-43A85FDB0A3E}"/>
            </a:ext>
          </a:extLst>
        </p:cNvPr>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34247D0B-0615-434F-7084-336E816B7EE4}"/>
              </a:ext>
            </a:extLst>
          </p:cNvPr>
          <p:cNvGraphicFramePr>
            <a:graphicFrameLocks/>
          </p:cNvGraphicFramePr>
          <p:nvPr>
            <p:extLst>
              <p:ext uri="{D42A27DB-BD31-4B8C-83A1-F6EECF244321}">
                <p14:modId xmlns:p14="http://schemas.microsoft.com/office/powerpoint/2010/main" val="860341756"/>
              </p:ext>
            </p:extLst>
          </p:nvPr>
        </p:nvGraphicFramePr>
        <p:xfrm>
          <a:off x="894735" y="1071716"/>
          <a:ext cx="9930581" cy="510294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6165650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BDBA7-4E57-3755-8EC3-0DCBBDF9931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0686AC4-D9A7-9FF4-1378-059867A92ECB}"/>
              </a:ext>
            </a:extLst>
          </p:cNvPr>
          <p:cNvSpPr txBox="1"/>
          <p:nvPr/>
        </p:nvSpPr>
        <p:spPr>
          <a:xfrm>
            <a:off x="0" y="474096"/>
            <a:ext cx="11985523" cy="1446550"/>
          </a:xfrm>
          <a:prstGeom prst="rect">
            <a:avLst/>
          </a:prstGeom>
          <a:noFill/>
        </p:spPr>
        <p:txBody>
          <a:bodyPr wrap="square">
            <a:spAutoFit/>
          </a:bodyPr>
          <a:lstStyle/>
          <a:p>
            <a:pPr algn="ctr"/>
            <a:r>
              <a:rPr lang="en-US" sz="4400" b="1" dirty="0">
                <a:ln w="0"/>
                <a:solidFill>
                  <a:schemeClr val="accent1"/>
                </a:solidFill>
                <a:effectLst>
                  <a:outerShdw blurRad="38100" dist="25400" dir="5400000" algn="ctr" rotWithShape="0">
                    <a:srgbClr val="6E747A">
                      <a:alpha val="43000"/>
                    </a:srgbClr>
                  </a:outerShdw>
                </a:effectLst>
              </a:rPr>
              <a:t>Individual Food Category Contributor Towards Inflation</a:t>
            </a:r>
            <a:endParaRPr lang="en-IN" sz="4400" b="1" dirty="0">
              <a:ln w="0"/>
              <a:solidFill>
                <a:schemeClr val="accent1"/>
              </a:solidFill>
              <a:effectLst>
                <a:outerShdw blurRad="38100" dist="25400" dir="5400000" algn="ctr" rotWithShape="0">
                  <a:srgbClr val="6E747A">
                    <a:alpha val="43000"/>
                  </a:srgbClr>
                </a:outerShdw>
              </a:effectLst>
            </a:endParaRPr>
          </a:p>
        </p:txBody>
      </p:sp>
      <p:graphicFrame>
        <p:nvGraphicFramePr>
          <p:cNvPr id="15" name="Table 14">
            <a:extLst>
              <a:ext uri="{FF2B5EF4-FFF2-40B4-BE49-F238E27FC236}">
                <a16:creationId xmlns:a16="http://schemas.microsoft.com/office/drawing/2014/main" id="{E6887DDC-A651-EE78-99DD-7C2D8BAAF96B}"/>
              </a:ext>
            </a:extLst>
          </p:cNvPr>
          <p:cNvGraphicFramePr>
            <a:graphicFrameLocks noGrp="1"/>
          </p:cNvGraphicFramePr>
          <p:nvPr>
            <p:extLst>
              <p:ext uri="{D42A27DB-BD31-4B8C-83A1-F6EECF244321}">
                <p14:modId xmlns:p14="http://schemas.microsoft.com/office/powerpoint/2010/main" val="2360286980"/>
              </p:ext>
            </p:extLst>
          </p:nvPr>
        </p:nvGraphicFramePr>
        <p:xfrm>
          <a:off x="1533834" y="2119033"/>
          <a:ext cx="9458632" cy="4264871"/>
        </p:xfrm>
        <a:graphic>
          <a:graphicData uri="http://schemas.openxmlformats.org/drawingml/2006/table">
            <a:tbl>
              <a:tblPr/>
              <a:tblGrid>
                <a:gridCol w="2313028">
                  <a:extLst>
                    <a:ext uri="{9D8B030D-6E8A-4147-A177-3AD203B41FA5}">
                      <a16:colId xmlns:a16="http://schemas.microsoft.com/office/drawing/2014/main" val="2407234044"/>
                    </a:ext>
                  </a:extLst>
                </a:gridCol>
                <a:gridCol w="1982595">
                  <a:extLst>
                    <a:ext uri="{9D8B030D-6E8A-4147-A177-3AD203B41FA5}">
                      <a16:colId xmlns:a16="http://schemas.microsoft.com/office/drawing/2014/main" val="3522382707"/>
                    </a:ext>
                  </a:extLst>
                </a:gridCol>
                <a:gridCol w="1982595">
                  <a:extLst>
                    <a:ext uri="{9D8B030D-6E8A-4147-A177-3AD203B41FA5}">
                      <a16:colId xmlns:a16="http://schemas.microsoft.com/office/drawing/2014/main" val="715578805"/>
                    </a:ext>
                  </a:extLst>
                </a:gridCol>
                <a:gridCol w="3180414">
                  <a:extLst>
                    <a:ext uri="{9D8B030D-6E8A-4147-A177-3AD203B41FA5}">
                      <a16:colId xmlns:a16="http://schemas.microsoft.com/office/drawing/2014/main" val="453801281"/>
                    </a:ext>
                  </a:extLst>
                </a:gridCol>
              </a:tblGrid>
              <a:tr h="328067">
                <a:tc>
                  <a:txBody>
                    <a:bodyPr/>
                    <a:lstStyle/>
                    <a:p>
                      <a:pPr algn="ctr" fontAlgn="ctr">
                        <a:buNone/>
                      </a:pPr>
                      <a:r>
                        <a:rPr lang="en-IN" sz="1100" b="1" i="0" u="none" strike="noStrike">
                          <a:solidFill>
                            <a:srgbClr val="FFFFFF"/>
                          </a:solidFill>
                          <a:effectLst/>
                          <a:latin typeface="Calibri" panose="020F0502020204030204" pitchFamily="34" charset="0"/>
                        </a:rPr>
                        <a:t>Category</a:t>
                      </a:r>
                    </a:p>
                  </a:txBody>
                  <a:tcPr marL="7620" marR="7620" marT="762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ctr" fontAlgn="ctr">
                        <a:buNone/>
                      </a:pPr>
                      <a:r>
                        <a:rPr lang="en-IN" sz="1100" b="1" i="0" u="none" strike="noStrike">
                          <a:solidFill>
                            <a:srgbClr val="FFFFFF"/>
                          </a:solidFill>
                          <a:effectLst/>
                          <a:latin typeface="Calibri" panose="020F0502020204030204" pitchFamily="34" charset="0"/>
                        </a:rPr>
                        <a:t>Rural</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ctr" fontAlgn="ctr">
                        <a:buNone/>
                      </a:pPr>
                      <a:r>
                        <a:rPr lang="en-IN" sz="1100" b="1" i="0" u="none" strike="noStrike">
                          <a:solidFill>
                            <a:srgbClr val="FFFFFF"/>
                          </a:solidFill>
                          <a:effectLst/>
                          <a:latin typeface="Calibri" panose="020F0502020204030204" pitchFamily="34" charset="0"/>
                        </a:rPr>
                        <a:t>Urban</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ctr" fontAlgn="ctr">
                        <a:buNone/>
                      </a:pPr>
                      <a:r>
                        <a:rPr lang="en-IN" sz="1100" b="1" i="0" u="none" strike="noStrike">
                          <a:solidFill>
                            <a:srgbClr val="FFFFFF"/>
                          </a:solidFill>
                          <a:effectLst/>
                          <a:latin typeface="Calibri" panose="020F0502020204030204" pitchFamily="34" charset="0"/>
                        </a:rPr>
                        <a:t>Rural + Urban</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extLst>
                  <a:ext uri="{0D108BD9-81ED-4DB2-BD59-A6C34878D82A}">
                    <a16:rowId xmlns:a16="http://schemas.microsoft.com/office/drawing/2014/main" val="1645696382"/>
                  </a:ext>
                </a:extLst>
              </a:tr>
              <a:tr h="328067">
                <a:tc>
                  <a:txBody>
                    <a:bodyPr/>
                    <a:lstStyle/>
                    <a:p>
                      <a:pPr algn="ctr" fontAlgn="ctr">
                        <a:buNone/>
                      </a:pPr>
                      <a:r>
                        <a:rPr lang="en-IN" sz="1100" b="0" i="0" u="none" strike="noStrike">
                          <a:solidFill>
                            <a:srgbClr val="000000"/>
                          </a:solidFill>
                          <a:effectLst/>
                          <a:latin typeface="Calibri" panose="020F0502020204030204" pitchFamily="34" charset="0"/>
                        </a:rPr>
                        <a:t>Cereals and products</a:t>
                      </a:r>
                    </a:p>
                  </a:txBody>
                  <a:tcPr marL="7620" marR="7620" marT="762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12.61%</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10.92%</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12.06%</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449001831"/>
                  </a:ext>
                </a:extLst>
              </a:tr>
              <a:tr h="328067">
                <a:tc>
                  <a:txBody>
                    <a:bodyPr/>
                    <a:lstStyle/>
                    <a:p>
                      <a:pPr algn="ctr" fontAlgn="ctr">
                        <a:buNone/>
                      </a:pPr>
                      <a:r>
                        <a:rPr lang="en-IN" sz="1100" b="0" i="0" u="none" strike="noStrike">
                          <a:solidFill>
                            <a:srgbClr val="000000"/>
                          </a:solidFill>
                          <a:effectLst/>
                          <a:latin typeface="Calibri" panose="020F0502020204030204" pitchFamily="34" charset="0"/>
                        </a:rPr>
                        <a:t>Meat and fish</a:t>
                      </a:r>
                    </a:p>
                  </a:txBody>
                  <a:tcPr marL="7620" marR="7620" marT="762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-2.62%</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-1.79%</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-2.32%</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872387023"/>
                  </a:ext>
                </a:extLst>
              </a:tr>
              <a:tr h="328067">
                <a:tc>
                  <a:txBody>
                    <a:bodyPr/>
                    <a:lstStyle/>
                    <a:p>
                      <a:pPr algn="ctr" fontAlgn="ctr">
                        <a:buNone/>
                      </a:pPr>
                      <a:r>
                        <a:rPr lang="en-IN" sz="1100" b="0" i="0" u="none" strike="noStrike">
                          <a:solidFill>
                            <a:srgbClr val="000000"/>
                          </a:solidFill>
                          <a:effectLst/>
                          <a:latin typeface="Calibri" panose="020F0502020204030204" pitchFamily="34" charset="0"/>
                        </a:rPr>
                        <a:t>Egg</a:t>
                      </a:r>
                    </a:p>
                  </a:txBody>
                  <a:tcPr marL="7620" marR="7620" marT="762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0.83%</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2.26%</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1.41%</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1716554682"/>
                  </a:ext>
                </a:extLst>
              </a:tr>
              <a:tr h="328067">
                <a:tc>
                  <a:txBody>
                    <a:bodyPr/>
                    <a:lstStyle/>
                    <a:p>
                      <a:pPr algn="ctr" fontAlgn="ctr">
                        <a:buNone/>
                      </a:pPr>
                      <a:r>
                        <a:rPr lang="en-IN" sz="1100" b="0" i="0" u="none" strike="noStrike">
                          <a:solidFill>
                            <a:srgbClr val="000000"/>
                          </a:solidFill>
                          <a:effectLst/>
                          <a:latin typeface="Calibri" panose="020F0502020204030204" pitchFamily="34" charset="0"/>
                        </a:rPr>
                        <a:t>Milk and products</a:t>
                      </a:r>
                    </a:p>
                  </a:txBody>
                  <a:tcPr marL="7620" marR="7620" marT="762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8.59%</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7.81%</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8.26%</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2079194227"/>
                  </a:ext>
                </a:extLst>
              </a:tr>
              <a:tr h="328067">
                <a:tc>
                  <a:txBody>
                    <a:bodyPr/>
                    <a:lstStyle/>
                    <a:p>
                      <a:pPr algn="ctr" fontAlgn="ctr">
                        <a:buNone/>
                      </a:pPr>
                      <a:r>
                        <a:rPr lang="en-IN" sz="1100" b="0" i="0" u="none" strike="noStrike">
                          <a:solidFill>
                            <a:srgbClr val="000000"/>
                          </a:solidFill>
                          <a:effectLst/>
                          <a:latin typeface="Calibri" panose="020F0502020204030204" pitchFamily="34" charset="0"/>
                        </a:rPr>
                        <a:t>Oils and fats</a:t>
                      </a:r>
                    </a:p>
                  </a:txBody>
                  <a:tcPr marL="7620" marR="7620" marT="762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-16.72%</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-12.83%</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-15.38%</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1613552257"/>
                  </a:ext>
                </a:extLst>
              </a:tr>
              <a:tr h="328067">
                <a:tc>
                  <a:txBody>
                    <a:bodyPr/>
                    <a:lstStyle/>
                    <a:p>
                      <a:pPr algn="ctr" fontAlgn="ctr">
                        <a:buNone/>
                      </a:pPr>
                      <a:r>
                        <a:rPr lang="en-IN" sz="1100" b="0" i="0" u="none" strike="noStrike">
                          <a:solidFill>
                            <a:srgbClr val="000000"/>
                          </a:solidFill>
                          <a:effectLst/>
                          <a:latin typeface="Calibri" panose="020F0502020204030204" pitchFamily="34" charset="0"/>
                        </a:rPr>
                        <a:t>Fruits</a:t>
                      </a:r>
                    </a:p>
                  </a:txBody>
                  <a:tcPr marL="7620" marR="7620" marT="762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1.93%</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0.98%</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1.47%</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3696862263"/>
                  </a:ext>
                </a:extLst>
              </a:tr>
              <a:tr h="328067">
                <a:tc>
                  <a:txBody>
                    <a:bodyPr/>
                    <a:lstStyle/>
                    <a:p>
                      <a:pPr algn="ctr" fontAlgn="ctr">
                        <a:buNone/>
                      </a:pPr>
                      <a:r>
                        <a:rPr lang="en-IN" sz="1100" b="0" i="0" u="none" strike="noStrike">
                          <a:solidFill>
                            <a:srgbClr val="000000"/>
                          </a:solidFill>
                          <a:effectLst/>
                          <a:latin typeface="Calibri" panose="020F0502020204030204" pitchFamily="34" charset="0"/>
                        </a:rPr>
                        <a:t>Vegetables</a:t>
                      </a:r>
                    </a:p>
                  </a:txBody>
                  <a:tcPr marL="7620" marR="7620" marT="762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-11.12%</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-12.53%</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-11.68%</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3723056247"/>
                  </a:ext>
                </a:extLst>
              </a:tr>
              <a:tr h="328067">
                <a:tc>
                  <a:txBody>
                    <a:bodyPr/>
                    <a:lstStyle/>
                    <a:p>
                      <a:pPr algn="ctr" fontAlgn="ctr">
                        <a:buNone/>
                      </a:pPr>
                      <a:r>
                        <a:rPr lang="en-IN" sz="1100" b="0" i="0" u="none" strike="noStrike">
                          <a:solidFill>
                            <a:srgbClr val="000000"/>
                          </a:solidFill>
                          <a:effectLst/>
                          <a:latin typeface="Calibri" panose="020F0502020204030204" pitchFamily="34" charset="0"/>
                        </a:rPr>
                        <a:t>Pulses and products</a:t>
                      </a:r>
                    </a:p>
                  </a:txBody>
                  <a:tcPr marL="7620" marR="7620" marT="762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6.26%</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8.13%</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6.88%</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617166920"/>
                  </a:ext>
                </a:extLst>
              </a:tr>
              <a:tr h="328067">
                <a:tc>
                  <a:txBody>
                    <a:bodyPr/>
                    <a:lstStyle/>
                    <a:p>
                      <a:pPr algn="ctr" fontAlgn="ctr">
                        <a:buNone/>
                      </a:pPr>
                      <a:r>
                        <a:rPr lang="en-IN" sz="1100" b="0" i="0" u="none" strike="noStrike">
                          <a:solidFill>
                            <a:srgbClr val="000000"/>
                          </a:solidFill>
                          <a:effectLst/>
                          <a:latin typeface="Calibri" panose="020F0502020204030204" pitchFamily="34" charset="0"/>
                        </a:rPr>
                        <a:t>Sugar and Confectionery</a:t>
                      </a:r>
                    </a:p>
                  </a:txBody>
                  <a:tcPr marL="7620" marR="7620" marT="762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2.35%</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2.31%</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2.34%</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1060403544"/>
                  </a:ext>
                </a:extLst>
              </a:tr>
              <a:tr h="328067">
                <a:tc>
                  <a:txBody>
                    <a:bodyPr/>
                    <a:lstStyle/>
                    <a:p>
                      <a:pPr algn="ctr" fontAlgn="ctr">
                        <a:buNone/>
                      </a:pPr>
                      <a:r>
                        <a:rPr lang="en-IN" sz="1100" b="0" i="0" u="none" strike="noStrike">
                          <a:solidFill>
                            <a:srgbClr val="000000"/>
                          </a:solidFill>
                          <a:effectLst/>
                          <a:latin typeface="Calibri" panose="020F0502020204030204" pitchFamily="34" charset="0"/>
                        </a:rPr>
                        <a:t>Spices</a:t>
                      </a:r>
                    </a:p>
                  </a:txBody>
                  <a:tcPr marL="7620" marR="7620" marT="762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16.99%</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15.48%</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16.52%</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3464463028"/>
                  </a:ext>
                </a:extLst>
              </a:tr>
              <a:tr h="328067">
                <a:tc>
                  <a:txBody>
                    <a:bodyPr/>
                    <a:lstStyle/>
                    <a:p>
                      <a:pPr algn="ctr" fontAlgn="ctr">
                        <a:buNone/>
                      </a:pPr>
                      <a:r>
                        <a:rPr lang="en-US" sz="1100" b="0" i="0" u="none" strike="noStrike">
                          <a:solidFill>
                            <a:srgbClr val="000000"/>
                          </a:solidFill>
                          <a:effectLst/>
                          <a:latin typeface="Calibri" panose="020F0502020204030204" pitchFamily="34" charset="0"/>
                        </a:rPr>
                        <a:t>Prepared meals, snacks, sweets etc.</a:t>
                      </a:r>
                    </a:p>
                  </a:txBody>
                  <a:tcPr marL="7620" marR="7620" marT="762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5.06%</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6.12%</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5.60%</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954791325"/>
                  </a:ext>
                </a:extLst>
              </a:tr>
              <a:tr h="328067">
                <a:tc>
                  <a:txBody>
                    <a:bodyPr/>
                    <a:lstStyle/>
                    <a:p>
                      <a:pPr algn="ctr" fontAlgn="ctr">
                        <a:buNone/>
                      </a:pPr>
                      <a:r>
                        <a:rPr lang="en-IN" sz="1100" b="0" i="0" u="none" strike="noStrike">
                          <a:solidFill>
                            <a:srgbClr val="000000"/>
                          </a:solidFill>
                          <a:effectLst/>
                          <a:latin typeface="Calibri" panose="020F0502020204030204" pitchFamily="34" charset="0"/>
                        </a:rPr>
                        <a:t>Food and beverages</a:t>
                      </a:r>
                    </a:p>
                  </a:txBody>
                  <a:tcPr marL="7620" marR="7620" marT="7620"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2.55%</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2.12%</a:t>
                      </a:r>
                    </a:p>
                  </a:txBody>
                  <a:tcPr marL="7620" marR="7620" marT="7620"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dirty="0">
                          <a:solidFill>
                            <a:srgbClr val="000000"/>
                          </a:solidFill>
                          <a:effectLst/>
                          <a:latin typeface="Calibri" panose="020F0502020204030204" pitchFamily="34" charset="0"/>
                        </a:rPr>
                        <a:t>2.40%</a:t>
                      </a:r>
                    </a:p>
                  </a:txBody>
                  <a:tcPr marL="7620" marR="7620" marT="7620"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extLst>
                  <a:ext uri="{0D108BD9-81ED-4DB2-BD59-A6C34878D82A}">
                    <a16:rowId xmlns:a16="http://schemas.microsoft.com/office/drawing/2014/main" val="1482659078"/>
                  </a:ext>
                </a:extLst>
              </a:tr>
            </a:tbl>
          </a:graphicData>
        </a:graphic>
      </p:graphicFrame>
    </p:spTree>
    <p:extLst>
      <p:ext uri="{BB962C8B-B14F-4D97-AF65-F5344CB8AC3E}">
        <p14:creationId xmlns:p14="http://schemas.microsoft.com/office/powerpoint/2010/main" val="36345232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43D02-4CCD-0563-FCE0-5EE1FF9D6CE2}"/>
            </a:ext>
          </a:extLst>
        </p:cNvPr>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AC4608D6-5D86-7F7A-C0DC-0C11B0755607}"/>
              </a:ext>
            </a:extLst>
          </p:cNvPr>
          <p:cNvGraphicFramePr>
            <a:graphicFrameLocks/>
          </p:cNvGraphicFramePr>
          <p:nvPr>
            <p:extLst>
              <p:ext uri="{D42A27DB-BD31-4B8C-83A1-F6EECF244321}">
                <p14:modId xmlns:p14="http://schemas.microsoft.com/office/powerpoint/2010/main" val="582365553"/>
              </p:ext>
            </p:extLst>
          </p:nvPr>
        </p:nvGraphicFramePr>
        <p:xfrm>
          <a:off x="1184787" y="1474839"/>
          <a:ext cx="9822426" cy="4977891"/>
        </p:xfrm>
        <a:graphic>
          <a:graphicData uri="http://schemas.openxmlformats.org/drawingml/2006/chart">
            <c:chart xmlns:c="http://schemas.openxmlformats.org/drawingml/2006/chart" xmlns:r="http://schemas.openxmlformats.org/officeDocument/2006/relationships" r:id="rId2"/>
          </a:graphicData>
        </a:graphic>
      </p:graphicFrame>
      <p:sp>
        <p:nvSpPr>
          <p:cNvPr id="4" name="TextBox 3">
            <a:extLst>
              <a:ext uri="{FF2B5EF4-FFF2-40B4-BE49-F238E27FC236}">
                <a16:creationId xmlns:a16="http://schemas.microsoft.com/office/drawing/2014/main" id="{F51AE2AD-1062-913D-4CFC-0CD719F1C787}"/>
              </a:ext>
            </a:extLst>
          </p:cNvPr>
          <p:cNvSpPr txBox="1"/>
          <p:nvPr/>
        </p:nvSpPr>
        <p:spPr>
          <a:xfrm>
            <a:off x="609599" y="405270"/>
            <a:ext cx="11484077" cy="369332"/>
          </a:xfrm>
          <a:prstGeom prst="rect">
            <a:avLst/>
          </a:prstGeom>
          <a:noFill/>
        </p:spPr>
        <p:txBody>
          <a:bodyPr wrap="square">
            <a:spAutoFit/>
          </a:bodyPr>
          <a:lstStyle/>
          <a:p>
            <a:pPr marL="285750" indent="-285750">
              <a:buFont typeface="Arial" panose="020B0604020202020204" pitchFamily="34" charset="0"/>
              <a:buChar char="•"/>
            </a:pPr>
            <a:r>
              <a:rPr lang="en-US" sz="1800" dirty="0">
                <a:solidFill>
                  <a:schemeClr val="tx1"/>
                </a:solidFill>
              </a:rPr>
              <a:t>Based on the research, </a:t>
            </a:r>
            <a:r>
              <a:rPr lang="en-IN" dirty="0"/>
              <a:t>spices has the most inflation rate in all rural, urban and </a:t>
            </a:r>
            <a:r>
              <a:rPr lang="en-IN" dirty="0" err="1"/>
              <a:t>rural+urban</a:t>
            </a:r>
            <a:r>
              <a:rPr lang="en-IN" dirty="0"/>
              <a:t>.</a:t>
            </a:r>
            <a:endParaRPr lang="en-US" sz="1800" dirty="0">
              <a:solidFill>
                <a:schemeClr val="tx1"/>
              </a:solidFill>
            </a:endParaRPr>
          </a:p>
        </p:txBody>
      </p:sp>
    </p:spTree>
    <p:extLst>
      <p:ext uri="{BB962C8B-B14F-4D97-AF65-F5344CB8AC3E}">
        <p14:creationId xmlns:p14="http://schemas.microsoft.com/office/powerpoint/2010/main" val="24329177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78CA036-D70B-1EC8-DFDF-545D737D6F3E}"/>
              </a:ext>
            </a:extLst>
          </p:cNvPr>
          <p:cNvSpPr/>
          <p:nvPr/>
        </p:nvSpPr>
        <p:spPr>
          <a:xfrm>
            <a:off x="668592" y="825910"/>
            <a:ext cx="10854814" cy="246297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2000" b="1" dirty="0"/>
              <a:t>Problem 4. </a:t>
            </a:r>
          </a:p>
          <a:p>
            <a:pPr algn="ctr"/>
            <a:r>
              <a:rPr lang="en-IN" sz="2000" dirty="0"/>
              <a:t>Investigate how the onset and progression of the COVID-19 pandemic affected inflation rates in India. </a:t>
            </a:r>
            <a:r>
              <a:rPr lang="en-IN" sz="2000" dirty="0" err="1"/>
              <a:t>Analyze</a:t>
            </a:r>
            <a:r>
              <a:rPr lang="en-IN" sz="2000" dirty="0"/>
              <a:t> the Impact of key pandemic milestone (first lockdown) on the CPI inflation %, specially focus on categories like healthcare, food, and essential services.</a:t>
            </a:r>
          </a:p>
          <a:p>
            <a:pPr algn="ctr"/>
            <a:r>
              <a:rPr lang="en-IN" sz="2000" dirty="0"/>
              <a:t>Hint: You can consider Mar'20 as the onset of covid, and can compare the inflation trend before and after Mar'20 to see if there is a change in inflation % before and after.</a:t>
            </a:r>
          </a:p>
        </p:txBody>
      </p:sp>
    </p:spTree>
    <p:extLst>
      <p:ext uri="{BB962C8B-B14F-4D97-AF65-F5344CB8AC3E}">
        <p14:creationId xmlns:p14="http://schemas.microsoft.com/office/powerpoint/2010/main" val="29503768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9AE9C54E-89BF-FC7D-D4FE-4BDFA00AE5D9}"/>
              </a:ext>
            </a:extLst>
          </p:cNvPr>
          <p:cNvGraphicFramePr>
            <a:graphicFrameLocks/>
          </p:cNvGraphicFramePr>
          <p:nvPr>
            <p:extLst>
              <p:ext uri="{D42A27DB-BD31-4B8C-83A1-F6EECF244321}">
                <p14:modId xmlns:p14="http://schemas.microsoft.com/office/powerpoint/2010/main" val="4153580383"/>
              </p:ext>
            </p:extLst>
          </p:nvPr>
        </p:nvGraphicFramePr>
        <p:xfrm>
          <a:off x="5820697" y="3365090"/>
          <a:ext cx="6056670" cy="318319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Chart 2">
            <a:extLst>
              <a:ext uri="{FF2B5EF4-FFF2-40B4-BE49-F238E27FC236}">
                <a16:creationId xmlns:a16="http://schemas.microsoft.com/office/drawing/2014/main" id="{F5204C82-B41F-E568-BCB2-F456AA44AE33}"/>
              </a:ext>
            </a:extLst>
          </p:cNvPr>
          <p:cNvGraphicFramePr>
            <a:graphicFrameLocks/>
          </p:cNvGraphicFramePr>
          <p:nvPr>
            <p:extLst>
              <p:ext uri="{D42A27DB-BD31-4B8C-83A1-F6EECF244321}">
                <p14:modId xmlns:p14="http://schemas.microsoft.com/office/powerpoint/2010/main" val="3489536823"/>
              </p:ext>
            </p:extLst>
          </p:nvPr>
        </p:nvGraphicFramePr>
        <p:xfrm>
          <a:off x="167148" y="307258"/>
          <a:ext cx="5510981" cy="305783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4830558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2A2E8-1335-F0E0-F1E7-E761FE325CC8}"/>
            </a:ext>
          </a:extLst>
        </p:cNvPr>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9A054CDA-743F-B933-CA6F-2D78CB507CA6}"/>
              </a:ext>
            </a:extLst>
          </p:cNvPr>
          <p:cNvGraphicFramePr>
            <a:graphicFrameLocks/>
          </p:cNvGraphicFramePr>
          <p:nvPr>
            <p:extLst>
              <p:ext uri="{D42A27DB-BD31-4B8C-83A1-F6EECF244321}">
                <p14:modId xmlns:p14="http://schemas.microsoft.com/office/powerpoint/2010/main" val="4176319250"/>
              </p:ext>
            </p:extLst>
          </p:nvPr>
        </p:nvGraphicFramePr>
        <p:xfrm>
          <a:off x="2035277" y="371167"/>
          <a:ext cx="7639664" cy="3057833"/>
        </p:xfrm>
        <a:graphic>
          <a:graphicData uri="http://schemas.openxmlformats.org/drawingml/2006/chart">
            <c:chart xmlns:c="http://schemas.openxmlformats.org/drawingml/2006/chart" xmlns:r="http://schemas.openxmlformats.org/officeDocument/2006/relationships" r:id="rId2"/>
          </a:graphicData>
        </a:graphic>
      </p:graphicFrame>
      <p:sp>
        <p:nvSpPr>
          <p:cNvPr id="2" name="Rectangle 1">
            <a:extLst>
              <a:ext uri="{FF2B5EF4-FFF2-40B4-BE49-F238E27FC236}">
                <a16:creationId xmlns:a16="http://schemas.microsoft.com/office/drawing/2014/main" id="{149B7BEE-E0CF-1E6C-31F6-B2AE799286C0}"/>
              </a:ext>
            </a:extLst>
          </p:cNvPr>
          <p:cNvSpPr/>
          <p:nvPr/>
        </p:nvSpPr>
        <p:spPr>
          <a:xfrm>
            <a:off x="781662" y="3869531"/>
            <a:ext cx="10854814" cy="74233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US" b="1" dirty="0"/>
              <a:t>Pre-COVID (Before Mar’20):</a:t>
            </a:r>
            <a:r>
              <a:rPr lang="en-US" dirty="0"/>
              <a:t> Stable inflation range</a:t>
            </a:r>
            <a:br>
              <a:rPr lang="en-US" dirty="0"/>
            </a:br>
            <a:r>
              <a:rPr lang="en-US" b="1" dirty="0"/>
              <a:t>Post-Lockdown:</a:t>
            </a:r>
            <a:r>
              <a:rPr lang="en-US" dirty="0"/>
              <a:t> Supply chain disruption → rise in food &amp; healthcare inflation</a:t>
            </a:r>
            <a:endParaRPr lang="en-IN" dirty="0"/>
          </a:p>
        </p:txBody>
      </p:sp>
      <p:sp>
        <p:nvSpPr>
          <p:cNvPr id="3" name="Rectangle 2">
            <a:extLst>
              <a:ext uri="{FF2B5EF4-FFF2-40B4-BE49-F238E27FC236}">
                <a16:creationId xmlns:a16="http://schemas.microsoft.com/office/drawing/2014/main" id="{AEF71CE2-2D6F-9440-8FAA-1A8D393E4FB4}"/>
              </a:ext>
            </a:extLst>
          </p:cNvPr>
          <p:cNvSpPr/>
          <p:nvPr/>
        </p:nvSpPr>
        <p:spPr>
          <a:xfrm>
            <a:off x="781662" y="5052397"/>
            <a:ext cx="10854814" cy="74233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US" b="1" dirty="0"/>
              <a:t>Insight: </a:t>
            </a:r>
            <a:r>
              <a:rPr lang="en-US" dirty="0"/>
              <a:t>COVID lockdown disrupted supply chains, increased logistics costs, and shifted demand patterns, leading to temporary inflation spikes in essential categories.</a:t>
            </a:r>
            <a:endParaRPr lang="en-IN" dirty="0"/>
          </a:p>
        </p:txBody>
      </p:sp>
    </p:spTree>
    <p:extLst>
      <p:ext uri="{BB962C8B-B14F-4D97-AF65-F5344CB8AC3E}">
        <p14:creationId xmlns:p14="http://schemas.microsoft.com/office/powerpoint/2010/main" val="41166237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D398D-B444-D13F-8D04-92B8B2577AA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C5BDDB1-4564-EC80-70FC-8F882B89B2DC}"/>
              </a:ext>
            </a:extLst>
          </p:cNvPr>
          <p:cNvSpPr/>
          <p:nvPr/>
        </p:nvSpPr>
        <p:spPr>
          <a:xfrm>
            <a:off x="668593" y="584227"/>
            <a:ext cx="10854814" cy="269403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b="1" dirty="0"/>
              <a:t>Problem 5. </a:t>
            </a:r>
          </a:p>
          <a:p>
            <a:pPr algn="ctr"/>
            <a:r>
              <a:rPr lang="en-US" sz="2000" dirty="0"/>
              <a:t>Investigate how major global economic events (like imported crude oil price fluctuations) have influenced India's inflation. This can include an analysis of imported goods and their price trends.</a:t>
            </a:r>
          </a:p>
          <a:p>
            <a:pPr marL="342900" indent="-342900" algn="ctr">
              <a:buFont typeface="Arial" panose="020B0604020202020204" pitchFamily="34" charset="0"/>
              <a:buChar char="•"/>
            </a:pPr>
            <a:r>
              <a:rPr lang="en-US" sz="2000" dirty="0"/>
              <a:t>For the purpose of this analysis, focus only on the imported oil price fluctuations for years 2021 to 2023 (Month-on-month)</a:t>
            </a:r>
          </a:p>
          <a:p>
            <a:pPr marL="342900" indent="-342900" algn="ctr">
              <a:buFont typeface="Arial" panose="020B0604020202020204" pitchFamily="34" charset="0"/>
              <a:buChar char="•"/>
            </a:pPr>
            <a:r>
              <a:rPr lang="en-US" sz="2000" dirty="0"/>
              <a:t>Identify trends in oil price change with change in inflation prices of all the categories and identify category whose inflation prices strongly changes with fluctuations in imported oil price (Hint: you can use = </a:t>
            </a:r>
            <a:r>
              <a:rPr lang="en-US" sz="2000" dirty="0" err="1"/>
              <a:t>correl</a:t>
            </a:r>
            <a:r>
              <a:rPr lang="en-US" sz="2000" dirty="0"/>
              <a:t> function)</a:t>
            </a:r>
            <a:endParaRPr lang="en-IN" sz="2000" dirty="0"/>
          </a:p>
        </p:txBody>
      </p:sp>
      <p:sp>
        <p:nvSpPr>
          <p:cNvPr id="5" name="Rectangle 4">
            <a:extLst>
              <a:ext uri="{FF2B5EF4-FFF2-40B4-BE49-F238E27FC236}">
                <a16:creationId xmlns:a16="http://schemas.microsoft.com/office/drawing/2014/main" id="{38723072-C837-E407-633A-314A846F7D50}"/>
              </a:ext>
            </a:extLst>
          </p:cNvPr>
          <p:cNvSpPr/>
          <p:nvPr/>
        </p:nvSpPr>
        <p:spPr>
          <a:xfrm>
            <a:off x="668593" y="4041058"/>
            <a:ext cx="4444181" cy="174935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buNone/>
            </a:pPr>
            <a:r>
              <a:rPr lang="en-US" dirty="0"/>
              <a:t>Correlation(r)=COV(X,Y)/(</a:t>
            </a:r>
            <a:r>
              <a:rPr lang="en-US" dirty="0" err="1"/>
              <a:t>σx</a:t>
            </a:r>
            <a:r>
              <a:rPr lang="en-US" dirty="0"/>
              <a:t> ∗ </a:t>
            </a:r>
            <a:r>
              <a:rPr lang="en-US" dirty="0" err="1"/>
              <a:t>σy</a:t>
            </a:r>
            <a:r>
              <a:rPr lang="en-US" dirty="0"/>
              <a:t>) </a:t>
            </a:r>
          </a:p>
          <a:p>
            <a:pPr>
              <a:buFont typeface="Arial" panose="020B0604020202020204" pitchFamily="34" charset="0"/>
              <a:buChar char="•"/>
            </a:pPr>
            <a:endParaRPr lang="en-US" dirty="0"/>
          </a:p>
          <a:p>
            <a:pPr>
              <a:buFont typeface="Arial" panose="020B0604020202020204" pitchFamily="34" charset="0"/>
              <a:buChar char="•"/>
            </a:pPr>
            <a:r>
              <a:rPr lang="en-US" dirty="0"/>
              <a:t>r close to +1 → Strong positive relationship</a:t>
            </a:r>
          </a:p>
          <a:p>
            <a:pPr>
              <a:buFont typeface="Arial" panose="020B0604020202020204" pitchFamily="34" charset="0"/>
              <a:buChar char="•"/>
            </a:pPr>
            <a:r>
              <a:rPr lang="en-US" dirty="0"/>
              <a:t>r close to -1 → Strong negative relationship</a:t>
            </a:r>
          </a:p>
          <a:p>
            <a:pPr>
              <a:buFont typeface="Arial" panose="020B0604020202020204" pitchFamily="34" charset="0"/>
              <a:buChar char="•"/>
            </a:pPr>
            <a:r>
              <a:rPr lang="en-US" dirty="0"/>
              <a:t>r close to 0 → No relationship</a:t>
            </a:r>
          </a:p>
        </p:txBody>
      </p:sp>
    </p:spTree>
    <p:extLst>
      <p:ext uri="{BB962C8B-B14F-4D97-AF65-F5344CB8AC3E}">
        <p14:creationId xmlns:p14="http://schemas.microsoft.com/office/powerpoint/2010/main" val="34534080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7300F312-4659-9D01-6465-A5A2F03118E4}"/>
              </a:ext>
            </a:extLst>
          </p:cNvPr>
          <p:cNvGraphicFramePr>
            <a:graphicFrameLocks noGrp="1"/>
          </p:cNvGraphicFramePr>
          <p:nvPr>
            <p:extLst>
              <p:ext uri="{D42A27DB-BD31-4B8C-83A1-F6EECF244321}">
                <p14:modId xmlns:p14="http://schemas.microsoft.com/office/powerpoint/2010/main" val="1176987549"/>
              </p:ext>
            </p:extLst>
          </p:nvPr>
        </p:nvGraphicFramePr>
        <p:xfrm>
          <a:off x="530940" y="1071716"/>
          <a:ext cx="5447075" cy="5434852"/>
        </p:xfrm>
        <a:graphic>
          <a:graphicData uri="http://schemas.openxmlformats.org/drawingml/2006/table">
            <a:tbl>
              <a:tblPr/>
              <a:tblGrid>
                <a:gridCol w="1355716">
                  <a:extLst>
                    <a:ext uri="{9D8B030D-6E8A-4147-A177-3AD203B41FA5}">
                      <a16:colId xmlns:a16="http://schemas.microsoft.com/office/drawing/2014/main" val="1292058355"/>
                    </a:ext>
                  </a:extLst>
                </a:gridCol>
                <a:gridCol w="1162043">
                  <a:extLst>
                    <a:ext uri="{9D8B030D-6E8A-4147-A177-3AD203B41FA5}">
                      <a16:colId xmlns:a16="http://schemas.microsoft.com/office/drawing/2014/main" val="1370984014"/>
                    </a:ext>
                  </a:extLst>
                </a:gridCol>
                <a:gridCol w="1767273">
                  <a:extLst>
                    <a:ext uri="{9D8B030D-6E8A-4147-A177-3AD203B41FA5}">
                      <a16:colId xmlns:a16="http://schemas.microsoft.com/office/drawing/2014/main" val="2450997420"/>
                    </a:ext>
                  </a:extLst>
                </a:gridCol>
                <a:gridCol w="1162043">
                  <a:extLst>
                    <a:ext uri="{9D8B030D-6E8A-4147-A177-3AD203B41FA5}">
                      <a16:colId xmlns:a16="http://schemas.microsoft.com/office/drawing/2014/main" val="4049104900"/>
                    </a:ext>
                  </a:extLst>
                </a:gridCol>
              </a:tblGrid>
              <a:tr h="192385">
                <a:tc>
                  <a:txBody>
                    <a:bodyPr/>
                    <a:lstStyle/>
                    <a:p>
                      <a:pPr algn="ctr" fontAlgn="ctr">
                        <a:buNone/>
                      </a:pPr>
                      <a:r>
                        <a:rPr lang="en-IN" sz="900" b="1" i="0" u="none" strike="noStrike">
                          <a:solidFill>
                            <a:srgbClr val="FFFFFF"/>
                          </a:solidFill>
                          <a:effectLst/>
                          <a:latin typeface="Calibri" panose="020F0502020204030204" pitchFamily="34" charset="0"/>
                        </a:rPr>
                        <a:t>Category</a:t>
                      </a:r>
                    </a:p>
                  </a:txBody>
                  <a:tcPr marL="6418" marR="6418" marT="6418"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ctr" fontAlgn="ctr">
                        <a:buNone/>
                      </a:pPr>
                      <a:r>
                        <a:rPr lang="en-IN" sz="900" b="1" i="0" u="none" strike="noStrike">
                          <a:solidFill>
                            <a:srgbClr val="FFFFFF"/>
                          </a:solidFill>
                          <a:effectLst/>
                          <a:latin typeface="Calibri" panose="020F0502020204030204" pitchFamily="34" charset="0"/>
                        </a:rPr>
                        <a:t>Rural</a:t>
                      </a:r>
                    </a:p>
                  </a:txBody>
                  <a:tcPr marL="6418" marR="6418" marT="641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ctr" fontAlgn="ctr">
                        <a:buNone/>
                      </a:pPr>
                      <a:r>
                        <a:rPr lang="en-IN" sz="900" b="1" i="0" u="none" strike="noStrike">
                          <a:solidFill>
                            <a:srgbClr val="FFFFFF"/>
                          </a:solidFill>
                          <a:effectLst/>
                          <a:latin typeface="Calibri" panose="020F0502020204030204" pitchFamily="34" charset="0"/>
                        </a:rPr>
                        <a:t>Rural+Urban</a:t>
                      </a:r>
                    </a:p>
                  </a:txBody>
                  <a:tcPr marL="6418" marR="6418" marT="641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tc>
                  <a:txBody>
                    <a:bodyPr/>
                    <a:lstStyle/>
                    <a:p>
                      <a:pPr algn="ctr" fontAlgn="ctr">
                        <a:buNone/>
                      </a:pPr>
                      <a:r>
                        <a:rPr lang="en-IN" sz="900" b="1" i="0" u="none" strike="noStrike">
                          <a:solidFill>
                            <a:srgbClr val="FFFFFF"/>
                          </a:solidFill>
                          <a:effectLst/>
                          <a:latin typeface="Calibri" panose="020F0502020204030204" pitchFamily="34" charset="0"/>
                        </a:rPr>
                        <a:t>Urban</a:t>
                      </a:r>
                    </a:p>
                  </a:txBody>
                  <a:tcPr marL="6418" marR="6418" marT="6418"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4472C4"/>
                    </a:solidFill>
                  </a:tcPr>
                </a:tc>
                <a:extLst>
                  <a:ext uri="{0D108BD9-81ED-4DB2-BD59-A6C34878D82A}">
                    <a16:rowId xmlns:a16="http://schemas.microsoft.com/office/drawing/2014/main" val="3758006445"/>
                  </a:ext>
                </a:extLst>
              </a:tr>
              <a:tr h="192385">
                <a:tc>
                  <a:txBody>
                    <a:bodyPr/>
                    <a:lstStyle/>
                    <a:p>
                      <a:pPr algn="ctr" fontAlgn="ctr">
                        <a:buNone/>
                      </a:pPr>
                      <a:r>
                        <a:rPr lang="en-IN" sz="900" b="0" i="0" u="none" strike="noStrike">
                          <a:solidFill>
                            <a:srgbClr val="000000"/>
                          </a:solidFill>
                          <a:effectLst/>
                          <a:latin typeface="Calibri" panose="020F0502020204030204" pitchFamily="34" charset="0"/>
                        </a:rPr>
                        <a:t>Oils and fats</a:t>
                      </a:r>
                    </a:p>
                  </a:txBody>
                  <a:tcPr marL="6418" marR="6418" marT="6418"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900" b="0" i="0" u="none" strike="noStrike">
                          <a:solidFill>
                            <a:srgbClr val="000000"/>
                          </a:solidFill>
                          <a:effectLst/>
                          <a:latin typeface="Calibri" panose="020F0502020204030204" pitchFamily="34" charset="0"/>
                        </a:rPr>
                        <a:t>84%</a:t>
                      </a:r>
                    </a:p>
                  </a:txBody>
                  <a:tcPr marL="6418" marR="6418" marT="641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63BE7B"/>
                    </a:solidFill>
                  </a:tcPr>
                </a:tc>
                <a:tc>
                  <a:txBody>
                    <a:bodyPr/>
                    <a:lstStyle/>
                    <a:p>
                      <a:pPr algn="ctr" fontAlgn="ctr">
                        <a:buNone/>
                      </a:pPr>
                      <a:r>
                        <a:rPr lang="en-IN" sz="900" b="0" i="0" u="none" strike="noStrike">
                          <a:solidFill>
                            <a:srgbClr val="000000"/>
                          </a:solidFill>
                          <a:effectLst/>
                          <a:latin typeface="Calibri" panose="020F0502020204030204" pitchFamily="34" charset="0"/>
                        </a:rPr>
                        <a:t>84%</a:t>
                      </a:r>
                    </a:p>
                  </a:txBody>
                  <a:tcPr marL="6418" marR="6418" marT="641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63BE7B"/>
                    </a:solidFill>
                  </a:tcPr>
                </a:tc>
                <a:tc>
                  <a:txBody>
                    <a:bodyPr/>
                    <a:lstStyle/>
                    <a:p>
                      <a:pPr algn="ctr" fontAlgn="ctr">
                        <a:buNone/>
                      </a:pPr>
                      <a:r>
                        <a:rPr lang="en-IN" sz="900" b="0" i="0" u="none" strike="noStrike">
                          <a:solidFill>
                            <a:srgbClr val="000000"/>
                          </a:solidFill>
                          <a:effectLst/>
                          <a:latin typeface="Calibri" panose="020F0502020204030204" pitchFamily="34" charset="0"/>
                        </a:rPr>
                        <a:t>85%</a:t>
                      </a:r>
                    </a:p>
                  </a:txBody>
                  <a:tcPr marL="6418" marR="6418" marT="6418"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63BE7B"/>
                    </a:solidFill>
                  </a:tcPr>
                </a:tc>
                <a:extLst>
                  <a:ext uri="{0D108BD9-81ED-4DB2-BD59-A6C34878D82A}">
                    <a16:rowId xmlns:a16="http://schemas.microsoft.com/office/drawing/2014/main" val="1779605165"/>
                  </a:ext>
                </a:extLst>
              </a:tr>
              <a:tr h="360720">
                <a:tc>
                  <a:txBody>
                    <a:bodyPr/>
                    <a:lstStyle/>
                    <a:p>
                      <a:pPr algn="ctr" fontAlgn="ctr">
                        <a:buNone/>
                      </a:pPr>
                      <a:r>
                        <a:rPr lang="en-IN" sz="900" b="0" i="0" u="none" strike="noStrike">
                          <a:solidFill>
                            <a:srgbClr val="000000"/>
                          </a:solidFill>
                          <a:effectLst/>
                          <a:latin typeface="Calibri" panose="020F0502020204030204" pitchFamily="34" charset="0"/>
                        </a:rPr>
                        <a:t>Meat and fish</a:t>
                      </a:r>
                    </a:p>
                  </a:txBody>
                  <a:tcPr marL="6418" marR="6418" marT="6418"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Calibri" panose="020F0502020204030204" pitchFamily="34" charset="0"/>
                        </a:rPr>
                        <a:t>83%</a:t>
                      </a:r>
                    </a:p>
                  </a:txBody>
                  <a:tcPr marL="6418" marR="6418" marT="641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6CC17C"/>
                    </a:solidFill>
                  </a:tcPr>
                </a:tc>
                <a:tc>
                  <a:txBody>
                    <a:bodyPr/>
                    <a:lstStyle/>
                    <a:p>
                      <a:pPr algn="ctr" fontAlgn="ctr">
                        <a:buNone/>
                      </a:pPr>
                      <a:r>
                        <a:rPr lang="en-IN" sz="900" b="0" i="0" u="none" strike="noStrike">
                          <a:solidFill>
                            <a:srgbClr val="000000"/>
                          </a:solidFill>
                          <a:effectLst/>
                          <a:latin typeface="Calibri" panose="020F0502020204030204" pitchFamily="34" charset="0"/>
                        </a:rPr>
                        <a:t>84%</a:t>
                      </a:r>
                    </a:p>
                  </a:txBody>
                  <a:tcPr marL="6418" marR="6418" marT="641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69C07C"/>
                    </a:solidFill>
                  </a:tcPr>
                </a:tc>
                <a:tc>
                  <a:txBody>
                    <a:bodyPr/>
                    <a:lstStyle/>
                    <a:p>
                      <a:pPr algn="ctr" fontAlgn="ctr">
                        <a:buNone/>
                      </a:pPr>
                      <a:r>
                        <a:rPr lang="en-IN" sz="900" b="0" i="0" u="none" strike="noStrike" dirty="0">
                          <a:solidFill>
                            <a:srgbClr val="000000"/>
                          </a:solidFill>
                          <a:effectLst/>
                          <a:latin typeface="Calibri" panose="020F0502020204030204" pitchFamily="34" charset="0"/>
                        </a:rPr>
                        <a:t>84%</a:t>
                      </a:r>
                    </a:p>
                  </a:txBody>
                  <a:tcPr marL="6418" marR="6418" marT="6418"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6AC07C"/>
                    </a:solidFill>
                  </a:tcPr>
                </a:tc>
                <a:extLst>
                  <a:ext uri="{0D108BD9-81ED-4DB2-BD59-A6C34878D82A}">
                    <a16:rowId xmlns:a16="http://schemas.microsoft.com/office/drawing/2014/main" val="1195372095"/>
                  </a:ext>
                </a:extLst>
              </a:tr>
              <a:tr h="713424">
                <a:tc>
                  <a:txBody>
                    <a:bodyPr/>
                    <a:lstStyle/>
                    <a:p>
                      <a:pPr algn="ctr" fontAlgn="ctr">
                        <a:buNone/>
                      </a:pPr>
                      <a:r>
                        <a:rPr lang="en-IN" sz="900" b="0" i="0" u="none" strike="noStrike">
                          <a:solidFill>
                            <a:srgbClr val="000000"/>
                          </a:solidFill>
                          <a:effectLst/>
                          <a:latin typeface="Calibri" panose="020F0502020204030204" pitchFamily="34" charset="0"/>
                        </a:rPr>
                        <a:t>Transport and communication</a:t>
                      </a:r>
                    </a:p>
                  </a:txBody>
                  <a:tcPr marL="6418" marR="6418" marT="6418"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900" b="0" i="0" u="none" strike="noStrike">
                          <a:solidFill>
                            <a:srgbClr val="000000"/>
                          </a:solidFill>
                          <a:effectLst/>
                          <a:latin typeface="Calibri" panose="020F0502020204030204" pitchFamily="34" charset="0"/>
                        </a:rPr>
                        <a:t>75%</a:t>
                      </a:r>
                    </a:p>
                  </a:txBody>
                  <a:tcPr marL="6418" marR="6418" marT="641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A4D17F"/>
                    </a:solidFill>
                  </a:tcPr>
                </a:tc>
                <a:tc>
                  <a:txBody>
                    <a:bodyPr/>
                    <a:lstStyle/>
                    <a:p>
                      <a:pPr algn="ctr" fontAlgn="ctr">
                        <a:buNone/>
                      </a:pPr>
                      <a:r>
                        <a:rPr lang="en-IN" sz="900" b="0" i="0" u="none" strike="noStrike">
                          <a:solidFill>
                            <a:srgbClr val="000000"/>
                          </a:solidFill>
                          <a:effectLst/>
                          <a:latin typeface="Calibri" panose="020F0502020204030204" pitchFamily="34" charset="0"/>
                        </a:rPr>
                        <a:t>77%</a:t>
                      </a:r>
                    </a:p>
                  </a:txBody>
                  <a:tcPr marL="6418" marR="6418" marT="641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9BCE7F"/>
                    </a:solidFill>
                  </a:tcPr>
                </a:tc>
                <a:tc>
                  <a:txBody>
                    <a:bodyPr/>
                    <a:lstStyle/>
                    <a:p>
                      <a:pPr algn="ctr" fontAlgn="ctr">
                        <a:buNone/>
                      </a:pPr>
                      <a:r>
                        <a:rPr lang="en-IN" sz="900" b="0" i="0" u="none" strike="noStrike">
                          <a:solidFill>
                            <a:srgbClr val="000000"/>
                          </a:solidFill>
                          <a:effectLst/>
                          <a:latin typeface="Calibri" panose="020F0502020204030204" pitchFamily="34" charset="0"/>
                        </a:rPr>
                        <a:t>78%</a:t>
                      </a:r>
                    </a:p>
                  </a:txBody>
                  <a:tcPr marL="6418" marR="6418" marT="6418"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96CD7E"/>
                    </a:solidFill>
                  </a:tcPr>
                </a:tc>
                <a:extLst>
                  <a:ext uri="{0D108BD9-81ED-4DB2-BD59-A6C34878D82A}">
                    <a16:rowId xmlns:a16="http://schemas.microsoft.com/office/drawing/2014/main" val="1890176070"/>
                  </a:ext>
                </a:extLst>
              </a:tr>
              <a:tr h="537072">
                <a:tc>
                  <a:txBody>
                    <a:bodyPr/>
                    <a:lstStyle/>
                    <a:p>
                      <a:pPr algn="ctr" fontAlgn="ctr">
                        <a:buNone/>
                      </a:pPr>
                      <a:r>
                        <a:rPr lang="en-IN" sz="900" b="0" i="0" u="none" strike="noStrike">
                          <a:solidFill>
                            <a:srgbClr val="000000"/>
                          </a:solidFill>
                          <a:effectLst/>
                          <a:latin typeface="Calibri" panose="020F0502020204030204" pitchFamily="34" charset="0"/>
                        </a:rPr>
                        <a:t>Recreation and amusement</a:t>
                      </a:r>
                    </a:p>
                  </a:txBody>
                  <a:tcPr marL="6418" marR="6418" marT="6418"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Calibri" panose="020F0502020204030204" pitchFamily="34" charset="0"/>
                        </a:rPr>
                        <a:t>69%</a:t>
                      </a:r>
                    </a:p>
                  </a:txBody>
                  <a:tcPr marL="6418" marR="6418" marT="641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3DF82"/>
                    </a:solidFill>
                  </a:tcPr>
                </a:tc>
                <a:tc>
                  <a:txBody>
                    <a:bodyPr/>
                    <a:lstStyle/>
                    <a:p>
                      <a:pPr algn="ctr" fontAlgn="ctr">
                        <a:buNone/>
                      </a:pPr>
                      <a:r>
                        <a:rPr lang="en-IN" sz="900" b="0" i="0" u="none" strike="noStrike" dirty="0">
                          <a:solidFill>
                            <a:srgbClr val="000000"/>
                          </a:solidFill>
                          <a:effectLst/>
                          <a:latin typeface="Calibri" panose="020F0502020204030204" pitchFamily="34" charset="0"/>
                        </a:rPr>
                        <a:t>71%</a:t>
                      </a:r>
                    </a:p>
                  </a:txBody>
                  <a:tcPr marL="6418" marR="6418" marT="641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C3DA81"/>
                    </a:solidFill>
                  </a:tcPr>
                </a:tc>
                <a:tc>
                  <a:txBody>
                    <a:bodyPr/>
                    <a:lstStyle/>
                    <a:p>
                      <a:pPr algn="ctr" fontAlgn="ctr">
                        <a:buNone/>
                      </a:pPr>
                      <a:r>
                        <a:rPr lang="en-IN" sz="900" b="0" i="0" u="none" strike="noStrike">
                          <a:solidFill>
                            <a:srgbClr val="000000"/>
                          </a:solidFill>
                          <a:effectLst/>
                          <a:latin typeface="Calibri" panose="020F0502020204030204" pitchFamily="34" charset="0"/>
                        </a:rPr>
                        <a:t>72%</a:t>
                      </a:r>
                    </a:p>
                  </a:txBody>
                  <a:tcPr marL="6418" marR="6418" marT="6418"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BAD780"/>
                    </a:solidFill>
                  </a:tcPr>
                </a:tc>
                <a:extLst>
                  <a:ext uri="{0D108BD9-81ED-4DB2-BD59-A6C34878D82A}">
                    <a16:rowId xmlns:a16="http://schemas.microsoft.com/office/drawing/2014/main" val="1751245788"/>
                  </a:ext>
                </a:extLst>
              </a:tr>
              <a:tr h="360720">
                <a:tc>
                  <a:txBody>
                    <a:bodyPr/>
                    <a:lstStyle/>
                    <a:p>
                      <a:pPr algn="ctr" fontAlgn="ctr">
                        <a:buNone/>
                      </a:pPr>
                      <a:r>
                        <a:rPr lang="en-IN" sz="900" b="0" i="0" u="none" strike="noStrike">
                          <a:solidFill>
                            <a:srgbClr val="000000"/>
                          </a:solidFill>
                          <a:effectLst/>
                          <a:latin typeface="Calibri" panose="020F0502020204030204" pitchFamily="34" charset="0"/>
                        </a:rPr>
                        <a:t>Fuel and light</a:t>
                      </a:r>
                    </a:p>
                  </a:txBody>
                  <a:tcPr marL="6418" marR="6418" marT="6418"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900" b="0" i="0" u="none" strike="noStrike">
                          <a:solidFill>
                            <a:srgbClr val="000000"/>
                          </a:solidFill>
                          <a:effectLst/>
                          <a:latin typeface="Calibri" panose="020F0502020204030204" pitchFamily="34" charset="0"/>
                        </a:rPr>
                        <a:t>69%</a:t>
                      </a:r>
                    </a:p>
                  </a:txBody>
                  <a:tcPr marL="6418" marR="6418" marT="641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5DF82"/>
                    </a:solidFill>
                  </a:tcPr>
                </a:tc>
                <a:tc>
                  <a:txBody>
                    <a:bodyPr/>
                    <a:lstStyle/>
                    <a:p>
                      <a:pPr algn="ctr" fontAlgn="ctr">
                        <a:buNone/>
                      </a:pPr>
                      <a:r>
                        <a:rPr lang="en-IN" sz="900" b="0" i="0" u="none" strike="noStrike">
                          <a:solidFill>
                            <a:srgbClr val="000000"/>
                          </a:solidFill>
                          <a:effectLst/>
                          <a:latin typeface="Calibri" panose="020F0502020204030204" pitchFamily="34" charset="0"/>
                        </a:rPr>
                        <a:t>68%</a:t>
                      </a:r>
                    </a:p>
                  </a:txBody>
                  <a:tcPr marL="6418" marR="6418" marT="641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5DF82"/>
                    </a:solidFill>
                  </a:tcPr>
                </a:tc>
                <a:tc>
                  <a:txBody>
                    <a:bodyPr/>
                    <a:lstStyle/>
                    <a:p>
                      <a:pPr algn="ctr" fontAlgn="ctr">
                        <a:buNone/>
                      </a:pPr>
                      <a:r>
                        <a:rPr lang="en-IN" sz="900" b="0" i="0" u="none" strike="noStrike">
                          <a:solidFill>
                            <a:srgbClr val="000000"/>
                          </a:solidFill>
                          <a:effectLst/>
                          <a:latin typeface="Calibri" panose="020F0502020204030204" pitchFamily="34" charset="0"/>
                        </a:rPr>
                        <a:t>68%</a:t>
                      </a:r>
                    </a:p>
                  </a:txBody>
                  <a:tcPr marL="6418" marR="6418" marT="6418"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4DF82"/>
                    </a:solidFill>
                  </a:tcPr>
                </a:tc>
                <a:extLst>
                  <a:ext uri="{0D108BD9-81ED-4DB2-BD59-A6C34878D82A}">
                    <a16:rowId xmlns:a16="http://schemas.microsoft.com/office/drawing/2014/main" val="3447057659"/>
                  </a:ext>
                </a:extLst>
              </a:tr>
              <a:tr h="360720">
                <a:tc>
                  <a:txBody>
                    <a:bodyPr/>
                    <a:lstStyle/>
                    <a:p>
                      <a:pPr algn="ctr" fontAlgn="ctr">
                        <a:buNone/>
                      </a:pPr>
                      <a:r>
                        <a:rPr lang="en-IN" sz="900" b="0" i="0" u="none" strike="noStrike">
                          <a:solidFill>
                            <a:srgbClr val="000000"/>
                          </a:solidFill>
                          <a:effectLst/>
                          <a:latin typeface="Calibri" panose="020F0502020204030204" pitchFamily="34" charset="0"/>
                        </a:rPr>
                        <a:t>Miscellaneous</a:t>
                      </a:r>
                    </a:p>
                  </a:txBody>
                  <a:tcPr marL="6418" marR="6418" marT="6418"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Calibri" panose="020F0502020204030204" pitchFamily="34" charset="0"/>
                        </a:rPr>
                        <a:t>66%</a:t>
                      </a:r>
                    </a:p>
                  </a:txBody>
                  <a:tcPr marL="6418" marR="6418" marT="641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E9E583"/>
                    </a:solidFill>
                  </a:tcPr>
                </a:tc>
                <a:tc>
                  <a:txBody>
                    <a:bodyPr/>
                    <a:lstStyle/>
                    <a:p>
                      <a:pPr algn="ctr" fontAlgn="ctr">
                        <a:buNone/>
                      </a:pPr>
                      <a:r>
                        <a:rPr lang="en-IN" sz="900" b="0" i="0" u="none" strike="noStrike">
                          <a:solidFill>
                            <a:srgbClr val="000000"/>
                          </a:solidFill>
                          <a:effectLst/>
                          <a:latin typeface="Calibri" panose="020F0502020204030204" pitchFamily="34" charset="0"/>
                        </a:rPr>
                        <a:t>67%</a:t>
                      </a:r>
                    </a:p>
                  </a:txBody>
                  <a:tcPr marL="6418" marR="6418" marT="641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E0E283"/>
                    </a:solidFill>
                  </a:tcPr>
                </a:tc>
                <a:tc>
                  <a:txBody>
                    <a:bodyPr/>
                    <a:lstStyle/>
                    <a:p>
                      <a:pPr algn="ctr" fontAlgn="ctr">
                        <a:buNone/>
                      </a:pPr>
                      <a:r>
                        <a:rPr lang="en-IN" sz="900" b="0" i="0" u="none" strike="noStrike">
                          <a:solidFill>
                            <a:srgbClr val="000000"/>
                          </a:solidFill>
                          <a:effectLst/>
                          <a:latin typeface="Calibri" panose="020F0502020204030204" pitchFamily="34" charset="0"/>
                        </a:rPr>
                        <a:t>68%</a:t>
                      </a:r>
                    </a:p>
                  </a:txBody>
                  <a:tcPr marL="6418" marR="6418" marT="6418"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6DF82"/>
                    </a:solidFill>
                  </a:tcPr>
                </a:tc>
                <a:extLst>
                  <a:ext uri="{0D108BD9-81ED-4DB2-BD59-A6C34878D82A}">
                    <a16:rowId xmlns:a16="http://schemas.microsoft.com/office/drawing/2014/main" val="355741570"/>
                  </a:ext>
                </a:extLst>
              </a:tr>
              <a:tr h="360720">
                <a:tc>
                  <a:txBody>
                    <a:bodyPr/>
                    <a:lstStyle/>
                    <a:p>
                      <a:pPr algn="ctr" fontAlgn="ctr">
                        <a:buNone/>
                      </a:pPr>
                      <a:r>
                        <a:rPr lang="en-IN" sz="900" b="0" i="0" u="none" strike="noStrike">
                          <a:solidFill>
                            <a:srgbClr val="000000"/>
                          </a:solidFill>
                          <a:effectLst/>
                          <a:latin typeface="Calibri" panose="020F0502020204030204" pitchFamily="34" charset="0"/>
                        </a:rPr>
                        <a:t>General index</a:t>
                      </a:r>
                    </a:p>
                  </a:txBody>
                  <a:tcPr marL="6418" marR="6418" marT="6418"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900" b="0" i="0" u="none" strike="noStrike">
                          <a:solidFill>
                            <a:srgbClr val="000000"/>
                          </a:solidFill>
                          <a:effectLst/>
                          <a:latin typeface="Calibri" panose="020F0502020204030204" pitchFamily="34" charset="0"/>
                        </a:rPr>
                        <a:t>64%</a:t>
                      </a:r>
                    </a:p>
                  </a:txBody>
                  <a:tcPr marL="6418" marR="6418" marT="641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3E884"/>
                    </a:solidFill>
                  </a:tcPr>
                </a:tc>
                <a:tc>
                  <a:txBody>
                    <a:bodyPr/>
                    <a:lstStyle/>
                    <a:p>
                      <a:pPr algn="ctr" fontAlgn="ctr">
                        <a:buNone/>
                      </a:pPr>
                      <a:r>
                        <a:rPr lang="en-IN" sz="900" b="0" i="0" u="none" strike="noStrike">
                          <a:solidFill>
                            <a:srgbClr val="000000"/>
                          </a:solidFill>
                          <a:effectLst/>
                          <a:latin typeface="Calibri" panose="020F0502020204030204" pitchFamily="34" charset="0"/>
                        </a:rPr>
                        <a:t>65%</a:t>
                      </a:r>
                    </a:p>
                  </a:txBody>
                  <a:tcPr marL="6418" marR="6418" marT="641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E9E583"/>
                    </a:solidFill>
                  </a:tcPr>
                </a:tc>
                <a:tc>
                  <a:txBody>
                    <a:bodyPr/>
                    <a:lstStyle/>
                    <a:p>
                      <a:pPr algn="ctr" fontAlgn="ctr">
                        <a:buNone/>
                      </a:pPr>
                      <a:r>
                        <a:rPr lang="en-IN" sz="900" b="0" i="0" u="none" strike="noStrike">
                          <a:solidFill>
                            <a:srgbClr val="000000"/>
                          </a:solidFill>
                          <a:effectLst/>
                          <a:latin typeface="Calibri" panose="020F0502020204030204" pitchFamily="34" charset="0"/>
                        </a:rPr>
                        <a:t>67%</a:t>
                      </a:r>
                    </a:p>
                  </a:txBody>
                  <a:tcPr marL="6418" marR="6418" marT="6418"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CE182"/>
                    </a:solidFill>
                  </a:tcPr>
                </a:tc>
                <a:extLst>
                  <a:ext uri="{0D108BD9-81ED-4DB2-BD59-A6C34878D82A}">
                    <a16:rowId xmlns:a16="http://schemas.microsoft.com/office/drawing/2014/main" val="3380109231"/>
                  </a:ext>
                </a:extLst>
              </a:tr>
              <a:tr h="360720">
                <a:tc>
                  <a:txBody>
                    <a:bodyPr/>
                    <a:lstStyle/>
                    <a:p>
                      <a:pPr algn="ctr" fontAlgn="ctr">
                        <a:buNone/>
                      </a:pPr>
                      <a:r>
                        <a:rPr lang="en-IN" sz="900" b="0" i="0" u="none" strike="noStrike">
                          <a:solidFill>
                            <a:srgbClr val="000000"/>
                          </a:solidFill>
                          <a:effectLst/>
                          <a:latin typeface="Calibri" panose="020F0502020204030204" pitchFamily="34" charset="0"/>
                        </a:rPr>
                        <a:t>Food and beverages</a:t>
                      </a:r>
                    </a:p>
                  </a:txBody>
                  <a:tcPr marL="6418" marR="6418" marT="6418"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Calibri" panose="020F0502020204030204" pitchFamily="34" charset="0"/>
                        </a:rPr>
                        <a:t>60%</a:t>
                      </a:r>
                    </a:p>
                  </a:txBody>
                  <a:tcPr marL="6418" marR="6418" marT="641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EE683"/>
                    </a:solidFill>
                  </a:tcPr>
                </a:tc>
                <a:tc>
                  <a:txBody>
                    <a:bodyPr/>
                    <a:lstStyle/>
                    <a:p>
                      <a:pPr algn="ctr" fontAlgn="ctr">
                        <a:buNone/>
                      </a:pPr>
                      <a:r>
                        <a:rPr lang="en-IN" sz="900" b="0" i="0" u="none" strike="noStrike">
                          <a:solidFill>
                            <a:srgbClr val="000000"/>
                          </a:solidFill>
                          <a:effectLst/>
                          <a:latin typeface="Calibri" panose="020F0502020204030204" pitchFamily="34" charset="0"/>
                        </a:rPr>
                        <a:t>63%</a:t>
                      </a:r>
                    </a:p>
                  </a:txBody>
                  <a:tcPr marL="6418" marR="6418" marT="641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DEB84"/>
                    </a:solidFill>
                  </a:tcPr>
                </a:tc>
                <a:tc>
                  <a:txBody>
                    <a:bodyPr/>
                    <a:lstStyle/>
                    <a:p>
                      <a:pPr algn="ctr" fontAlgn="ctr">
                        <a:buNone/>
                      </a:pPr>
                      <a:r>
                        <a:rPr lang="en-IN" sz="900" b="0" i="0" u="none" strike="noStrike">
                          <a:solidFill>
                            <a:srgbClr val="000000"/>
                          </a:solidFill>
                          <a:effectLst/>
                          <a:latin typeface="Calibri" panose="020F0502020204030204" pitchFamily="34" charset="0"/>
                        </a:rPr>
                        <a:t>66%</a:t>
                      </a:r>
                    </a:p>
                  </a:txBody>
                  <a:tcPr marL="6418" marR="6418" marT="6418"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EE283"/>
                    </a:solidFill>
                  </a:tcPr>
                </a:tc>
                <a:extLst>
                  <a:ext uri="{0D108BD9-81ED-4DB2-BD59-A6C34878D82A}">
                    <a16:rowId xmlns:a16="http://schemas.microsoft.com/office/drawing/2014/main" val="4190401297"/>
                  </a:ext>
                </a:extLst>
              </a:tr>
              <a:tr h="537072">
                <a:tc>
                  <a:txBody>
                    <a:bodyPr/>
                    <a:lstStyle/>
                    <a:p>
                      <a:pPr algn="ctr" fontAlgn="ctr">
                        <a:buNone/>
                      </a:pPr>
                      <a:r>
                        <a:rPr lang="en-IN" sz="900" b="0" i="0" u="none" strike="noStrike">
                          <a:solidFill>
                            <a:srgbClr val="000000"/>
                          </a:solidFill>
                          <a:effectLst/>
                          <a:latin typeface="Calibri" panose="020F0502020204030204" pitchFamily="34" charset="0"/>
                        </a:rPr>
                        <a:t>Household goods and services</a:t>
                      </a:r>
                    </a:p>
                  </a:txBody>
                  <a:tcPr marL="6418" marR="6418" marT="6418"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900" b="0" i="0" u="none" strike="noStrike">
                          <a:solidFill>
                            <a:srgbClr val="000000"/>
                          </a:solidFill>
                          <a:effectLst/>
                          <a:latin typeface="Calibri" panose="020F0502020204030204" pitchFamily="34" charset="0"/>
                        </a:rPr>
                        <a:t>62%</a:t>
                      </a:r>
                    </a:p>
                  </a:txBody>
                  <a:tcPr marL="6418" marR="6418" marT="641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EE983"/>
                    </a:solidFill>
                  </a:tcPr>
                </a:tc>
                <a:tc>
                  <a:txBody>
                    <a:bodyPr/>
                    <a:lstStyle/>
                    <a:p>
                      <a:pPr algn="ctr" fontAlgn="ctr">
                        <a:buNone/>
                      </a:pPr>
                      <a:r>
                        <a:rPr lang="en-IN" sz="900" b="0" i="0" u="none" strike="noStrike">
                          <a:solidFill>
                            <a:srgbClr val="000000"/>
                          </a:solidFill>
                          <a:effectLst/>
                          <a:latin typeface="Calibri" panose="020F0502020204030204" pitchFamily="34" charset="0"/>
                        </a:rPr>
                        <a:t>63%</a:t>
                      </a:r>
                    </a:p>
                  </a:txBody>
                  <a:tcPr marL="6418" marR="6418" marT="641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BEA84"/>
                    </a:solidFill>
                  </a:tcPr>
                </a:tc>
                <a:tc>
                  <a:txBody>
                    <a:bodyPr/>
                    <a:lstStyle/>
                    <a:p>
                      <a:pPr algn="ctr" fontAlgn="ctr">
                        <a:buNone/>
                      </a:pPr>
                      <a:r>
                        <a:rPr lang="en-IN" sz="900" b="0" i="0" u="none" strike="noStrike">
                          <a:solidFill>
                            <a:srgbClr val="000000"/>
                          </a:solidFill>
                          <a:effectLst/>
                          <a:latin typeface="Calibri" panose="020F0502020204030204" pitchFamily="34" charset="0"/>
                        </a:rPr>
                        <a:t>64%</a:t>
                      </a:r>
                    </a:p>
                  </a:txBody>
                  <a:tcPr marL="6418" marR="6418" marT="6418"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EBE583"/>
                    </a:solidFill>
                  </a:tcPr>
                </a:tc>
                <a:extLst>
                  <a:ext uri="{0D108BD9-81ED-4DB2-BD59-A6C34878D82A}">
                    <a16:rowId xmlns:a16="http://schemas.microsoft.com/office/drawing/2014/main" val="759957851"/>
                  </a:ext>
                </a:extLst>
              </a:tr>
              <a:tr h="537072">
                <a:tc>
                  <a:txBody>
                    <a:bodyPr/>
                    <a:lstStyle/>
                    <a:p>
                      <a:pPr algn="ctr" fontAlgn="ctr">
                        <a:buNone/>
                      </a:pPr>
                      <a:r>
                        <a:rPr lang="en-IN" sz="900" b="0" i="0" u="none" strike="noStrike">
                          <a:solidFill>
                            <a:srgbClr val="000000"/>
                          </a:solidFill>
                          <a:effectLst/>
                          <a:latin typeface="Calibri" panose="020F0502020204030204" pitchFamily="34" charset="0"/>
                        </a:rPr>
                        <a:t>Non-alcoholic beverages</a:t>
                      </a:r>
                    </a:p>
                  </a:txBody>
                  <a:tcPr marL="6418" marR="6418" marT="6418"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Calibri" panose="020F0502020204030204" pitchFamily="34" charset="0"/>
                        </a:rPr>
                        <a:t>72%</a:t>
                      </a:r>
                    </a:p>
                  </a:txBody>
                  <a:tcPr marL="6418" marR="6418" marT="641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BCD881"/>
                    </a:solidFill>
                  </a:tcPr>
                </a:tc>
                <a:tc>
                  <a:txBody>
                    <a:bodyPr/>
                    <a:lstStyle/>
                    <a:p>
                      <a:pPr algn="ctr" fontAlgn="ctr">
                        <a:buNone/>
                      </a:pPr>
                      <a:r>
                        <a:rPr lang="en-IN" sz="900" b="0" i="0" u="none" strike="noStrike">
                          <a:solidFill>
                            <a:srgbClr val="000000"/>
                          </a:solidFill>
                          <a:effectLst/>
                          <a:latin typeface="Calibri" panose="020F0502020204030204" pitchFamily="34" charset="0"/>
                        </a:rPr>
                        <a:t>69%</a:t>
                      </a:r>
                    </a:p>
                  </a:txBody>
                  <a:tcPr marL="6418" marR="6418" marT="641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0DE82"/>
                    </a:solidFill>
                  </a:tcPr>
                </a:tc>
                <a:tc>
                  <a:txBody>
                    <a:bodyPr/>
                    <a:lstStyle/>
                    <a:p>
                      <a:pPr algn="ctr" fontAlgn="ctr">
                        <a:buNone/>
                      </a:pPr>
                      <a:r>
                        <a:rPr lang="en-IN" sz="900" b="0" i="0" u="none" strike="noStrike">
                          <a:solidFill>
                            <a:srgbClr val="000000"/>
                          </a:solidFill>
                          <a:effectLst/>
                          <a:latin typeface="Calibri" panose="020F0502020204030204" pitchFamily="34" charset="0"/>
                        </a:rPr>
                        <a:t>64%</a:t>
                      </a:r>
                    </a:p>
                  </a:txBody>
                  <a:tcPr marL="6418" marR="6418" marT="6418"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EFE784"/>
                    </a:solidFill>
                  </a:tcPr>
                </a:tc>
                <a:extLst>
                  <a:ext uri="{0D108BD9-81ED-4DB2-BD59-A6C34878D82A}">
                    <a16:rowId xmlns:a16="http://schemas.microsoft.com/office/drawing/2014/main" val="711189346"/>
                  </a:ext>
                </a:extLst>
              </a:tr>
              <a:tr h="192385">
                <a:tc>
                  <a:txBody>
                    <a:bodyPr/>
                    <a:lstStyle/>
                    <a:p>
                      <a:pPr algn="ctr" fontAlgn="ctr">
                        <a:buNone/>
                      </a:pPr>
                      <a:r>
                        <a:rPr lang="en-IN" sz="900" b="0" i="0" u="none" strike="noStrike">
                          <a:solidFill>
                            <a:srgbClr val="000000"/>
                          </a:solidFill>
                          <a:effectLst/>
                          <a:latin typeface="Calibri" panose="020F0502020204030204" pitchFamily="34" charset="0"/>
                        </a:rPr>
                        <a:t>Clothing</a:t>
                      </a:r>
                    </a:p>
                  </a:txBody>
                  <a:tcPr marL="6418" marR="6418" marT="6418"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900" b="0" i="0" u="none" strike="noStrike">
                          <a:solidFill>
                            <a:srgbClr val="000000"/>
                          </a:solidFill>
                          <a:effectLst/>
                          <a:latin typeface="Calibri" panose="020F0502020204030204" pitchFamily="34" charset="0"/>
                        </a:rPr>
                        <a:t>65%</a:t>
                      </a:r>
                    </a:p>
                  </a:txBody>
                  <a:tcPr marL="6418" marR="6418" marT="641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3E884"/>
                    </a:solidFill>
                  </a:tcPr>
                </a:tc>
                <a:tc>
                  <a:txBody>
                    <a:bodyPr/>
                    <a:lstStyle/>
                    <a:p>
                      <a:pPr algn="ctr" fontAlgn="ctr">
                        <a:buNone/>
                      </a:pPr>
                      <a:r>
                        <a:rPr lang="en-IN" sz="900" b="0" i="0" u="none" strike="noStrike">
                          <a:solidFill>
                            <a:srgbClr val="000000"/>
                          </a:solidFill>
                          <a:effectLst/>
                          <a:latin typeface="Calibri" panose="020F0502020204030204" pitchFamily="34" charset="0"/>
                        </a:rPr>
                        <a:t>64%</a:t>
                      </a:r>
                    </a:p>
                  </a:txBody>
                  <a:tcPr marL="6418" marR="6418" marT="641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3E884"/>
                    </a:solidFill>
                  </a:tcPr>
                </a:tc>
                <a:tc>
                  <a:txBody>
                    <a:bodyPr/>
                    <a:lstStyle/>
                    <a:p>
                      <a:pPr algn="ctr" fontAlgn="ctr">
                        <a:buNone/>
                      </a:pPr>
                      <a:r>
                        <a:rPr lang="en-IN" sz="900" b="0" i="0" u="none" strike="noStrike">
                          <a:solidFill>
                            <a:srgbClr val="000000"/>
                          </a:solidFill>
                          <a:effectLst/>
                          <a:latin typeface="Calibri" panose="020F0502020204030204" pitchFamily="34" charset="0"/>
                        </a:rPr>
                        <a:t>63%</a:t>
                      </a:r>
                    </a:p>
                  </a:txBody>
                  <a:tcPr marL="6418" marR="6418" marT="6418"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3E884"/>
                    </a:solidFill>
                  </a:tcPr>
                </a:tc>
                <a:extLst>
                  <a:ext uri="{0D108BD9-81ED-4DB2-BD59-A6C34878D82A}">
                    <a16:rowId xmlns:a16="http://schemas.microsoft.com/office/drawing/2014/main" val="3045044464"/>
                  </a:ext>
                </a:extLst>
              </a:tr>
              <a:tr h="537072">
                <a:tc>
                  <a:txBody>
                    <a:bodyPr/>
                    <a:lstStyle/>
                    <a:p>
                      <a:pPr algn="ctr" fontAlgn="ctr">
                        <a:buNone/>
                      </a:pPr>
                      <a:r>
                        <a:rPr lang="en-IN" sz="900" b="0" i="0" u="none" strike="noStrike">
                          <a:solidFill>
                            <a:srgbClr val="000000"/>
                          </a:solidFill>
                          <a:effectLst/>
                          <a:latin typeface="Calibri" panose="020F0502020204030204" pitchFamily="34" charset="0"/>
                        </a:rPr>
                        <a:t>Clothing and footwear</a:t>
                      </a:r>
                    </a:p>
                  </a:txBody>
                  <a:tcPr marL="6418" marR="6418" marT="6418"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900" b="0" i="0" u="none" strike="noStrike">
                          <a:solidFill>
                            <a:srgbClr val="000000"/>
                          </a:solidFill>
                          <a:effectLst/>
                          <a:latin typeface="Calibri" panose="020F0502020204030204" pitchFamily="34" charset="0"/>
                        </a:rPr>
                        <a:t>65%</a:t>
                      </a:r>
                    </a:p>
                  </a:txBody>
                  <a:tcPr marL="6418" marR="6418" marT="641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0E784"/>
                    </a:solidFill>
                  </a:tcPr>
                </a:tc>
                <a:tc>
                  <a:txBody>
                    <a:bodyPr/>
                    <a:lstStyle/>
                    <a:p>
                      <a:pPr algn="ctr" fontAlgn="ctr">
                        <a:buNone/>
                      </a:pPr>
                      <a:r>
                        <a:rPr lang="en-IN" sz="900" b="0" i="0" u="none" strike="noStrike">
                          <a:solidFill>
                            <a:srgbClr val="000000"/>
                          </a:solidFill>
                          <a:effectLst/>
                          <a:latin typeface="Calibri" panose="020F0502020204030204" pitchFamily="34" charset="0"/>
                        </a:rPr>
                        <a:t>64%</a:t>
                      </a:r>
                    </a:p>
                  </a:txBody>
                  <a:tcPr marL="6418" marR="6418" marT="641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1E784"/>
                    </a:solidFill>
                  </a:tcPr>
                </a:tc>
                <a:tc>
                  <a:txBody>
                    <a:bodyPr/>
                    <a:lstStyle/>
                    <a:p>
                      <a:pPr algn="ctr" fontAlgn="ctr">
                        <a:buNone/>
                      </a:pPr>
                      <a:r>
                        <a:rPr lang="en-IN" sz="900" b="0" i="0" u="none" strike="noStrike">
                          <a:solidFill>
                            <a:srgbClr val="000000"/>
                          </a:solidFill>
                          <a:effectLst/>
                          <a:latin typeface="Calibri" panose="020F0502020204030204" pitchFamily="34" charset="0"/>
                        </a:rPr>
                        <a:t>63%</a:t>
                      </a:r>
                    </a:p>
                  </a:txBody>
                  <a:tcPr marL="6418" marR="6418" marT="6418"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3E884"/>
                    </a:solidFill>
                  </a:tcPr>
                </a:tc>
                <a:extLst>
                  <a:ext uri="{0D108BD9-81ED-4DB2-BD59-A6C34878D82A}">
                    <a16:rowId xmlns:a16="http://schemas.microsoft.com/office/drawing/2014/main" val="4243549483"/>
                  </a:ext>
                </a:extLst>
              </a:tr>
              <a:tr h="192385">
                <a:tc>
                  <a:txBody>
                    <a:bodyPr/>
                    <a:lstStyle/>
                    <a:p>
                      <a:pPr algn="ctr" fontAlgn="ctr">
                        <a:buNone/>
                      </a:pPr>
                      <a:r>
                        <a:rPr lang="en-IN" sz="900" b="0" i="0" u="none" strike="noStrike">
                          <a:solidFill>
                            <a:srgbClr val="000000"/>
                          </a:solidFill>
                          <a:effectLst/>
                          <a:latin typeface="Calibri" panose="020F0502020204030204" pitchFamily="34" charset="0"/>
                        </a:rPr>
                        <a:t>Footwear</a:t>
                      </a:r>
                    </a:p>
                  </a:txBody>
                  <a:tcPr marL="6418" marR="6418" marT="6418"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900" b="0" i="0" u="none" strike="noStrike">
                          <a:solidFill>
                            <a:srgbClr val="000000"/>
                          </a:solidFill>
                          <a:effectLst/>
                          <a:latin typeface="Calibri" panose="020F0502020204030204" pitchFamily="34" charset="0"/>
                        </a:rPr>
                        <a:t>68%</a:t>
                      </a:r>
                    </a:p>
                  </a:txBody>
                  <a:tcPr marL="6418" marR="6418" marT="641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DE182"/>
                    </a:solidFill>
                  </a:tcPr>
                </a:tc>
                <a:tc>
                  <a:txBody>
                    <a:bodyPr/>
                    <a:lstStyle/>
                    <a:p>
                      <a:pPr algn="ctr" fontAlgn="ctr">
                        <a:buNone/>
                      </a:pPr>
                      <a:r>
                        <a:rPr lang="en-IN" sz="900" b="0" i="0" u="none" strike="noStrike">
                          <a:solidFill>
                            <a:srgbClr val="000000"/>
                          </a:solidFill>
                          <a:effectLst/>
                          <a:latin typeface="Calibri" panose="020F0502020204030204" pitchFamily="34" charset="0"/>
                        </a:rPr>
                        <a:t>66%</a:t>
                      </a:r>
                    </a:p>
                  </a:txBody>
                  <a:tcPr marL="6418" marR="6418" marT="641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E7E483"/>
                    </a:solidFill>
                  </a:tcPr>
                </a:tc>
                <a:tc>
                  <a:txBody>
                    <a:bodyPr/>
                    <a:lstStyle/>
                    <a:p>
                      <a:pPr algn="ctr" fontAlgn="ctr">
                        <a:buNone/>
                      </a:pPr>
                      <a:r>
                        <a:rPr lang="en-IN" sz="900" b="0" i="0" u="none" strike="noStrike" dirty="0">
                          <a:solidFill>
                            <a:srgbClr val="000000"/>
                          </a:solidFill>
                          <a:effectLst/>
                          <a:latin typeface="Calibri" panose="020F0502020204030204" pitchFamily="34" charset="0"/>
                        </a:rPr>
                        <a:t>63%</a:t>
                      </a:r>
                    </a:p>
                  </a:txBody>
                  <a:tcPr marL="6418" marR="6418" marT="6418"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6E984"/>
                    </a:solidFill>
                  </a:tcPr>
                </a:tc>
                <a:extLst>
                  <a:ext uri="{0D108BD9-81ED-4DB2-BD59-A6C34878D82A}">
                    <a16:rowId xmlns:a16="http://schemas.microsoft.com/office/drawing/2014/main" val="985617835"/>
                  </a:ext>
                </a:extLst>
              </a:tr>
            </a:tbl>
          </a:graphicData>
        </a:graphic>
      </p:graphicFrame>
      <p:graphicFrame>
        <p:nvGraphicFramePr>
          <p:cNvPr id="3" name="Table 2">
            <a:extLst>
              <a:ext uri="{FF2B5EF4-FFF2-40B4-BE49-F238E27FC236}">
                <a16:creationId xmlns:a16="http://schemas.microsoft.com/office/drawing/2014/main" id="{0F8D515E-9556-C3EC-A986-2D26DF4DA733}"/>
              </a:ext>
            </a:extLst>
          </p:cNvPr>
          <p:cNvGraphicFramePr>
            <a:graphicFrameLocks noGrp="1"/>
          </p:cNvGraphicFramePr>
          <p:nvPr>
            <p:extLst>
              <p:ext uri="{D42A27DB-BD31-4B8C-83A1-F6EECF244321}">
                <p14:modId xmlns:p14="http://schemas.microsoft.com/office/powerpoint/2010/main" val="205045054"/>
              </p:ext>
            </p:extLst>
          </p:nvPr>
        </p:nvGraphicFramePr>
        <p:xfrm>
          <a:off x="6213987" y="1071716"/>
          <a:ext cx="5702711" cy="5434849"/>
        </p:xfrm>
        <a:graphic>
          <a:graphicData uri="http://schemas.openxmlformats.org/drawingml/2006/table">
            <a:tbl>
              <a:tblPr/>
              <a:tblGrid>
                <a:gridCol w="1419341">
                  <a:extLst>
                    <a:ext uri="{9D8B030D-6E8A-4147-A177-3AD203B41FA5}">
                      <a16:colId xmlns:a16="http://schemas.microsoft.com/office/drawing/2014/main" val="2966692727"/>
                    </a:ext>
                  </a:extLst>
                </a:gridCol>
                <a:gridCol w="1216579">
                  <a:extLst>
                    <a:ext uri="{9D8B030D-6E8A-4147-A177-3AD203B41FA5}">
                      <a16:colId xmlns:a16="http://schemas.microsoft.com/office/drawing/2014/main" val="1243043783"/>
                    </a:ext>
                  </a:extLst>
                </a:gridCol>
                <a:gridCol w="1850212">
                  <a:extLst>
                    <a:ext uri="{9D8B030D-6E8A-4147-A177-3AD203B41FA5}">
                      <a16:colId xmlns:a16="http://schemas.microsoft.com/office/drawing/2014/main" val="161712431"/>
                    </a:ext>
                  </a:extLst>
                </a:gridCol>
                <a:gridCol w="1216579">
                  <a:extLst>
                    <a:ext uri="{9D8B030D-6E8A-4147-A177-3AD203B41FA5}">
                      <a16:colId xmlns:a16="http://schemas.microsoft.com/office/drawing/2014/main" val="3214592294"/>
                    </a:ext>
                  </a:extLst>
                </a:gridCol>
              </a:tblGrid>
              <a:tr h="206413">
                <a:tc>
                  <a:txBody>
                    <a:bodyPr/>
                    <a:lstStyle/>
                    <a:p>
                      <a:pPr algn="ctr" fontAlgn="ctr">
                        <a:buNone/>
                      </a:pPr>
                      <a:r>
                        <a:rPr lang="en-IN" sz="1100" b="0" i="0" u="none" strike="noStrike">
                          <a:solidFill>
                            <a:srgbClr val="000000"/>
                          </a:solidFill>
                          <a:effectLst/>
                          <a:latin typeface="Calibri" panose="020F0502020204030204" pitchFamily="34" charset="0"/>
                        </a:rPr>
                        <a:t>Health</a:t>
                      </a:r>
                    </a:p>
                  </a:txBody>
                  <a:tcPr marL="7338" marR="7338" marT="7338"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63%</a:t>
                      </a:r>
                    </a:p>
                  </a:txBody>
                  <a:tcPr marL="7338" marR="7338" marT="733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DEB84"/>
                    </a:solidFill>
                  </a:tcPr>
                </a:tc>
                <a:tc>
                  <a:txBody>
                    <a:bodyPr/>
                    <a:lstStyle/>
                    <a:p>
                      <a:pPr algn="ctr" fontAlgn="ctr">
                        <a:buNone/>
                      </a:pPr>
                      <a:r>
                        <a:rPr lang="en-IN" sz="1100" b="0" i="0" u="none" strike="noStrike">
                          <a:solidFill>
                            <a:srgbClr val="000000"/>
                          </a:solidFill>
                          <a:effectLst/>
                          <a:latin typeface="Calibri" panose="020F0502020204030204" pitchFamily="34" charset="0"/>
                        </a:rPr>
                        <a:t>62%</a:t>
                      </a:r>
                    </a:p>
                  </a:txBody>
                  <a:tcPr marL="7338" marR="7338" marT="733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FEB84"/>
                    </a:solidFill>
                  </a:tcPr>
                </a:tc>
                <a:tc>
                  <a:txBody>
                    <a:bodyPr/>
                    <a:lstStyle/>
                    <a:p>
                      <a:pPr algn="ctr" fontAlgn="ctr">
                        <a:buNone/>
                      </a:pPr>
                      <a:r>
                        <a:rPr lang="en-IN" sz="1100" b="0" i="0" u="none" strike="noStrike">
                          <a:solidFill>
                            <a:srgbClr val="000000"/>
                          </a:solidFill>
                          <a:effectLst/>
                          <a:latin typeface="Calibri" panose="020F0502020204030204" pitchFamily="34" charset="0"/>
                        </a:rPr>
                        <a:t>61%</a:t>
                      </a:r>
                    </a:p>
                  </a:txBody>
                  <a:tcPr marL="7338" marR="7338" marT="7338"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FEB84"/>
                    </a:solidFill>
                  </a:tcPr>
                </a:tc>
                <a:extLst>
                  <a:ext uri="{0D108BD9-81ED-4DB2-BD59-A6C34878D82A}">
                    <a16:rowId xmlns:a16="http://schemas.microsoft.com/office/drawing/2014/main" val="3891056126"/>
                  </a:ext>
                </a:extLst>
              </a:tr>
              <a:tr h="794551">
                <a:tc>
                  <a:txBody>
                    <a:bodyPr/>
                    <a:lstStyle/>
                    <a:p>
                      <a:pPr algn="ctr" fontAlgn="ctr">
                        <a:buNone/>
                      </a:pPr>
                      <a:r>
                        <a:rPr lang="en-US" sz="1100" b="0" i="0" u="none" strike="noStrike">
                          <a:solidFill>
                            <a:srgbClr val="000000"/>
                          </a:solidFill>
                          <a:effectLst/>
                          <a:latin typeface="Calibri" panose="020F0502020204030204" pitchFamily="34" charset="0"/>
                        </a:rPr>
                        <a:t>Prepared meals, snacks, sweets etc.</a:t>
                      </a:r>
                    </a:p>
                  </a:txBody>
                  <a:tcPr marL="7338" marR="7338" marT="7338"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62%</a:t>
                      </a:r>
                    </a:p>
                  </a:txBody>
                  <a:tcPr marL="7338" marR="7338" marT="733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EEA83"/>
                    </a:solidFill>
                  </a:tcPr>
                </a:tc>
                <a:tc>
                  <a:txBody>
                    <a:bodyPr/>
                    <a:lstStyle/>
                    <a:p>
                      <a:pPr algn="ctr" fontAlgn="ctr">
                        <a:buNone/>
                      </a:pPr>
                      <a:r>
                        <a:rPr lang="en-IN" sz="1100" b="0" i="0" u="none" strike="noStrike">
                          <a:solidFill>
                            <a:srgbClr val="000000"/>
                          </a:solidFill>
                          <a:effectLst/>
                          <a:latin typeface="Calibri" panose="020F0502020204030204" pitchFamily="34" charset="0"/>
                        </a:rPr>
                        <a:t>61%</a:t>
                      </a:r>
                    </a:p>
                  </a:txBody>
                  <a:tcPr marL="7338" marR="7338" marT="733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EE983"/>
                    </a:solidFill>
                  </a:tcPr>
                </a:tc>
                <a:tc>
                  <a:txBody>
                    <a:bodyPr/>
                    <a:lstStyle/>
                    <a:p>
                      <a:pPr algn="ctr" fontAlgn="ctr">
                        <a:buNone/>
                      </a:pPr>
                      <a:r>
                        <a:rPr lang="en-IN" sz="1100" b="0" i="0" u="none" strike="noStrike">
                          <a:solidFill>
                            <a:srgbClr val="000000"/>
                          </a:solidFill>
                          <a:effectLst/>
                          <a:latin typeface="Calibri" panose="020F0502020204030204" pitchFamily="34" charset="0"/>
                        </a:rPr>
                        <a:t>60%</a:t>
                      </a:r>
                    </a:p>
                  </a:txBody>
                  <a:tcPr marL="7338" marR="7338" marT="7338"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EEA83"/>
                    </a:solidFill>
                  </a:tcPr>
                </a:tc>
                <a:extLst>
                  <a:ext uri="{0D108BD9-81ED-4DB2-BD59-A6C34878D82A}">
                    <a16:rowId xmlns:a16="http://schemas.microsoft.com/office/drawing/2014/main" val="4103257461"/>
                  </a:ext>
                </a:extLst>
              </a:tr>
              <a:tr h="598064">
                <a:tc>
                  <a:txBody>
                    <a:bodyPr/>
                    <a:lstStyle/>
                    <a:p>
                      <a:pPr algn="ctr" fontAlgn="ctr">
                        <a:buNone/>
                      </a:pPr>
                      <a:r>
                        <a:rPr lang="en-IN" sz="1100" b="0" i="0" u="none" strike="noStrike">
                          <a:solidFill>
                            <a:srgbClr val="000000"/>
                          </a:solidFill>
                          <a:effectLst/>
                          <a:latin typeface="Calibri" panose="020F0502020204030204" pitchFamily="34" charset="0"/>
                        </a:rPr>
                        <a:t>Sugar and Confectionery</a:t>
                      </a:r>
                    </a:p>
                  </a:txBody>
                  <a:tcPr marL="7338" marR="7338" marT="7338"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58%</a:t>
                      </a:r>
                    </a:p>
                  </a:txBody>
                  <a:tcPr marL="7338" marR="7338" marT="733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EE382"/>
                    </a:solidFill>
                  </a:tcPr>
                </a:tc>
                <a:tc>
                  <a:txBody>
                    <a:bodyPr/>
                    <a:lstStyle/>
                    <a:p>
                      <a:pPr algn="ctr" fontAlgn="ctr">
                        <a:buNone/>
                      </a:pPr>
                      <a:r>
                        <a:rPr lang="en-IN" sz="1100" b="0" i="0" u="none" strike="noStrike">
                          <a:solidFill>
                            <a:srgbClr val="000000"/>
                          </a:solidFill>
                          <a:effectLst/>
                          <a:latin typeface="Calibri" panose="020F0502020204030204" pitchFamily="34" charset="0"/>
                        </a:rPr>
                        <a:t>57%</a:t>
                      </a:r>
                    </a:p>
                  </a:txBody>
                  <a:tcPr marL="7338" marR="7338" marT="733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EE382"/>
                    </a:solidFill>
                  </a:tcPr>
                </a:tc>
                <a:tc>
                  <a:txBody>
                    <a:bodyPr/>
                    <a:lstStyle/>
                    <a:p>
                      <a:pPr algn="ctr" fontAlgn="ctr">
                        <a:buNone/>
                      </a:pPr>
                      <a:r>
                        <a:rPr lang="en-IN" sz="1100" b="0" i="0" u="none" strike="noStrike">
                          <a:solidFill>
                            <a:srgbClr val="000000"/>
                          </a:solidFill>
                          <a:effectLst/>
                          <a:latin typeface="Calibri" panose="020F0502020204030204" pitchFamily="34" charset="0"/>
                        </a:rPr>
                        <a:t>60%</a:t>
                      </a:r>
                    </a:p>
                  </a:txBody>
                  <a:tcPr marL="7338" marR="7338" marT="7338"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EE883"/>
                    </a:solidFill>
                  </a:tcPr>
                </a:tc>
                <a:extLst>
                  <a:ext uri="{0D108BD9-81ED-4DB2-BD59-A6C34878D82A}">
                    <a16:rowId xmlns:a16="http://schemas.microsoft.com/office/drawing/2014/main" val="3226562595"/>
                  </a:ext>
                </a:extLst>
              </a:tr>
              <a:tr h="206413">
                <a:tc>
                  <a:txBody>
                    <a:bodyPr/>
                    <a:lstStyle/>
                    <a:p>
                      <a:pPr algn="ctr" fontAlgn="ctr">
                        <a:buNone/>
                      </a:pPr>
                      <a:r>
                        <a:rPr lang="en-IN" sz="1100" b="0" i="0" u="none" strike="noStrike">
                          <a:solidFill>
                            <a:srgbClr val="000000"/>
                          </a:solidFill>
                          <a:effectLst/>
                          <a:latin typeface="Calibri" panose="020F0502020204030204" pitchFamily="34" charset="0"/>
                        </a:rPr>
                        <a:t>Housing</a:t>
                      </a:r>
                    </a:p>
                  </a:txBody>
                  <a:tcPr marL="7338" marR="7338" marT="7338"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#DIV/0!</a:t>
                      </a:r>
                    </a:p>
                  </a:txBody>
                  <a:tcPr marL="7338" marR="7338" marT="733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58%</a:t>
                      </a:r>
                    </a:p>
                  </a:txBody>
                  <a:tcPr marL="7338" marR="7338" marT="733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EE482"/>
                    </a:solidFill>
                  </a:tcPr>
                </a:tc>
                <a:tc>
                  <a:txBody>
                    <a:bodyPr/>
                    <a:lstStyle/>
                    <a:p>
                      <a:pPr algn="ctr" fontAlgn="ctr">
                        <a:buNone/>
                      </a:pPr>
                      <a:r>
                        <a:rPr lang="en-IN" sz="1100" b="0" i="0" u="none" strike="noStrike">
                          <a:solidFill>
                            <a:srgbClr val="000000"/>
                          </a:solidFill>
                          <a:effectLst/>
                          <a:latin typeface="Calibri" panose="020F0502020204030204" pitchFamily="34" charset="0"/>
                        </a:rPr>
                        <a:t>58%</a:t>
                      </a:r>
                    </a:p>
                  </a:txBody>
                  <a:tcPr marL="7338" marR="7338" marT="7338"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EE683"/>
                    </a:solidFill>
                  </a:tcPr>
                </a:tc>
                <a:extLst>
                  <a:ext uri="{0D108BD9-81ED-4DB2-BD59-A6C34878D82A}">
                    <a16:rowId xmlns:a16="http://schemas.microsoft.com/office/drawing/2014/main" val="2541336345"/>
                  </a:ext>
                </a:extLst>
              </a:tr>
              <a:tr h="206413">
                <a:tc>
                  <a:txBody>
                    <a:bodyPr/>
                    <a:lstStyle/>
                    <a:p>
                      <a:pPr algn="ctr" fontAlgn="ctr">
                        <a:buNone/>
                      </a:pPr>
                      <a:r>
                        <a:rPr lang="en-IN" sz="1100" b="0" i="0" u="none" strike="noStrike">
                          <a:solidFill>
                            <a:srgbClr val="000000"/>
                          </a:solidFill>
                          <a:effectLst/>
                          <a:latin typeface="Calibri" panose="020F0502020204030204" pitchFamily="34" charset="0"/>
                        </a:rPr>
                        <a:t>Education</a:t>
                      </a:r>
                    </a:p>
                  </a:txBody>
                  <a:tcPr marL="7338" marR="7338" marT="7338"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58%</a:t>
                      </a:r>
                    </a:p>
                  </a:txBody>
                  <a:tcPr marL="7338" marR="7338" marT="733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EE382"/>
                    </a:solidFill>
                  </a:tcPr>
                </a:tc>
                <a:tc>
                  <a:txBody>
                    <a:bodyPr/>
                    <a:lstStyle/>
                    <a:p>
                      <a:pPr algn="ctr" fontAlgn="ctr">
                        <a:buNone/>
                      </a:pPr>
                      <a:r>
                        <a:rPr lang="en-IN" sz="1100" b="0" i="0" u="none" strike="noStrike">
                          <a:solidFill>
                            <a:srgbClr val="000000"/>
                          </a:solidFill>
                          <a:effectLst/>
                          <a:latin typeface="Calibri" panose="020F0502020204030204" pitchFamily="34" charset="0"/>
                        </a:rPr>
                        <a:t>57%</a:t>
                      </a:r>
                    </a:p>
                  </a:txBody>
                  <a:tcPr marL="7338" marR="7338" marT="733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EE182"/>
                    </a:solidFill>
                  </a:tcPr>
                </a:tc>
                <a:tc>
                  <a:txBody>
                    <a:bodyPr/>
                    <a:lstStyle/>
                    <a:p>
                      <a:pPr algn="ctr" fontAlgn="ctr">
                        <a:buNone/>
                      </a:pPr>
                      <a:r>
                        <a:rPr lang="en-IN" sz="1100" b="0" i="0" u="none" strike="noStrike">
                          <a:solidFill>
                            <a:srgbClr val="000000"/>
                          </a:solidFill>
                          <a:effectLst/>
                          <a:latin typeface="Calibri" panose="020F0502020204030204" pitchFamily="34" charset="0"/>
                        </a:rPr>
                        <a:t>55%</a:t>
                      </a:r>
                    </a:p>
                  </a:txBody>
                  <a:tcPr marL="7338" marR="7338" marT="7338"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EE282"/>
                    </a:solidFill>
                  </a:tcPr>
                </a:tc>
                <a:extLst>
                  <a:ext uri="{0D108BD9-81ED-4DB2-BD59-A6C34878D82A}">
                    <a16:rowId xmlns:a16="http://schemas.microsoft.com/office/drawing/2014/main" val="631962178"/>
                  </a:ext>
                </a:extLst>
              </a:tr>
              <a:tr h="206413">
                <a:tc>
                  <a:txBody>
                    <a:bodyPr/>
                    <a:lstStyle/>
                    <a:p>
                      <a:pPr algn="ctr" fontAlgn="ctr">
                        <a:buNone/>
                      </a:pPr>
                      <a:r>
                        <a:rPr lang="en-IN" sz="1100" b="0" i="0" u="none" strike="noStrike">
                          <a:solidFill>
                            <a:srgbClr val="000000"/>
                          </a:solidFill>
                          <a:effectLst/>
                          <a:latin typeface="Calibri" panose="020F0502020204030204" pitchFamily="34" charset="0"/>
                        </a:rPr>
                        <a:t>Fruits</a:t>
                      </a:r>
                    </a:p>
                  </a:txBody>
                  <a:tcPr marL="7338" marR="7338" marT="7338"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64%</a:t>
                      </a:r>
                    </a:p>
                  </a:txBody>
                  <a:tcPr marL="7338" marR="7338" marT="733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6E984"/>
                    </a:solidFill>
                  </a:tcPr>
                </a:tc>
                <a:tc>
                  <a:txBody>
                    <a:bodyPr/>
                    <a:lstStyle/>
                    <a:p>
                      <a:pPr algn="ctr" fontAlgn="ctr">
                        <a:buNone/>
                      </a:pPr>
                      <a:r>
                        <a:rPr lang="en-IN" sz="1100" b="0" i="0" u="none" strike="noStrike">
                          <a:solidFill>
                            <a:srgbClr val="000000"/>
                          </a:solidFill>
                          <a:effectLst/>
                          <a:latin typeface="Calibri" panose="020F0502020204030204" pitchFamily="34" charset="0"/>
                        </a:rPr>
                        <a:t>60%</a:t>
                      </a:r>
                    </a:p>
                  </a:txBody>
                  <a:tcPr marL="7338" marR="7338" marT="733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EE883"/>
                    </a:solidFill>
                  </a:tcPr>
                </a:tc>
                <a:tc>
                  <a:txBody>
                    <a:bodyPr/>
                    <a:lstStyle/>
                    <a:p>
                      <a:pPr algn="ctr" fontAlgn="ctr">
                        <a:buNone/>
                      </a:pPr>
                      <a:r>
                        <a:rPr lang="en-IN" sz="1100" b="0" i="0" u="none" strike="noStrike">
                          <a:solidFill>
                            <a:srgbClr val="000000"/>
                          </a:solidFill>
                          <a:effectLst/>
                          <a:latin typeface="Calibri" panose="020F0502020204030204" pitchFamily="34" charset="0"/>
                        </a:rPr>
                        <a:t>54%</a:t>
                      </a:r>
                    </a:p>
                  </a:txBody>
                  <a:tcPr marL="7338" marR="7338" marT="7338"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EE082"/>
                    </a:solidFill>
                  </a:tcPr>
                </a:tc>
                <a:extLst>
                  <a:ext uri="{0D108BD9-81ED-4DB2-BD59-A6C34878D82A}">
                    <a16:rowId xmlns:a16="http://schemas.microsoft.com/office/drawing/2014/main" val="1979282785"/>
                  </a:ext>
                </a:extLst>
              </a:tr>
              <a:tr h="598064">
                <a:tc>
                  <a:txBody>
                    <a:bodyPr/>
                    <a:lstStyle/>
                    <a:p>
                      <a:pPr algn="ctr" fontAlgn="ctr">
                        <a:buNone/>
                      </a:pPr>
                      <a:r>
                        <a:rPr lang="en-IN" sz="1100" b="0" i="0" u="none" strike="noStrike">
                          <a:solidFill>
                            <a:srgbClr val="000000"/>
                          </a:solidFill>
                          <a:effectLst/>
                          <a:latin typeface="Calibri" panose="020F0502020204030204" pitchFamily="34" charset="0"/>
                        </a:rPr>
                        <a:t>Personal care and effects</a:t>
                      </a:r>
                    </a:p>
                  </a:txBody>
                  <a:tcPr marL="7338" marR="7338" marT="7338"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56%</a:t>
                      </a:r>
                    </a:p>
                  </a:txBody>
                  <a:tcPr marL="7338" marR="7338" marT="733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EE081"/>
                    </a:solidFill>
                  </a:tcPr>
                </a:tc>
                <a:tc>
                  <a:txBody>
                    <a:bodyPr/>
                    <a:lstStyle/>
                    <a:p>
                      <a:pPr algn="ctr" fontAlgn="ctr">
                        <a:buNone/>
                      </a:pPr>
                      <a:r>
                        <a:rPr lang="en-IN" sz="1100" b="0" i="0" u="none" strike="noStrike">
                          <a:solidFill>
                            <a:srgbClr val="000000"/>
                          </a:solidFill>
                          <a:effectLst/>
                          <a:latin typeface="Calibri" panose="020F0502020204030204" pitchFamily="34" charset="0"/>
                        </a:rPr>
                        <a:t>55%</a:t>
                      </a:r>
                    </a:p>
                  </a:txBody>
                  <a:tcPr marL="7338" marR="7338" marT="733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EDE81"/>
                    </a:solidFill>
                  </a:tcPr>
                </a:tc>
                <a:tc>
                  <a:txBody>
                    <a:bodyPr/>
                    <a:lstStyle/>
                    <a:p>
                      <a:pPr algn="ctr" fontAlgn="ctr">
                        <a:buNone/>
                      </a:pPr>
                      <a:r>
                        <a:rPr lang="en-IN" sz="1100" b="0" i="0" u="none" strike="noStrike">
                          <a:solidFill>
                            <a:srgbClr val="000000"/>
                          </a:solidFill>
                          <a:effectLst/>
                          <a:latin typeface="Calibri" panose="020F0502020204030204" pitchFamily="34" charset="0"/>
                        </a:rPr>
                        <a:t>52%</a:t>
                      </a:r>
                    </a:p>
                  </a:txBody>
                  <a:tcPr marL="7338" marR="7338" marT="7338"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EDC81"/>
                    </a:solidFill>
                  </a:tcPr>
                </a:tc>
                <a:extLst>
                  <a:ext uri="{0D108BD9-81ED-4DB2-BD59-A6C34878D82A}">
                    <a16:rowId xmlns:a16="http://schemas.microsoft.com/office/drawing/2014/main" val="2383105619"/>
                  </a:ext>
                </a:extLst>
              </a:tr>
              <a:tr h="794551">
                <a:tc>
                  <a:txBody>
                    <a:bodyPr/>
                    <a:lstStyle/>
                    <a:p>
                      <a:pPr algn="ctr" fontAlgn="ctr">
                        <a:buNone/>
                      </a:pPr>
                      <a:r>
                        <a:rPr lang="en-IN" sz="1100" b="0" i="0" u="none" strike="noStrike">
                          <a:solidFill>
                            <a:srgbClr val="000000"/>
                          </a:solidFill>
                          <a:effectLst/>
                          <a:latin typeface="Calibri" panose="020F0502020204030204" pitchFamily="34" charset="0"/>
                        </a:rPr>
                        <a:t>Pan, tobacco and intoxicants</a:t>
                      </a:r>
                    </a:p>
                  </a:txBody>
                  <a:tcPr marL="7338" marR="7338" marT="7338"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60%</a:t>
                      </a:r>
                    </a:p>
                  </a:txBody>
                  <a:tcPr marL="7338" marR="7338" marT="733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EE683"/>
                    </a:solidFill>
                  </a:tcPr>
                </a:tc>
                <a:tc>
                  <a:txBody>
                    <a:bodyPr/>
                    <a:lstStyle/>
                    <a:p>
                      <a:pPr algn="ctr" fontAlgn="ctr">
                        <a:buNone/>
                      </a:pPr>
                      <a:r>
                        <a:rPr lang="en-IN" sz="1100" b="0" i="0" u="none" strike="noStrike">
                          <a:solidFill>
                            <a:srgbClr val="000000"/>
                          </a:solidFill>
                          <a:effectLst/>
                          <a:latin typeface="Calibri" panose="020F0502020204030204" pitchFamily="34" charset="0"/>
                        </a:rPr>
                        <a:t>58%</a:t>
                      </a:r>
                    </a:p>
                  </a:txBody>
                  <a:tcPr marL="7338" marR="7338" marT="733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EE482"/>
                    </a:solidFill>
                  </a:tcPr>
                </a:tc>
                <a:tc>
                  <a:txBody>
                    <a:bodyPr/>
                    <a:lstStyle/>
                    <a:p>
                      <a:pPr algn="ctr" fontAlgn="ctr">
                        <a:buNone/>
                      </a:pPr>
                      <a:r>
                        <a:rPr lang="en-IN" sz="1100" b="0" i="0" u="none" strike="noStrike">
                          <a:solidFill>
                            <a:srgbClr val="000000"/>
                          </a:solidFill>
                          <a:effectLst/>
                          <a:latin typeface="Calibri" panose="020F0502020204030204" pitchFamily="34" charset="0"/>
                        </a:rPr>
                        <a:t>52%</a:t>
                      </a:r>
                    </a:p>
                  </a:txBody>
                  <a:tcPr marL="7338" marR="7338" marT="7338"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EDC81"/>
                    </a:solidFill>
                  </a:tcPr>
                </a:tc>
                <a:extLst>
                  <a:ext uri="{0D108BD9-81ED-4DB2-BD59-A6C34878D82A}">
                    <a16:rowId xmlns:a16="http://schemas.microsoft.com/office/drawing/2014/main" val="375983067"/>
                  </a:ext>
                </a:extLst>
              </a:tr>
              <a:tr h="401576">
                <a:tc>
                  <a:txBody>
                    <a:bodyPr/>
                    <a:lstStyle/>
                    <a:p>
                      <a:pPr algn="ctr" fontAlgn="ctr">
                        <a:buNone/>
                      </a:pPr>
                      <a:r>
                        <a:rPr lang="en-IN" sz="1100" b="0" i="0" u="none" strike="noStrike">
                          <a:solidFill>
                            <a:srgbClr val="000000"/>
                          </a:solidFill>
                          <a:effectLst/>
                          <a:latin typeface="Calibri" panose="020F0502020204030204" pitchFamily="34" charset="0"/>
                        </a:rPr>
                        <a:t>Milk and products</a:t>
                      </a:r>
                    </a:p>
                  </a:txBody>
                  <a:tcPr marL="7338" marR="7338" marT="7338"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49%</a:t>
                      </a:r>
                    </a:p>
                  </a:txBody>
                  <a:tcPr marL="7338" marR="7338" marT="733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DD47F"/>
                    </a:solidFill>
                  </a:tcPr>
                </a:tc>
                <a:tc>
                  <a:txBody>
                    <a:bodyPr/>
                    <a:lstStyle/>
                    <a:p>
                      <a:pPr algn="ctr" fontAlgn="ctr">
                        <a:buNone/>
                      </a:pPr>
                      <a:r>
                        <a:rPr lang="en-IN" sz="1100" b="0" i="0" u="none" strike="noStrike">
                          <a:solidFill>
                            <a:srgbClr val="000000"/>
                          </a:solidFill>
                          <a:effectLst/>
                          <a:latin typeface="Calibri" panose="020F0502020204030204" pitchFamily="34" charset="0"/>
                        </a:rPr>
                        <a:t>49%</a:t>
                      </a:r>
                    </a:p>
                  </a:txBody>
                  <a:tcPr marL="7338" marR="7338" marT="733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DD57F"/>
                    </a:solidFill>
                  </a:tcPr>
                </a:tc>
                <a:tc>
                  <a:txBody>
                    <a:bodyPr/>
                    <a:lstStyle/>
                    <a:p>
                      <a:pPr algn="ctr" fontAlgn="ctr">
                        <a:buNone/>
                      </a:pPr>
                      <a:r>
                        <a:rPr lang="en-IN" sz="1100" b="0" i="0" u="none" strike="noStrike">
                          <a:solidFill>
                            <a:srgbClr val="000000"/>
                          </a:solidFill>
                          <a:effectLst/>
                          <a:latin typeface="Calibri" panose="020F0502020204030204" pitchFamily="34" charset="0"/>
                        </a:rPr>
                        <a:t>49%</a:t>
                      </a:r>
                    </a:p>
                  </a:txBody>
                  <a:tcPr marL="7338" marR="7338" marT="7338"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DD880"/>
                    </a:solidFill>
                  </a:tcPr>
                </a:tc>
                <a:extLst>
                  <a:ext uri="{0D108BD9-81ED-4DB2-BD59-A6C34878D82A}">
                    <a16:rowId xmlns:a16="http://schemas.microsoft.com/office/drawing/2014/main" val="705468638"/>
                  </a:ext>
                </a:extLst>
              </a:tr>
              <a:tr h="206413">
                <a:tc>
                  <a:txBody>
                    <a:bodyPr/>
                    <a:lstStyle/>
                    <a:p>
                      <a:pPr algn="ctr" fontAlgn="ctr">
                        <a:buNone/>
                      </a:pPr>
                      <a:r>
                        <a:rPr lang="en-IN" sz="1100" b="0" i="0" u="none" strike="noStrike">
                          <a:solidFill>
                            <a:srgbClr val="000000"/>
                          </a:solidFill>
                          <a:effectLst/>
                          <a:latin typeface="Calibri" panose="020F0502020204030204" pitchFamily="34" charset="0"/>
                        </a:rPr>
                        <a:t>Spices</a:t>
                      </a:r>
                    </a:p>
                  </a:txBody>
                  <a:tcPr marL="7338" marR="7338" marT="7338"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47%</a:t>
                      </a:r>
                    </a:p>
                  </a:txBody>
                  <a:tcPr marL="7338" marR="7338" marT="733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DD17F"/>
                    </a:solidFill>
                  </a:tcPr>
                </a:tc>
                <a:tc>
                  <a:txBody>
                    <a:bodyPr/>
                    <a:lstStyle/>
                    <a:p>
                      <a:pPr algn="ctr" fontAlgn="ctr">
                        <a:buNone/>
                      </a:pPr>
                      <a:r>
                        <a:rPr lang="en-IN" sz="1100" b="0" i="0" u="none" strike="noStrike">
                          <a:solidFill>
                            <a:srgbClr val="000000"/>
                          </a:solidFill>
                          <a:effectLst/>
                          <a:latin typeface="Calibri" panose="020F0502020204030204" pitchFamily="34" charset="0"/>
                        </a:rPr>
                        <a:t>47%</a:t>
                      </a:r>
                    </a:p>
                  </a:txBody>
                  <a:tcPr marL="7338" marR="7338" marT="733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DD27F"/>
                    </a:solidFill>
                  </a:tcPr>
                </a:tc>
                <a:tc>
                  <a:txBody>
                    <a:bodyPr/>
                    <a:lstStyle/>
                    <a:p>
                      <a:pPr algn="ctr" fontAlgn="ctr">
                        <a:buNone/>
                      </a:pPr>
                      <a:r>
                        <a:rPr lang="en-IN" sz="1100" b="0" i="0" u="none" strike="noStrike">
                          <a:solidFill>
                            <a:srgbClr val="000000"/>
                          </a:solidFill>
                          <a:effectLst/>
                          <a:latin typeface="Calibri" panose="020F0502020204030204" pitchFamily="34" charset="0"/>
                        </a:rPr>
                        <a:t>46%</a:t>
                      </a:r>
                    </a:p>
                  </a:txBody>
                  <a:tcPr marL="7338" marR="7338" marT="7338"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DD37F"/>
                    </a:solidFill>
                  </a:tcPr>
                </a:tc>
                <a:extLst>
                  <a:ext uri="{0D108BD9-81ED-4DB2-BD59-A6C34878D82A}">
                    <a16:rowId xmlns:a16="http://schemas.microsoft.com/office/drawing/2014/main" val="179882757"/>
                  </a:ext>
                </a:extLst>
              </a:tr>
              <a:tr h="401576">
                <a:tc>
                  <a:txBody>
                    <a:bodyPr/>
                    <a:lstStyle/>
                    <a:p>
                      <a:pPr algn="ctr" fontAlgn="ctr">
                        <a:buNone/>
                      </a:pPr>
                      <a:r>
                        <a:rPr lang="en-IN" sz="1100" b="0" i="0" u="none" strike="noStrike">
                          <a:solidFill>
                            <a:srgbClr val="000000"/>
                          </a:solidFill>
                          <a:effectLst/>
                          <a:latin typeface="Calibri" panose="020F0502020204030204" pitchFamily="34" charset="0"/>
                        </a:rPr>
                        <a:t>Cereals and products</a:t>
                      </a:r>
                    </a:p>
                  </a:txBody>
                  <a:tcPr marL="7338" marR="7338" marT="7338"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35%</a:t>
                      </a:r>
                    </a:p>
                  </a:txBody>
                  <a:tcPr marL="7338" marR="7338" marT="733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CBD7B"/>
                    </a:solidFill>
                  </a:tcPr>
                </a:tc>
                <a:tc>
                  <a:txBody>
                    <a:bodyPr/>
                    <a:lstStyle/>
                    <a:p>
                      <a:pPr algn="ctr" fontAlgn="ctr">
                        <a:buNone/>
                      </a:pPr>
                      <a:r>
                        <a:rPr lang="en-IN" sz="1100" b="0" i="0" u="none" strike="noStrike">
                          <a:solidFill>
                            <a:srgbClr val="000000"/>
                          </a:solidFill>
                          <a:effectLst/>
                          <a:latin typeface="Calibri" panose="020F0502020204030204" pitchFamily="34" charset="0"/>
                        </a:rPr>
                        <a:t>35%</a:t>
                      </a:r>
                    </a:p>
                  </a:txBody>
                  <a:tcPr marL="7338" marR="7338" marT="733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CBF7B"/>
                    </a:solidFill>
                  </a:tcPr>
                </a:tc>
                <a:tc>
                  <a:txBody>
                    <a:bodyPr/>
                    <a:lstStyle/>
                    <a:p>
                      <a:pPr algn="ctr" fontAlgn="ctr">
                        <a:buNone/>
                      </a:pPr>
                      <a:r>
                        <a:rPr lang="en-IN" sz="1100" b="0" i="0" u="none" strike="noStrike">
                          <a:solidFill>
                            <a:srgbClr val="000000"/>
                          </a:solidFill>
                          <a:effectLst/>
                          <a:latin typeface="Calibri" panose="020F0502020204030204" pitchFamily="34" charset="0"/>
                        </a:rPr>
                        <a:t>37%</a:t>
                      </a:r>
                    </a:p>
                  </a:txBody>
                  <a:tcPr marL="7338" marR="7338" marT="7338"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CC57C"/>
                    </a:solidFill>
                  </a:tcPr>
                </a:tc>
                <a:extLst>
                  <a:ext uri="{0D108BD9-81ED-4DB2-BD59-A6C34878D82A}">
                    <a16:rowId xmlns:a16="http://schemas.microsoft.com/office/drawing/2014/main" val="3749714707"/>
                  </a:ext>
                </a:extLst>
              </a:tr>
              <a:tr h="206413">
                <a:tc>
                  <a:txBody>
                    <a:bodyPr/>
                    <a:lstStyle/>
                    <a:p>
                      <a:pPr algn="ctr" fontAlgn="ctr">
                        <a:buNone/>
                      </a:pPr>
                      <a:r>
                        <a:rPr lang="en-IN" sz="1100" b="0" i="0" u="none" strike="noStrike">
                          <a:solidFill>
                            <a:srgbClr val="000000"/>
                          </a:solidFill>
                          <a:effectLst/>
                          <a:latin typeface="Calibri" panose="020F0502020204030204" pitchFamily="34" charset="0"/>
                        </a:rPr>
                        <a:t>Vegetables</a:t>
                      </a:r>
                    </a:p>
                  </a:txBody>
                  <a:tcPr marL="7338" marR="7338" marT="7338"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-4%</a:t>
                      </a:r>
                    </a:p>
                  </a:txBody>
                  <a:tcPr marL="7338" marR="7338" marT="733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97D6F"/>
                    </a:solidFill>
                  </a:tcPr>
                </a:tc>
                <a:tc>
                  <a:txBody>
                    <a:bodyPr/>
                    <a:lstStyle/>
                    <a:p>
                      <a:pPr algn="ctr" fontAlgn="ctr">
                        <a:buNone/>
                      </a:pPr>
                      <a:r>
                        <a:rPr lang="en-IN" sz="1100" b="0" i="0" u="none" strike="noStrike">
                          <a:solidFill>
                            <a:srgbClr val="000000"/>
                          </a:solidFill>
                          <a:effectLst/>
                          <a:latin typeface="Calibri" panose="020F0502020204030204" pitchFamily="34" charset="0"/>
                        </a:rPr>
                        <a:t>6%</a:t>
                      </a:r>
                    </a:p>
                  </a:txBody>
                  <a:tcPr marL="7338" marR="7338" marT="733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A9072"/>
                    </a:solidFill>
                  </a:tcPr>
                </a:tc>
                <a:tc>
                  <a:txBody>
                    <a:bodyPr/>
                    <a:lstStyle/>
                    <a:p>
                      <a:pPr algn="ctr" fontAlgn="ctr">
                        <a:buNone/>
                      </a:pPr>
                      <a:r>
                        <a:rPr lang="en-IN" sz="1100" b="0" i="0" u="none" strike="noStrike">
                          <a:solidFill>
                            <a:srgbClr val="000000"/>
                          </a:solidFill>
                          <a:effectLst/>
                          <a:latin typeface="Calibri" panose="020F0502020204030204" pitchFamily="34" charset="0"/>
                        </a:rPr>
                        <a:t>22%</a:t>
                      </a:r>
                    </a:p>
                  </a:txBody>
                  <a:tcPr marL="7338" marR="7338" marT="7338"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BAF78"/>
                    </a:solidFill>
                  </a:tcPr>
                </a:tc>
                <a:extLst>
                  <a:ext uri="{0D108BD9-81ED-4DB2-BD59-A6C34878D82A}">
                    <a16:rowId xmlns:a16="http://schemas.microsoft.com/office/drawing/2014/main" val="816909914"/>
                  </a:ext>
                </a:extLst>
              </a:tr>
              <a:tr h="401576">
                <a:tc>
                  <a:txBody>
                    <a:bodyPr/>
                    <a:lstStyle/>
                    <a:p>
                      <a:pPr algn="ctr" fontAlgn="ctr">
                        <a:buNone/>
                      </a:pPr>
                      <a:r>
                        <a:rPr lang="en-IN" sz="1100" b="0" i="0" u="none" strike="noStrike">
                          <a:solidFill>
                            <a:srgbClr val="000000"/>
                          </a:solidFill>
                          <a:effectLst/>
                          <a:latin typeface="Calibri" panose="020F0502020204030204" pitchFamily="34" charset="0"/>
                        </a:rPr>
                        <a:t>Pulses and products</a:t>
                      </a:r>
                    </a:p>
                  </a:txBody>
                  <a:tcPr marL="7338" marR="7338" marT="7338"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noFill/>
                  </a:tcPr>
                </a:tc>
                <a:tc>
                  <a:txBody>
                    <a:bodyPr/>
                    <a:lstStyle/>
                    <a:p>
                      <a:pPr algn="ctr" fontAlgn="ctr">
                        <a:buNone/>
                      </a:pPr>
                      <a:r>
                        <a:rPr lang="en-IN" sz="1100" b="0" i="0" u="none" strike="noStrike">
                          <a:solidFill>
                            <a:srgbClr val="000000"/>
                          </a:solidFill>
                          <a:effectLst/>
                          <a:latin typeface="Calibri" panose="020F0502020204030204" pitchFamily="34" charset="0"/>
                        </a:rPr>
                        <a:t>42%</a:t>
                      </a:r>
                    </a:p>
                  </a:txBody>
                  <a:tcPr marL="7338" marR="7338" marT="733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DC97D"/>
                    </a:solidFill>
                  </a:tcPr>
                </a:tc>
                <a:tc>
                  <a:txBody>
                    <a:bodyPr/>
                    <a:lstStyle/>
                    <a:p>
                      <a:pPr algn="ctr" fontAlgn="ctr">
                        <a:buNone/>
                      </a:pPr>
                      <a:r>
                        <a:rPr lang="en-IN" sz="1100" b="0" i="0" u="none" strike="noStrike">
                          <a:solidFill>
                            <a:srgbClr val="000000"/>
                          </a:solidFill>
                          <a:effectLst/>
                          <a:latin typeface="Calibri" panose="020F0502020204030204" pitchFamily="34" charset="0"/>
                        </a:rPr>
                        <a:t>34%</a:t>
                      </a:r>
                    </a:p>
                  </a:txBody>
                  <a:tcPr marL="7338" marR="7338" marT="733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CBD7B"/>
                    </a:solidFill>
                  </a:tcPr>
                </a:tc>
                <a:tc>
                  <a:txBody>
                    <a:bodyPr/>
                    <a:lstStyle/>
                    <a:p>
                      <a:pPr algn="ctr" fontAlgn="ctr">
                        <a:buNone/>
                      </a:pPr>
                      <a:r>
                        <a:rPr lang="en-IN" sz="1100" b="0" i="0" u="none" strike="noStrike">
                          <a:solidFill>
                            <a:srgbClr val="000000"/>
                          </a:solidFill>
                          <a:effectLst/>
                          <a:latin typeface="Calibri" panose="020F0502020204030204" pitchFamily="34" charset="0"/>
                        </a:rPr>
                        <a:t>18%</a:t>
                      </a:r>
                    </a:p>
                  </a:txBody>
                  <a:tcPr marL="7338" marR="7338" marT="7338"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BA977"/>
                    </a:solidFill>
                  </a:tcPr>
                </a:tc>
                <a:extLst>
                  <a:ext uri="{0D108BD9-81ED-4DB2-BD59-A6C34878D82A}">
                    <a16:rowId xmlns:a16="http://schemas.microsoft.com/office/drawing/2014/main" val="3998981007"/>
                  </a:ext>
                </a:extLst>
              </a:tr>
              <a:tr h="206413">
                <a:tc>
                  <a:txBody>
                    <a:bodyPr/>
                    <a:lstStyle/>
                    <a:p>
                      <a:pPr algn="ctr" fontAlgn="ctr">
                        <a:buNone/>
                      </a:pPr>
                      <a:r>
                        <a:rPr lang="en-IN" sz="1100" b="0" i="0" u="none" strike="noStrike">
                          <a:solidFill>
                            <a:srgbClr val="000000"/>
                          </a:solidFill>
                          <a:effectLst/>
                          <a:latin typeface="Calibri" panose="020F0502020204030204" pitchFamily="34" charset="0"/>
                        </a:rPr>
                        <a:t>Egg</a:t>
                      </a:r>
                    </a:p>
                  </a:txBody>
                  <a:tcPr marL="7338" marR="7338" marT="7338" marB="0" anchor="ctr">
                    <a:lnL w="6350" cap="flat" cmpd="sng" algn="ctr">
                      <a:solidFill>
                        <a:srgbClr val="8EA9DB"/>
                      </a:solidFill>
                      <a:prstDash val="solid"/>
                      <a:round/>
                      <a:headEnd type="none" w="med" len="med"/>
                      <a:tailEnd type="none" w="med" len="med"/>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D9E1F2"/>
                    </a:solidFill>
                  </a:tcPr>
                </a:tc>
                <a:tc>
                  <a:txBody>
                    <a:bodyPr/>
                    <a:lstStyle/>
                    <a:p>
                      <a:pPr algn="ctr" fontAlgn="ctr">
                        <a:buNone/>
                      </a:pPr>
                      <a:r>
                        <a:rPr lang="en-IN" sz="1100" b="0" i="0" u="none" strike="noStrike">
                          <a:solidFill>
                            <a:srgbClr val="000000"/>
                          </a:solidFill>
                          <a:effectLst/>
                          <a:latin typeface="Calibri" panose="020F0502020204030204" pitchFamily="34" charset="0"/>
                        </a:rPr>
                        <a:t>-17%</a:t>
                      </a:r>
                    </a:p>
                  </a:txBody>
                  <a:tcPr marL="7338" marR="7338" marT="733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8696B"/>
                    </a:solidFill>
                  </a:tcPr>
                </a:tc>
                <a:tc>
                  <a:txBody>
                    <a:bodyPr/>
                    <a:lstStyle/>
                    <a:p>
                      <a:pPr algn="ctr" fontAlgn="ctr">
                        <a:buNone/>
                      </a:pPr>
                      <a:r>
                        <a:rPr lang="en-IN" sz="1100" b="0" i="0" u="none" strike="noStrike">
                          <a:solidFill>
                            <a:srgbClr val="000000"/>
                          </a:solidFill>
                          <a:effectLst/>
                          <a:latin typeface="Calibri" panose="020F0502020204030204" pitchFamily="34" charset="0"/>
                        </a:rPr>
                        <a:t>-19%</a:t>
                      </a:r>
                    </a:p>
                  </a:txBody>
                  <a:tcPr marL="7338" marR="7338" marT="7338" marB="0" anchor="ctr">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8696B"/>
                    </a:solidFill>
                  </a:tcPr>
                </a:tc>
                <a:tc>
                  <a:txBody>
                    <a:bodyPr/>
                    <a:lstStyle/>
                    <a:p>
                      <a:pPr algn="ctr" fontAlgn="ctr">
                        <a:buNone/>
                      </a:pPr>
                      <a:r>
                        <a:rPr lang="en-IN" sz="1100" b="0" i="0" u="none" strike="noStrike" dirty="0">
                          <a:solidFill>
                            <a:srgbClr val="000000"/>
                          </a:solidFill>
                          <a:effectLst/>
                          <a:latin typeface="Calibri" panose="020F0502020204030204" pitchFamily="34" charset="0"/>
                        </a:rPr>
                        <a:t>-24%</a:t>
                      </a:r>
                    </a:p>
                  </a:txBody>
                  <a:tcPr marL="7338" marR="7338" marT="7338" marB="0" anchor="ctr">
                    <a:lnL>
                      <a:noFill/>
                    </a:lnL>
                    <a:lnR w="6350" cap="flat" cmpd="sng" algn="ctr">
                      <a:solidFill>
                        <a:srgbClr val="8EA9DB"/>
                      </a:solidFill>
                      <a:prstDash val="solid"/>
                      <a:round/>
                      <a:headEnd type="none" w="med" len="med"/>
                      <a:tailEnd type="none" w="med" len="med"/>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solidFill>
                      <a:srgbClr val="F8696B"/>
                    </a:solidFill>
                  </a:tcPr>
                </a:tc>
                <a:extLst>
                  <a:ext uri="{0D108BD9-81ED-4DB2-BD59-A6C34878D82A}">
                    <a16:rowId xmlns:a16="http://schemas.microsoft.com/office/drawing/2014/main" val="361557577"/>
                  </a:ext>
                </a:extLst>
              </a:tr>
            </a:tbl>
          </a:graphicData>
        </a:graphic>
      </p:graphicFrame>
      <p:sp>
        <p:nvSpPr>
          <p:cNvPr id="5" name="TextBox 4">
            <a:extLst>
              <a:ext uri="{FF2B5EF4-FFF2-40B4-BE49-F238E27FC236}">
                <a16:creationId xmlns:a16="http://schemas.microsoft.com/office/drawing/2014/main" id="{43DA3D76-4F11-9D76-7DB1-7C672EBE8B24}"/>
              </a:ext>
            </a:extLst>
          </p:cNvPr>
          <p:cNvSpPr txBox="1"/>
          <p:nvPr/>
        </p:nvSpPr>
        <p:spPr>
          <a:xfrm>
            <a:off x="0" y="80805"/>
            <a:ext cx="12191999" cy="769441"/>
          </a:xfrm>
          <a:prstGeom prst="rect">
            <a:avLst/>
          </a:prstGeom>
          <a:noFill/>
        </p:spPr>
        <p:txBody>
          <a:bodyPr wrap="square">
            <a:spAutoFit/>
          </a:bodyPr>
          <a:lstStyle/>
          <a:p>
            <a:pPr algn="ctr"/>
            <a:r>
              <a:rPr lang="en-US" sz="4400" b="1" dirty="0">
                <a:ln w="0"/>
                <a:solidFill>
                  <a:schemeClr val="accent1"/>
                </a:solidFill>
                <a:effectLst>
                  <a:outerShdw blurRad="38100" dist="25400" dir="5400000" algn="ctr" rotWithShape="0">
                    <a:srgbClr val="6E747A">
                      <a:alpha val="43000"/>
                    </a:srgbClr>
                  </a:outerShdw>
                </a:effectLst>
              </a:rPr>
              <a:t>Correlation with Oil Price</a:t>
            </a:r>
            <a:endParaRPr lang="en-IN" sz="4400" b="1" dirty="0">
              <a:ln w="0"/>
              <a:solidFill>
                <a:schemeClr val="accent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12949593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0FD875D8-2B8B-202C-C680-06C70486E7B0}"/>
              </a:ext>
            </a:extLst>
          </p:cNvPr>
          <p:cNvGraphicFramePr>
            <a:graphicFrameLocks/>
          </p:cNvGraphicFramePr>
          <p:nvPr>
            <p:extLst>
              <p:ext uri="{D42A27DB-BD31-4B8C-83A1-F6EECF244321}">
                <p14:modId xmlns:p14="http://schemas.microsoft.com/office/powerpoint/2010/main" val="1454191527"/>
              </p:ext>
            </p:extLst>
          </p:nvPr>
        </p:nvGraphicFramePr>
        <p:xfrm>
          <a:off x="304798" y="1514167"/>
          <a:ext cx="11572569" cy="4876799"/>
        </p:xfrm>
        <a:graphic>
          <a:graphicData uri="http://schemas.openxmlformats.org/drawingml/2006/chart">
            <c:chart xmlns:c="http://schemas.openxmlformats.org/drawingml/2006/chart" xmlns:r="http://schemas.openxmlformats.org/officeDocument/2006/relationships" r:id="rId2"/>
          </a:graphicData>
        </a:graphic>
      </p:graphicFrame>
      <p:sp>
        <p:nvSpPr>
          <p:cNvPr id="3" name="Rectangle 2">
            <a:extLst>
              <a:ext uri="{FF2B5EF4-FFF2-40B4-BE49-F238E27FC236}">
                <a16:creationId xmlns:a16="http://schemas.microsoft.com/office/drawing/2014/main" id="{041BB021-B617-8454-0E3F-FD6321BCF653}"/>
              </a:ext>
            </a:extLst>
          </p:cNvPr>
          <p:cNvSpPr/>
          <p:nvPr/>
        </p:nvSpPr>
        <p:spPr>
          <a:xfrm>
            <a:off x="570271" y="405046"/>
            <a:ext cx="11071124" cy="78957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US" b="1" dirty="0"/>
              <a:t>Insight:</a:t>
            </a:r>
            <a:r>
              <a:rPr lang="en-US" dirty="0"/>
              <a:t> Oils &amp; Fats category shows strong positive correlation with imported crude oil prices, indicating transmission of global oil shocks into domestic inflation.</a:t>
            </a:r>
            <a:endParaRPr lang="en-US" dirty="0">
              <a:solidFill>
                <a:schemeClr val="tx1"/>
              </a:solidFill>
            </a:endParaRPr>
          </a:p>
        </p:txBody>
      </p:sp>
    </p:spTree>
    <p:extLst>
      <p:ext uri="{BB962C8B-B14F-4D97-AF65-F5344CB8AC3E}">
        <p14:creationId xmlns:p14="http://schemas.microsoft.com/office/powerpoint/2010/main" val="32983430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4F9D447-2852-2F73-929E-96B3FD4CA3E2}"/>
              </a:ext>
            </a:extLst>
          </p:cNvPr>
          <p:cNvSpPr/>
          <p:nvPr/>
        </p:nvSpPr>
        <p:spPr>
          <a:xfrm>
            <a:off x="707922" y="719678"/>
            <a:ext cx="10776156" cy="196452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buNone/>
            </a:pPr>
            <a:r>
              <a:rPr lang="en-US" sz="2000" b="1" dirty="0"/>
              <a:t>Overall Key Findings</a:t>
            </a:r>
          </a:p>
          <a:p>
            <a:pPr>
              <a:buNone/>
            </a:pPr>
            <a:r>
              <a:rPr lang="en-US" sz="2000" dirty="0"/>
              <a:t>✔ Food category drives majority inflation volatility</a:t>
            </a:r>
            <a:br>
              <a:rPr lang="en-US" sz="2000" dirty="0"/>
            </a:br>
            <a:r>
              <a:rPr lang="en-US" sz="2000" dirty="0"/>
              <a:t>✔ 2019 peak due to supply-side pressures</a:t>
            </a:r>
            <a:br>
              <a:rPr lang="en-US" sz="2000" dirty="0"/>
            </a:br>
            <a:r>
              <a:rPr lang="en-US" sz="2000" dirty="0"/>
              <a:t>✔ COVID caused short-term inflation distortion</a:t>
            </a:r>
            <a:br>
              <a:rPr lang="en-US" sz="2000" dirty="0"/>
            </a:br>
            <a:r>
              <a:rPr lang="en-US" sz="2000" dirty="0"/>
              <a:t>✔ Oil prices significantly impact Oils &amp; Fats category</a:t>
            </a:r>
          </a:p>
        </p:txBody>
      </p:sp>
    </p:spTree>
    <p:extLst>
      <p:ext uri="{BB962C8B-B14F-4D97-AF65-F5344CB8AC3E}">
        <p14:creationId xmlns:p14="http://schemas.microsoft.com/office/powerpoint/2010/main" val="37778213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a:extLst>
              <a:ext uri="{FF2B5EF4-FFF2-40B4-BE49-F238E27FC236}">
                <a16:creationId xmlns:a16="http://schemas.microsoft.com/office/drawing/2014/main" id="{09F71C4E-94AE-2F64-1A1E-6D24612F27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4640581"/>
      </p:ext>
    </p:extLst>
  </p:cSld>
  <p:clrMapOvr>
    <a:masterClrMapping/>
  </p:clrMapOvr>
</p:sld>
</file>

<file path=ppt/theme/theme1.xml><?xml version="1.0" encoding="utf-8"?>
<a:theme xmlns:a="http://schemas.openxmlformats.org/drawingml/2006/main" name="Office Theme">
  <a:themeElements>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7972</TotalTime>
  <Words>1619</Words>
  <Application>Microsoft Office PowerPoint</Application>
  <PresentationFormat>Widescreen</PresentationFormat>
  <Paragraphs>510</Paragraphs>
  <Slides>21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Calibri Light</vt:lpstr>
      <vt:lpstr>Office Theme</vt:lpstr>
      <vt:lpstr>PowerPoint Presentation</vt:lpstr>
      <vt:lpstr>PowerPoint Presentation</vt:lpstr>
      <vt:lpstr>Contribution towards based on the new category </vt:lpstr>
      <vt:lpstr>New Category mapped Based on the Sector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Nidhi Gupta</dc:creator>
  <cp:lastModifiedBy>Nidhi Gupta</cp:lastModifiedBy>
  <cp:revision>1</cp:revision>
  <dcterms:created xsi:type="dcterms:W3CDTF">2025-10-09T13:11:45Z</dcterms:created>
  <dcterms:modified xsi:type="dcterms:W3CDTF">2026-02-27T18:17:44Z</dcterms:modified>
</cp:coreProperties>
</file>